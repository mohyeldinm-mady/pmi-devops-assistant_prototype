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what PMI is in one sentence: a project-memory and DevOps assistant, not a general chatbot. Anchor on the tagline - "turn repository history into usable engineering knowledge" - since it frames the entire rest of the talk. Note that the audience already understands GitHub and basic AI concepts, so there's no need to explain what a repository or an LLM is; the job here is to explain what PMI specifically does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why this is a real, everyday friction point: context lives in commits, issues, PRs, and docs, but none of those sources talk to each other. Engineers burn time re-deriving decisions that were already made and documented somewhere. Emphasize the second-to-last point carefully: a generic LLM's training data doesn't include this specific repository's history, so it can't answer project-specific questions without help - and even if it guesses plausibly, an ungrounded guess is a liability in an engineering context, not a convenience.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PMI as the system that closes exactly the gap just described. Be explicit that there are two distinct user-facing experiences built on one shared knowledge base - this distinction matters because the audience will otherwise assume "chatbot" is the whole product. Set up that the rest of the deck will first explain the shared foundation, then show each experience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rest of the talk - resist the urge to explain every box in depth here; the goal is orientation, not exhaustive detail. Point out the three zones (collection &amp; indexing, retrieval &amp; reasoning, delivery) and tell the audience each will get its own slide. Call out explicitly that the preparation step rebuilds the vector database rather than incrementally patching it - this is a deliberate choice to avoid stale or orphaned records after a repository refresh, and it's worth stating plainly since it explains why PR review workflows re-run the pipeline rather than reusing a cached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source types concretely, then show how each becomes a structured knowledge document with a stable ID, a type, human-readable text, and metadata. Read the canonical ID formats aloud slowly - commit_&lt;7-char-sha&gt;, pr_&lt;number&gt;, issue_&lt;number&gt;, doc_&lt;filename-with-dots-replaced&gt; - because these IDs come back later (Slide 7) as the things deterministic operations look up directly. Frame this slide as "turning noise into addressable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explanation plain-language and avoid deep ML terminology: content becomes vectors, a question becomes a vector, and PMI finds the project records whose vectors are closest to the question's. ChromaDB is the system that stores and serves that searchable collection. Explicitly flag the caveat on the slide - semantic similarity narrows the field but doesn't by itself guarantee a correct answer - to set up why the next slide introduces deterministic operations as a complement, not a redundancy.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more important design-decision slides, so slow down here. The core idea: not every question benefits from semantic search - some questions ("what files did PR #15 change?") have one exact, correct, retrievable answer, and forcing that through embedding similarity would be both wasteful and less reliable than a direct lookup. Walk through the example conversation on the slide turn by turn, and make sure to explicitly clarify the subtlety called out in the on-slide text: previous and next return a different record, but they do not change what the active reference is - the conversation stays anchored on PR #15 unless the user explicitly redirects it. This prevents silent context drift in multi-turn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once relevant context is retrieved (via either path from the previous two slides), it's handed to the reasoning model along with the user's question. Emphasize the grounding instruction - the model is told to answer from the provided context and not invent project facts. Then raise the security-adjacent point clearly: repository content (commit messages, issue text, PR descriptions) is untrusted data from the model's perspective, and text embedded in that content must never be treated as an instruction to the model. This is worth stating as a deliberate safeguard, not an afterthought - it's revisited on the security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the six numbered steps as a single continuous user journey: sign-in, ask a question in the Streamlit UI, the UI calls the FastAPI /chat endpoint, PMI retrieves relevant records, the answer comes back along with the conversation's active reference (tying back to Slide 7), and the session is persisted so the conversation can continue later. Mention that authentication uses persistent cookies, and that this is a genuinely multi-turn experience, not a single-shot Q&amp;A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CI/CD sequence top to bottom using the diagram: a PR triggers the workflow, the workflow checks out the repo and installs dependencies, then re-runs the same collection/embedding/indexing pipeline shown on Slide 4, analyzes the changed files against that freshly rebuilt historical context, and posts a comment. Be explicit and firm on the framing point: this produces review feedback, delivered as a comment - it does not merge, approve, or modify code on its own. That distinction matters to a DevOps-literate audience evaluating trust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stack by responsibility rather than as a flat logo wall, so the audience maps each technology back to a role they already understand from the architecture slide (FastAPI/Streamlit -&gt; delivery, ChromaDB -&gt; indexing, GitHub Actions -&gt; automation, PyTorch/Transformers/PEFT/Hugging Face -&gt; model support, SQLAlchemy -&gt; chat persistence). Flag the nuance in the last bullet carefully: the interactive API path and the CI workflow path can use different model configuration approaches, so it would be inaccurate to imply a single uniform model backend runs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two columns visually and verbally distinct. The left column is what's actually implemented today: secrets via environment variables or GitHub Secrets, a hard rule against committing .env files or tokens, treating repository content as untrusted input to the model (callback to Slide 8), authentication on the chat app and API routes, and rebuilding the vector database on each preparation run to limit stale-data risk. The right column is an honest operational note, not a defect: model loading can be resource-intensive and its behavior depends on how the environment is configured. Don't blur these two categories together - the audience should leave knowing exactly what's guaranteed versus what requires ongoing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credibility slide - deliver it plainly and without hedging language. Confirm what's implemented (preparation, retrieval, reasoning, API/UI, PR review) and then state directly that Phase 8 is not implemented and is not a current feature; don't soften this into ambiguous phrasing. Cover the practical prerequisites (credentials, dependencies), the resource/time cost of model startup and inference, and the fact that retrieval quality is only as good as the underlying collected data and embeddings. Close with the recommendation that representative repositories and questions should be used to evaluate the system before any production use - this is a recommendation, not a claim that such evaluation has already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back to practical value in plain terms: less time searching, preserved institutional context, repository-aware answers, and historical context on PR review. Then pivot clearly into future work, labeling it as such rather than implying any of it exists today - better evaluation and quality metrics, more connectors and document formats, improved model serving performance, richer and more traceable PR findings, and production-hardening work like role-based access control. Close on the tagline one more time, then open the floor with the three discussion questions rather than ending on a hard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p:bgPr>
    </p:bg>
    <p:spTree>
      <p:nvGrpSpPr>
        <p:cNvPr id="1" name=""/>
        <p:cNvGrpSpPr/>
        <p:nvPr/>
      </p:nvGrpSpPr>
      <p:grpSpPr>
        <a:xfrm>
          <a:off x="0" y="0"/>
          <a:ext cx="0" cy="0"/>
          <a:chOff x="0" y="0"/>
          <a:chExt cx="0" cy="0"/>
        </a:xfrm>
      </p:grpSpPr>
      <p:sp>
        <p:nvSpPr>
          <p:cNvPr id="2" name="Shape 0"/>
          <p:cNvSpPr/>
          <p:nvPr/>
        </p:nvSpPr>
        <p:spPr>
          <a:xfrm>
            <a:off x="10058400" y="502920"/>
            <a:ext cx="45720" cy="45720"/>
          </a:xfrm>
          <a:prstGeom prst="ellipse">
            <a:avLst/>
          </a:prstGeom>
          <a:solidFill>
            <a:srgbClr val="2FD9C9"/>
          </a:solidFill>
          <a:ln/>
        </p:spPr>
      </p:sp>
      <p:sp>
        <p:nvSpPr>
          <p:cNvPr id="3" name="Shape 1"/>
          <p:cNvSpPr/>
          <p:nvPr/>
        </p:nvSpPr>
        <p:spPr>
          <a:xfrm>
            <a:off x="10515600" y="502920"/>
            <a:ext cx="45720" cy="45720"/>
          </a:xfrm>
          <a:prstGeom prst="ellipse">
            <a:avLst/>
          </a:prstGeom>
          <a:solidFill>
            <a:srgbClr val="2FD9C9"/>
          </a:solidFill>
          <a:ln/>
        </p:spPr>
      </p:sp>
      <p:sp>
        <p:nvSpPr>
          <p:cNvPr id="4" name="Shape 2"/>
          <p:cNvSpPr/>
          <p:nvPr/>
        </p:nvSpPr>
        <p:spPr>
          <a:xfrm>
            <a:off x="10972800" y="502920"/>
            <a:ext cx="45720" cy="45720"/>
          </a:xfrm>
          <a:prstGeom prst="ellipse">
            <a:avLst/>
          </a:prstGeom>
          <a:solidFill>
            <a:srgbClr val="2FD9C9"/>
          </a:solidFill>
          <a:ln/>
        </p:spPr>
      </p:sp>
      <p:sp>
        <p:nvSpPr>
          <p:cNvPr id="5" name="Shape 3"/>
          <p:cNvSpPr/>
          <p:nvPr/>
        </p:nvSpPr>
        <p:spPr>
          <a:xfrm>
            <a:off x="10058400" y="960120"/>
            <a:ext cx="45720" cy="45720"/>
          </a:xfrm>
          <a:prstGeom prst="ellipse">
            <a:avLst/>
          </a:prstGeom>
          <a:solidFill>
            <a:srgbClr val="2FD9C9"/>
          </a:solidFill>
          <a:ln/>
        </p:spPr>
      </p:sp>
      <p:sp>
        <p:nvSpPr>
          <p:cNvPr id="6" name="Shape 4"/>
          <p:cNvSpPr/>
          <p:nvPr/>
        </p:nvSpPr>
        <p:spPr>
          <a:xfrm>
            <a:off x="10515600" y="960120"/>
            <a:ext cx="45720" cy="45720"/>
          </a:xfrm>
          <a:prstGeom prst="ellipse">
            <a:avLst/>
          </a:prstGeom>
          <a:solidFill>
            <a:srgbClr val="2FD9C9"/>
          </a:solidFill>
          <a:ln/>
        </p:spPr>
      </p:sp>
      <p:sp>
        <p:nvSpPr>
          <p:cNvPr id="7" name="Shape 5"/>
          <p:cNvSpPr/>
          <p:nvPr/>
        </p:nvSpPr>
        <p:spPr>
          <a:xfrm>
            <a:off x="10972800" y="960120"/>
            <a:ext cx="45720" cy="45720"/>
          </a:xfrm>
          <a:prstGeom prst="ellipse">
            <a:avLst/>
          </a:prstGeom>
          <a:solidFill>
            <a:srgbClr val="2FD9C9"/>
          </a:solidFill>
          <a:ln/>
        </p:spPr>
      </p:sp>
      <p:sp>
        <p:nvSpPr>
          <p:cNvPr id="8" name="Text 6"/>
          <p:cNvSpPr/>
          <p:nvPr/>
        </p:nvSpPr>
        <p:spPr>
          <a:xfrm>
            <a:off x="822960" y="1965960"/>
            <a:ext cx="9144000" cy="365760"/>
          </a:xfrm>
          <a:prstGeom prst="rect">
            <a:avLst/>
          </a:prstGeom>
          <a:noFill/>
          <a:ln/>
        </p:spPr>
        <p:txBody>
          <a:bodyPr wrap="square" rtlCol="0" anchor="ctr"/>
          <a:lstStyle/>
          <a:p>
            <a:pPr indent="0" marL="0">
              <a:buNone/>
            </a:pPr>
            <a:r>
              <a:rPr lang="en-US" sz="1350" b="1" spc="300" kern="0" dirty="0">
                <a:solidFill>
                  <a:srgbClr val="2FD9C9"/>
                </a:solidFill>
                <a:latin typeface="Calibri" pitchFamily="34" charset="0"/>
                <a:ea typeface="Calibri" pitchFamily="34" charset="-122"/>
                <a:cs typeface="Calibri" pitchFamily="34" charset="-120"/>
              </a:rPr>
              <a:t>PROJECT MEMORY INTELLIGENCE</a:t>
            </a:r>
            <a:endParaRPr lang="en-US" sz="1350" dirty="0"/>
          </a:p>
        </p:txBody>
      </p:sp>
      <p:sp>
        <p:nvSpPr>
          <p:cNvPr id="9" name="Text 7"/>
          <p:cNvSpPr/>
          <p:nvPr/>
        </p:nvSpPr>
        <p:spPr>
          <a:xfrm>
            <a:off x="777240" y="2240280"/>
            <a:ext cx="7315200" cy="1371600"/>
          </a:xfrm>
          <a:prstGeom prst="rect">
            <a:avLst/>
          </a:prstGeom>
          <a:noFill/>
          <a:ln/>
        </p:spPr>
        <p:txBody>
          <a:bodyPr wrap="square"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PMI</a:t>
            </a:r>
            <a:endParaRPr lang="en-US" sz="8000" dirty="0"/>
          </a:p>
        </p:txBody>
      </p:sp>
      <p:sp>
        <p:nvSpPr>
          <p:cNvPr id="10" name="Text 8"/>
          <p:cNvSpPr/>
          <p:nvPr/>
        </p:nvSpPr>
        <p:spPr>
          <a:xfrm>
            <a:off x="822960" y="3703320"/>
            <a:ext cx="8778240" cy="502920"/>
          </a:xfrm>
          <a:prstGeom prst="rect">
            <a:avLst/>
          </a:prstGeom>
          <a:noFill/>
          <a:ln/>
        </p:spPr>
        <p:txBody>
          <a:bodyPr wrap="square" rtlCol="0" anchor="ctr"/>
          <a:lstStyle/>
          <a:p>
            <a:pPr indent="0" marL="0">
              <a:buNone/>
            </a:pPr>
            <a:r>
              <a:rPr lang="en-US" sz="1900" i="1" dirty="0">
                <a:solidFill>
                  <a:srgbClr val="E7ECF3"/>
                </a:solidFill>
                <a:latin typeface="Cambria" pitchFamily="34" charset="0"/>
                <a:ea typeface="Cambria" pitchFamily="34" charset="-122"/>
                <a:cs typeface="Cambria" pitchFamily="34" charset="-120"/>
              </a:rPr>
              <a:t>Turn repository history into usable engineering knowledge.</a:t>
            </a:r>
            <a:endParaRPr lang="en-US" sz="1900" dirty="0"/>
          </a:p>
        </p:txBody>
      </p:sp>
      <p:sp>
        <p:nvSpPr>
          <p:cNvPr id="11" name="Text 9"/>
          <p:cNvSpPr/>
          <p:nvPr/>
        </p:nvSpPr>
        <p:spPr>
          <a:xfrm>
            <a:off x="822960" y="4206240"/>
            <a:ext cx="8778240" cy="365760"/>
          </a:xfrm>
          <a:prstGeom prst="rect">
            <a:avLst/>
          </a:prstGeom>
          <a:noFill/>
          <a:ln/>
        </p:spPr>
        <p:txBody>
          <a:bodyPr wrap="square" rtlCol="0" anchor="ctr"/>
          <a:lstStyle/>
          <a:p>
            <a:pPr indent="0" marL="0">
              <a:buNone/>
            </a:pPr>
            <a:r>
              <a:rPr lang="en-US" sz="1400" dirty="0">
                <a:solidFill>
                  <a:srgbClr val="8A93A6"/>
                </a:solidFill>
                <a:latin typeface="Calibri" pitchFamily="34" charset="0"/>
                <a:ea typeface="Calibri" pitchFamily="34" charset="-122"/>
                <a:cs typeface="Calibri" pitchFamily="34" charset="-120"/>
              </a:rPr>
              <a:t>A GitHub-centric project-memory and DevOps assistant</a:t>
            </a:r>
            <a:endParaRPr lang="en-US" sz="1400" dirty="0"/>
          </a:p>
        </p:txBody>
      </p:sp>
      <p:sp>
        <p:nvSpPr>
          <p:cNvPr id="12" name="Shape 10"/>
          <p:cNvSpPr/>
          <p:nvPr/>
        </p:nvSpPr>
        <p:spPr>
          <a:xfrm>
            <a:off x="822960" y="5212080"/>
            <a:ext cx="2377440" cy="731520"/>
          </a:xfrm>
          <a:prstGeom prst="roundRect">
            <a:avLst>
              <a:gd name="adj" fmla="val 10000"/>
            </a:avLst>
          </a:prstGeom>
          <a:solidFill>
            <a:srgbClr val="1C2230"/>
          </a:solidFill>
          <a:ln w="12700">
            <a:solidFill>
              <a:srgbClr val="2E3648"/>
            </a:solidFill>
            <a:prstDash val="solid"/>
          </a:ln>
        </p:spPr>
      </p:sp>
      <p:sp>
        <p:nvSpPr>
          <p:cNvPr id="13" name="Text 11"/>
          <p:cNvSpPr/>
          <p:nvPr/>
        </p:nvSpPr>
        <p:spPr>
          <a:xfrm>
            <a:off x="987552" y="5212080"/>
            <a:ext cx="457200" cy="731520"/>
          </a:xfrm>
          <a:prstGeom prst="rect">
            <a:avLst/>
          </a:prstGeom>
          <a:noFill/>
          <a:ln/>
        </p:spPr>
        <p:txBody>
          <a:bodyPr wrap="square" rtlCol="0" anchor="ctr"/>
          <a:lstStyle/>
          <a:p>
            <a:pPr indent="0" marL="0">
              <a:buNone/>
            </a:pPr>
            <a:r>
              <a:rPr lang="en-US" sz="1800" dirty="0">
                <a:solidFill>
                  <a:srgbClr val="2FD9C9"/>
                </a:solidFill>
              </a:rPr>
              <a:t>▢</a:t>
            </a:r>
            <a:endParaRPr lang="en-US" sz="1800" dirty="0"/>
          </a:p>
        </p:txBody>
      </p:sp>
      <p:sp>
        <p:nvSpPr>
          <p:cNvPr id="14" name="Text 12"/>
          <p:cNvSpPr/>
          <p:nvPr/>
        </p:nvSpPr>
        <p:spPr>
          <a:xfrm>
            <a:off x="1417320" y="5212080"/>
            <a:ext cx="1691640" cy="731520"/>
          </a:xfrm>
          <a:prstGeom prst="rect">
            <a:avLst/>
          </a:prstGeom>
          <a:noFill/>
          <a:ln/>
        </p:spPr>
        <p:txBody>
          <a:bodyPr wrap="square" rtlCol="0" anchor="ctr">
            <a:normAutofit/>
          </a:bodyPr>
          <a:lstStyle/>
          <a:p>
            <a:pPr indent="0" marL="0">
              <a:buNone/>
            </a:pPr>
            <a:r>
              <a:rPr lang="en-US" sz="1150" b="1" dirty="0">
                <a:solidFill>
                  <a:srgbClr val="E7ECF3"/>
                </a:solidFill>
                <a:latin typeface="Calibri" pitchFamily="34" charset="0"/>
                <a:ea typeface="Calibri" pitchFamily="34" charset="-122"/>
                <a:cs typeface="Calibri" pitchFamily="34" charset="-120"/>
              </a:rPr>
              <a:t>GitHub Repository</a:t>
            </a:r>
            <a:endParaRPr lang="en-US" sz="1150" dirty="0"/>
          </a:p>
        </p:txBody>
      </p:sp>
      <p:sp>
        <p:nvSpPr>
          <p:cNvPr id="15" name="Text 13"/>
          <p:cNvSpPr/>
          <p:nvPr/>
        </p:nvSpPr>
        <p:spPr>
          <a:xfrm>
            <a:off x="3200400" y="5212080"/>
            <a:ext cx="228600" cy="731520"/>
          </a:xfrm>
          <a:prstGeom prst="rect">
            <a:avLst/>
          </a:prstGeom>
          <a:noFill/>
          <a:ln/>
        </p:spPr>
        <p:txBody>
          <a:bodyPr wrap="square" rtlCol="0" anchor="ctr"/>
          <a:lstStyle/>
          <a:p>
            <a:pPr algn="ctr" indent="0" marL="0">
              <a:buNone/>
            </a:pPr>
            <a:r>
              <a:rPr lang="en-US" sz="1600" dirty="0">
                <a:solidFill>
                  <a:srgbClr val="8A93A6"/>
                </a:solidFill>
              </a:rPr>
              <a:t>→</a:t>
            </a:r>
            <a:endParaRPr lang="en-US" sz="1600" dirty="0"/>
          </a:p>
        </p:txBody>
      </p:sp>
      <p:sp>
        <p:nvSpPr>
          <p:cNvPr id="16" name="Shape 14"/>
          <p:cNvSpPr/>
          <p:nvPr/>
        </p:nvSpPr>
        <p:spPr>
          <a:xfrm>
            <a:off x="3429000" y="5212080"/>
            <a:ext cx="2788920" cy="731520"/>
          </a:xfrm>
          <a:prstGeom prst="roundRect">
            <a:avLst>
              <a:gd name="adj" fmla="val 10000"/>
            </a:avLst>
          </a:prstGeom>
          <a:solidFill>
            <a:srgbClr val="1C2230"/>
          </a:solidFill>
          <a:ln w="12700">
            <a:solidFill>
              <a:srgbClr val="2E3648"/>
            </a:solidFill>
            <a:prstDash val="solid"/>
          </a:ln>
        </p:spPr>
      </p:sp>
      <p:sp>
        <p:nvSpPr>
          <p:cNvPr id="17" name="Text 15"/>
          <p:cNvSpPr/>
          <p:nvPr/>
        </p:nvSpPr>
        <p:spPr>
          <a:xfrm>
            <a:off x="3593592" y="5212080"/>
            <a:ext cx="457200" cy="731520"/>
          </a:xfrm>
          <a:prstGeom prst="rect">
            <a:avLst/>
          </a:prstGeom>
          <a:noFill/>
          <a:ln/>
        </p:spPr>
        <p:txBody>
          <a:bodyPr wrap="square" rtlCol="0" anchor="ctr"/>
          <a:lstStyle/>
          <a:p>
            <a:pPr indent="0" marL="0">
              <a:buNone/>
            </a:pPr>
            <a:r>
              <a:rPr lang="en-US" sz="1800" dirty="0">
                <a:solidFill>
                  <a:srgbClr val="2FD9C9"/>
                </a:solidFill>
              </a:rPr>
              <a:t>◇</a:t>
            </a:r>
            <a:endParaRPr lang="en-US" sz="1800" dirty="0"/>
          </a:p>
        </p:txBody>
      </p:sp>
      <p:sp>
        <p:nvSpPr>
          <p:cNvPr id="18" name="Text 16"/>
          <p:cNvSpPr/>
          <p:nvPr/>
        </p:nvSpPr>
        <p:spPr>
          <a:xfrm>
            <a:off x="4023360" y="5212080"/>
            <a:ext cx="2103120" cy="731520"/>
          </a:xfrm>
          <a:prstGeom prst="rect">
            <a:avLst/>
          </a:prstGeom>
          <a:noFill/>
          <a:ln/>
        </p:spPr>
        <p:txBody>
          <a:bodyPr wrap="square" rtlCol="0" anchor="ctr">
            <a:normAutofit/>
          </a:bodyPr>
          <a:lstStyle/>
          <a:p>
            <a:pPr indent="0" marL="0">
              <a:buNone/>
            </a:pPr>
            <a:r>
              <a:rPr lang="en-US" sz="1150" b="1" dirty="0">
                <a:solidFill>
                  <a:srgbClr val="E7ECF3"/>
                </a:solidFill>
                <a:latin typeface="Calibri" pitchFamily="34" charset="0"/>
                <a:ea typeface="Calibri" pitchFamily="34" charset="-122"/>
                <a:cs typeface="Calibri" pitchFamily="34" charset="-120"/>
              </a:rPr>
              <a:t>Searchable Knowledge Base</a:t>
            </a:r>
            <a:endParaRPr lang="en-US" sz="1150" dirty="0"/>
          </a:p>
        </p:txBody>
      </p:sp>
      <p:sp>
        <p:nvSpPr>
          <p:cNvPr id="19" name="Text 17"/>
          <p:cNvSpPr/>
          <p:nvPr/>
        </p:nvSpPr>
        <p:spPr>
          <a:xfrm>
            <a:off x="6217920" y="5212080"/>
            <a:ext cx="228600" cy="731520"/>
          </a:xfrm>
          <a:prstGeom prst="rect">
            <a:avLst/>
          </a:prstGeom>
          <a:noFill/>
          <a:ln/>
        </p:spPr>
        <p:txBody>
          <a:bodyPr wrap="square" rtlCol="0" anchor="ctr"/>
          <a:lstStyle/>
          <a:p>
            <a:pPr algn="ctr" indent="0" marL="0">
              <a:buNone/>
            </a:pPr>
            <a:r>
              <a:rPr lang="en-US" sz="1600" dirty="0">
                <a:solidFill>
                  <a:srgbClr val="8A93A6"/>
                </a:solidFill>
              </a:rPr>
              <a:t>→</a:t>
            </a:r>
            <a:endParaRPr lang="en-US" sz="1600" dirty="0"/>
          </a:p>
        </p:txBody>
      </p:sp>
      <p:sp>
        <p:nvSpPr>
          <p:cNvPr id="20" name="Shape 18"/>
          <p:cNvSpPr/>
          <p:nvPr/>
        </p:nvSpPr>
        <p:spPr>
          <a:xfrm>
            <a:off x="6446520" y="5212080"/>
            <a:ext cx="2377440" cy="731520"/>
          </a:xfrm>
          <a:prstGeom prst="roundRect">
            <a:avLst>
              <a:gd name="adj" fmla="val 10000"/>
            </a:avLst>
          </a:prstGeom>
          <a:solidFill>
            <a:srgbClr val="1C2230"/>
          </a:solidFill>
          <a:ln w="12700">
            <a:solidFill>
              <a:srgbClr val="2E3648"/>
            </a:solidFill>
            <a:prstDash val="solid"/>
          </a:ln>
        </p:spPr>
      </p:sp>
      <p:sp>
        <p:nvSpPr>
          <p:cNvPr id="21" name="Text 19"/>
          <p:cNvSpPr/>
          <p:nvPr/>
        </p:nvSpPr>
        <p:spPr>
          <a:xfrm>
            <a:off x="6611112" y="5212080"/>
            <a:ext cx="457200" cy="731520"/>
          </a:xfrm>
          <a:prstGeom prst="rect">
            <a:avLst/>
          </a:prstGeom>
          <a:noFill/>
          <a:ln/>
        </p:spPr>
        <p:txBody>
          <a:bodyPr wrap="square" rtlCol="0" anchor="ctr"/>
          <a:lstStyle/>
          <a:p>
            <a:pPr indent="0" marL="0">
              <a:buNone/>
            </a:pPr>
            <a:r>
              <a:rPr lang="en-US" sz="1800" dirty="0">
                <a:solidFill>
                  <a:srgbClr val="2FD9C9"/>
                </a:solidFill>
              </a:rPr>
              <a:t>●</a:t>
            </a:r>
            <a:endParaRPr lang="en-US" sz="1800" dirty="0"/>
          </a:p>
        </p:txBody>
      </p:sp>
      <p:sp>
        <p:nvSpPr>
          <p:cNvPr id="22" name="Text 20"/>
          <p:cNvSpPr/>
          <p:nvPr/>
        </p:nvSpPr>
        <p:spPr>
          <a:xfrm>
            <a:off x="7040880" y="5212080"/>
            <a:ext cx="1691640" cy="731520"/>
          </a:xfrm>
          <a:prstGeom prst="rect">
            <a:avLst/>
          </a:prstGeom>
          <a:noFill/>
          <a:ln/>
        </p:spPr>
        <p:txBody>
          <a:bodyPr wrap="square" rtlCol="0" anchor="ctr">
            <a:normAutofit/>
          </a:bodyPr>
          <a:lstStyle/>
          <a:p>
            <a:pPr indent="0" marL="0">
              <a:buNone/>
            </a:pPr>
            <a:r>
              <a:rPr lang="en-US" sz="1150" b="1" dirty="0">
                <a:solidFill>
                  <a:srgbClr val="E7ECF3"/>
                </a:solidFill>
                <a:latin typeface="Calibri" pitchFamily="34" charset="0"/>
                <a:ea typeface="Calibri" pitchFamily="34" charset="-122"/>
                <a:cs typeface="Calibri" pitchFamily="34" charset="-120"/>
              </a:rPr>
              <a:t>Assistant Interface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Project knowledge exists — but it's scattered</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Context is everywhere, connected nowhere.</a:t>
            </a:r>
            <a:endParaRPr lang="en-US" sz="1450" dirty="0"/>
          </a:p>
        </p:txBody>
      </p:sp>
      <p:sp>
        <p:nvSpPr>
          <p:cNvPr id="5" name="Shape 3"/>
          <p:cNvSpPr/>
          <p:nvPr/>
        </p:nvSpPr>
        <p:spPr>
          <a:xfrm>
            <a:off x="548640" y="2340864"/>
            <a:ext cx="82296" cy="82296"/>
          </a:xfrm>
          <a:prstGeom prst="ellipse">
            <a:avLst/>
          </a:prstGeom>
          <a:solidFill>
            <a:srgbClr val="2FD9C9"/>
          </a:solidFill>
          <a:ln/>
        </p:spPr>
      </p:sp>
      <p:sp>
        <p:nvSpPr>
          <p:cNvPr id="6" name="Text 4"/>
          <p:cNvSpPr/>
          <p:nvPr/>
        </p:nvSpPr>
        <p:spPr>
          <a:xfrm>
            <a:off x="804672" y="2084832"/>
            <a:ext cx="5779008" cy="566928"/>
          </a:xfrm>
          <a:prstGeom prst="rect">
            <a:avLst/>
          </a:prstGeom>
          <a:noFill/>
          <a:ln/>
        </p:spPr>
        <p:txBody>
          <a:bodyPr wrap="square" rtlCol="0" anchor="ctr"/>
          <a:lstStyle/>
          <a:p>
            <a:pPr indent="0" marL="0">
              <a:lnSpc>
                <a:spcPct val="115000"/>
              </a:lnSpc>
              <a:buNone/>
            </a:pPr>
            <a:r>
              <a:rPr lang="en-US" sz="1450" dirty="0">
                <a:solidFill>
                  <a:srgbClr val="E7ECF3"/>
                </a:solidFill>
                <a:latin typeface="Calibri" pitchFamily="34" charset="0"/>
                <a:ea typeface="Calibri" pitchFamily="34" charset="-122"/>
                <a:cs typeface="Calibri" pitchFamily="34" charset="-120"/>
              </a:rPr>
              <a:t>Context is spread across commits, issues, pull requests, and docs</a:t>
            </a:r>
            <a:endParaRPr lang="en-US" sz="1450" dirty="0"/>
          </a:p>
        </p:txBody>
      </p:sp>
      <p:sp>
        <p:nvSpPr>
          <p:cNvPr id="7" name="Shape 5"/>
          <p:cNvSpPr/>
          <p:nvPr/>
        </p:nvSpPr>
        <p:spPr>
          <a:xfrm>
            <a:off x="548640" y="2907792"/>
            <a:ext cx="82296" cy="82296"/>
          </a:xfrm>
          <a:prstGeom prst="ellipse">
            <a:avLst/>
          </a:prstGeom>
          <a:solidFill>
            <a:srgbClr val="2FD9C9"/>
          </a:solidFill>
          <a:ln/>
        </p:spPr>
      </p:sp>
      <p:sp>
        <p:nvSpPr>
          <p:cNvPr id="8" name="Text 6"/>
          <p:cNvSpPr/>
          <p:nvPr/>
        </p:nvSpPr>
        <p:spPr>
          <a:xfrm>
            <a:off x="804672" y="2651760"/>
            <a:ext cx="5779008" cy="566928"/>
          </a:xfrm>
          <a:prstGeom prst="rect">
            <a:avLst/>
          </a:prstGeom>
          <a:noFill/>
          <a:ln/>
        </p:spPr>
        <p:txBody>
          <a:bodyPr wrap="square" rtlCol="0" anchor="ctr"/>
          <a:lstStyle/>
          <a:p>
            <a:pPr indent="0" marL="0">
              <a:lnSpc>
                <a:spcPct val="115000"/>
              </a:lnSpc>
              <a:buNone/>
            </a:pPr>
            <a:r>
              <a:rPr lang="en-US" sz="1450" dirty="0">
                <a:solidFill>
                  <a:srgbClr val="E7ECF3"/>
                </a:solidFill>
                <a:latin typeface="Calibri" pitchFamily="34" charset="0"/>
                <a:ea typeface="Calibri" pitchFamily="34" charset="-122"/>
                <a:cs typeface="Calibri" pitchFamily="34" charset="-120"/>
              </a:rPr>
              <a:t>Engineers lose time searching disconnected sources</a:t>
            </a:r>
            <a:endParaRPr lang="en-US" sz="1450" dirty="0"/>
          </a:p>
        </p:txBody>
      </p:sp>
      <p:sp>
        <p:nvSpPr>
          <p:cNvPr id="9" name="Shape 7"/>
          <p:cNvSpPr/>
          <p:nvPr/>
        </p:nvSpPr>
        <p:spPr>
          <a:xfrm>
            <a:off x="548640" y="3474720"/>
            <a:ext cx="82296" cy="82296"/>
          </a:xfrm>
          <a:prstGeom prst="ellipse">
            <a:avLst/>
          </a:prstGeom>
          <a:solidFill>
            <a:srgbClr val="2FD9C9"/>
          </a:solidFill>
          <a:ln/>
        </p:spPr>
      </p:sp>
      <p:sp>
        <p:nvSpPr>
          <p:cNvPr id="10" name="Text 8"/>
          <p:cNvSpPr/>
          <p:nvPr/>
        </p:nvSpPr>
        <p:spPr>
          <a:xfrm>
            <a:off x="804672" y="3218688"/>
            <a:ext cx="5779008" cy="566928"/>
          </a:xfrm>
          <a:prstGeom prst="rect">
            <a:avLst/>
          </a:prstGeom>
          <a:noFill/>
          <a:ln/>
        </p:spPr>
        <p:txBody>
          <a:bodyPr wrap="square" rtlCol="0" anchor="ctr"/>
          <a:lstStyle/>
          <a:p>
            <a:pPr indent="0" marL="0">
              <a:lnSpc>
                <a:spcPct val="115000"/>
              </a:lnSpc>
              <a:buNone/>
            </a:pPr>
            <a:r>
              <a:rPr lang="en-US" sz="1450" dirty="0">
                <a:solidFill>
                  <a:srgbClr val="E7ECF3"/>
                </a:solidFill>
                <a:latin typeface="Calibri" pitchFamily="34" charset="0"/>
                <a:ea typeface="Calibri" pitchFamily="34" charset="-122"/>
                <a:cs typeface="Calibri" pitchFamily="34" charset="-120"/>
              </a:rPr>
              <a:t>Generic LLMs don't know your repository's history</a:t>
            </a:r>
            <a:endParaRPr lang="en-US" sz="1450" dirty="0"/>
          </a:p>
        </p:txBody>
      </p:sp>
      <p:sp>
        <p:nvSpPr>
          <p:cNvPr id="11" name="Shape 9"/>
          <p:cNvSpPr/>
          <p:nvPr/>
        </p:nvSpPr>
        <p:spPr>
          <a:xfrm>
            <a:off x="548640" y="4041648"/>
            <a:ext cx="82296" cy="82296"/>
          </a:xfrm>
          <a:prstGeom prst="ellipse">
            <a:avLst/>
          </a:prstGeom>
          <a:solidFill>
            <a:srgbClr val="2FD9C9"/>
          </a:solidFill>
          <a:ln/>
        </p:spPr>
      </p:sp>
      <p:sp>
        <p:nvSpPr>
          <p:cNvPr id="12" name="Text 10"/>
          <p:cNvSpPr/>
          <p:nvPr/>
        </p:nvSpPr>
        <p:spPr>
          <a:xfrm>
            <a:off x="804672" y="3785616"/>
            <a:ext cx="5779008" cy="566928"/>
          </a:xfrm>
          <a:prstGeom prst="rect">
            <a:avLst/>
          </a:prstGeom>
          <a:noFill/>
          <a:ln/>
        </p:spPr>
        <p:txBody>
          <a:bodyPr wrap="square" rtlCol="0" anchor="ctr"/>
          <a:lstStyle/>
          <a:p>
            <a:pPr indent="0" marL="0">
              <a:lnSpc>
                <a:spcPct val="115000"/>
              </a:lnSpc>
              <a:buNone/>
            </a:pPr>
            <a:r>
              <a:rPr lang="en-US" sz="1450" dirty="0">
                <a:solidFill>
                  <a:srgbClr val="E7ECF3"/>
                </a:solidFill>
                <a:latin typeface="Calibri" pitchFamily="34" charset="0"/>
                <a:ea typeface="Calibri" pitchFamily="34" charset="-122"/>
                <a:cs typeface="Calibri" pitchFamily="34" charset="-120"/>
              </a:rPr>
              <a:t>Answers need to be grounded in project evidence, not guesses</a:t>
            </a:r>
            <a:endParaRPr lang="en-US" sz="1450" dirty="0"/>
          </a:p>
        </p:txBody>
      </p:sp>
      <p:sp>
        <p:nvSpPr>
          <p:cNvPr id="13" name="Shape 11"/>
          <p:cNvSpPr/>
          <p:nvPr/>
        </p:nvSpPr>
        <p:spPr>
          <a:xfrm>
            <a:off x="7040880" y="2103120"/>
            <a:ext cx="2148840" cy="1280160"/>
          </a:xfrm>
          <a:prstGeom prst="roundRect">
            <a:avLst>
              <a:gd name="adj" fmla="val 7143"/>
            </a:avLst>
          </a:prstGeom>
          <a:solidFill>
            <a:srgbClr val="1C2230"/>
          </a:solidFill>
          <a:ln w="12700">
            <a:solidFill>
              <a:srgbClr val="2E3648"/>
            </a:solidFill>
            <a:prstDash val="solid"/>
          </a:ln>
        </p:spPr>
      </p:sp>
      <p:sp>
        <p:nvSpPr>
          <p:cNvPr id="14" name="Text 12"/>
          <p:cNvSpPr/>
          <p:nvPr/>
        </p:nvSpPr>
        <p:spPr>
          <a:xfrm>
            <a:off x="7040880" y="2240280"/>
            <a:ext cx="2148840" cy="502920"/>
          </a:xfrm>
          <a:prstGeom prst="rect">
            <a:avLst/>
          </a:prstGeom>
          <a:noFill/>
          <a:ln/>
        </p:spPr>
        <p:txBody>
          <a:bodyPr wrap="square" rtlCol="0" anchor="ctr"/>
          <a:lstStyle/>
          <a:p>
            <a:pPr algn="ctr" indent="0" marL="0">
              <a:buNone/>
            </a:pPr>
            <a:r>
              <a:rPr lang="en-US" sz="2000" dirty="0">
                <a:solidFill>
                  <a:srgbClr val="8A93A6"/>
                </a:solidFill>
              </a:rPr>
              <a:t>◆</a:t>
            </a:r>
            <a:endParaRPr lang="en-US" sz="2000" dirty="0"/>
          </a:p>
        </p:txBody>
      </p:sp>
      <p:sp>
        <p:nvSpPr>
          <p:cNvPr id="15" name="Text 13"/>
          <p:cNvSpPr/>
          <p:nvPr/>
        </p:nvSpPr>
        <p:spPr>
          <a:xfrm>
            <a:off x="7040880" y="2834640"/>
            <a:ext cx="2148840" cy="365760"/>
          </a:xfrm>
          <a:prstGeom prst="rect">
            <a:avLst/>
          </a:prstGeom>
          <a:noFill/>
          <a:ln/>
        </p:spPr>
        <p:txBody>
          <a:bodyPr wrap="square" rtlCol="0" anchor="ctr"/>
          <a:lstStyle/>
          <a:p>
            <a:pPr algn="ctr" indent="0" marL="0">
              <a:buNone/>
            </a:pPr>
            <a:r>
              <a:rPr lang="en-US" sz="1200" b="1" dirty="0">
                <a:solidFill>
                  <a:srgbClr val="E7ECF3"/>
                </a:solidFill>
                <a:latin typeface="Calibri" pitchFamily="34" charset="0"/>
                <a:ea typeface="Calibri" pitchFamily="34" charset="-122"/>
                <a:cs typeface="Calibri" pitchFamily="34" charset="-120"/>
              </a:rPr>
              <a:t>Commit</a:t>
            </a:r>
            <a:endParaRPr lang="en-US" sz="1200" dirty="0"/>
          </a:p>
        </p:txBody>
      </p:sp>
      <p:sp>
        <p:nvSpPr>
          <p:cNvPr id="16" name="Shape 14"/>
          <p:cNvSpPr/>
          <p:nvPr/>
        </p:nvSpPr>
        <p:spPr>
          <a:xfrm>
            <a:off x="9509760" y="2103120"/>
            <a:ext cx="2148840" cy="1280160"/>
          </a:xfrm>
          <a:prstGeom prst="roundRect">
            <a:avLst>
              <a:gd name="adj" fmla="val 7143"/>
            </a:avLst>
          </a:prstGeom>
          <a:solidFill>
            <a:srgbClr val="1C2230"/>
          </a:solidFill>
          <a:ln w="12700">
            <a:solidFill>
              <a:srgbClr val="2E3648"/>
            </a:solidFill>
            <a:prstDash val="solid"/>
          </a:ln>
        </p:spPr>
      </p:sp>
      <p:sp>
        <p:nvSpPr>
          <p:cNvPr id="17" name="Text 15"/>
          <p:cNvSpPr/>
          <p:nvPr/>
        </p:nvSpPr>
        <p:spPr>
          <a:xfrm>
            <a:off x="9509760" y="2240280"/>
            <a:ext cx="2148840" cy="502920"/>
          </a:xfrm>
          <a:prstGeom prst="rect">
            <a:avLst/>
          </a:prstGeom>
          <a:noFill/>
          <a:ln/>
        </p:spPr>
        <p:txBody>
          <a:bodyPr wrap="square" rtlCol="0" anchor="ctr"/>
          <a:lstStyle/>
          <a:p>
            <a:pPr algn="ctr" indent="0" marL="0">
              <a:buNone/>
            </a:pPr>
            <a:r>
              <a:rPr lang="en-US" sz="2000" dirty="0">
                <a:solidFill>
                  <a:srgbClr val="8A93A6"/>
                </a:solidFill>
              </a:rPr>
              <a:t>●</a:t>
            </a:r>
            <a:endParaRPr lang="en-US" sz="2000" dirty="0"/>
          </a:p>
        </p:txBody>
      </p:sp>
      <p:sp>
        <p:nvSpPr>
          <p:cNvPr id="18" name="Text 16"/>
          <p:cNvSpPr/>
          <p:nvPr/>
        </p:nvSpPr>
        <p:spPr>
          <a:xfrm>
            <a:off x="9509760" y="2834640"/>
            <a:ext cx="2148840" cy="365760"/>
          </a:xfrm>
          <a:prstGeom prst="rect">
            <a:avLst/>
          </a:prstGeom>
          <a:noFill/>
          <a:ln/>
        </p:spPr>
        <p:txBody>
          <a:bodyPr wrap="square" rtlCol="0" anchor="ctr"/>
          <a:lstStyle/>
          <a:p>
            <a:pPr algn="ctr" indent="0" marL="0">
              <a:buNone/>
            </a:pPr>
            <a:r>
              <a:rPr lang="en-US" sz="1200" b="1" dirty="0">
                <a:solidFill>
                  <a:srgbClr val="E7ECF3"/>
                </a:solidFill>
                <a:latin typeface="Calibri" pitchFamily="34" charset="0"/>
                <a:ea typeface="Calibri" pitchFamily="34" charset="-122"/>
                <a:cs typeface="Calibri" pitchFamily="34" charset="-120"/>
              </a:rPr>
              <a:t>Issue</a:t>
            </a:r>
            <a:endParaRPr lang="en-US" sz="1200" dirty="0"/>
          </a:p>
        </p:txBody>
      </p:sp>
      <p:sp>
        <p:nvSpPr>
          <p:cNvPr id="19" name="Shape 17"/>
          <p:cNvSpPr/>
          <p:nvPr/>
        </p:nvSpPr>
        <p:spPr>
          <a:xfrm>
            <a:off x="7040880" y="3703320"/>
            <a:ext cx="2148840" cy="1280160"/>
          </a:xfrm>
          <a:prstGeom prst="roundRect">
            <a:avLst>
              <a:gd name="adj" fmla="val 7143"/>
            </a:avLst>
          </a:prstGeom>
          <a:solidFill>
            <a:srgbClr val="1C2230"/>
          </a:solidFill>
          <a:ln w="12700">
            <a:solidFill>
              <a:srgbClr val="2E3648"/>
            </a:solidFill>
            <a:prstDash val="solid"/>
          </a:ln>
        </p:spPr>
      </p:sp>
      <p:sp>
        <p:nvSpPr>
          <p:cNvPr id="20" name="Text 18"/>
          <p:cNvSpPr/>
          <p:nvPr/>
        </p:nvSpPr>
        <p:spPr>
          <a:xfrm>
            <a:off x="7040880" y="3840480"/>
            <a:ext cx="2148840" cy="502920"/>
          </a:xfrm>
          <a:prstGeom prst="rect">
            <a:avLst/>
          </a:prstGeom>
          <a:noFill/>
          <a:ln/>
        </p:spPr>
        <p:txBody>
          <a:bodyPr wrap="square" rtlCol="0" anchor="ctr"/>
          <a:lstStyle/>
          <a:p>
            <a:pPr algn="ctr" indent="0" marL="0">
              <a:buNone/>
            </a:pPr>
            <a:r>
              <a:rPr lang="en-US" sz="2000" dirty="0">
                <a:solidFill>
                  <a:srgbClr val="8A93A6"/>
                </a:solidFill>
              </a:rPr>
              <a:t>▲</a:t>
            </a:r>
            <a:endParaRPr lang="en-US" sz="2000" dirty="0"/>
          </a:p>
        </p:txBody>
      </p:sp>
      <p:sp>
        <p:nvSpPr>
          <p:cNvPr id="21" name="Text 19"/>
          <p:cNvSpPr/>
          <p:nvPr/>
        </p:nvSpPr>
        <p:spPr>
          <a:xfrm>
            <a:off x="7040880" y="4434840"/>
            <a:ext cx="2148840" cy="365760"/>
          </a:xfrm>
          <a:prstGeom prst="rect">
            <a:avLst/>
          </a:prstGeom>
          <a:noFill/>
          <a:ln/>
        </p:spPr>
        <p:txBody>
          <a:bodyPr wrap="square" rtlCol="0" anchor="ctr"/>
          <a:lstStyle/>
          <a:p>
            <a:pPr algn="ctr" indent="0" marL="0">
              <a:buNone/>
            </a:pPr>
            <a:r>
              <a:rPr lang="en-US" sz="1200" b="1" dirty="0">
                <a:solidFill>
                  <a:srgbClr val="E7ECF3"/>
                </a:solidFill>
                <a:latin typeface="Calibri" pitchFamily="34" charset="0"/>
                <a:ea typeface="Calibri" pitchFamily="34" charset="-122"/>
                <a:cs typeface="Calibri" pitchFamily="34" charset="-120"/>
              </a:rPr>
              <a:t>Pull Request</a:t>
            </a:r>
            <a:endParaRPr lang="en-US" sz="1200" dirty="0"/>
          </a:p>
        </p:txBody>
      </p:sp>
      <p:sp>
        <p:nvSpPr>
          <p:cNvPr id="22" name="Shape 20"/>
          <p:cNvSpPr/>
          <p:nvPr/>
        </p:nvSpPr>
        <p:spPr>
          <a:xfrm>
            <a:off x="9509760" y="3703320"/>
            <a:ext cx="2148840" cy="1280160"/>
          </a:xfrm>
          <a:prstGeom prst="roundRect">
            <a:avLst>
              <a:gd name="adj" fmla="val 7143"/>
            </a:avLst>
          </a:prstGeom>
          <a:solidFill>
            <a:srgbClr val="1C2230"/>
          </a:solidFill>
          <a:ln w="12700">
            <a:solidFill>
              <a:srgbClr val="2E3648"/>
            </a:solidFill>
            <a:prstDash val="solid"/>
          </a:ln>
        </p:spPr>
      </p:sp>
      <p:sp>
        <p:nvSpPr>
          <p:cNvPr id="23" name="Text 21"/>
          <p:cNvSpPr/>
          <p:nvPr/>
        </p:nvSpPr>
        <p:spPr>
          <a:xfrm>
            <a:off x="9509760" y="3840480"/>
            <a:ext cx="2148840" cy="502920"/>
          </a:xfrm>
          <a:prstGeom prst="rect">
            <a:avLst/>
          </a:prstGeom>
          <a:noFill/>
          <a:ln/>
        </p:spPr>
        <p:txBody>
          <a:bodyPr wrap="square" rtlCol="0" anchor="ctr"/>
          <a:lstStyle/>
          <a:p>
            <a:pPr algn="ctr" indent="0" marL="0">
              <a:buNone/>
            </a:pPr>
            <a:r>
              <a:rPr lang="en-US" sz="2000" dirty="0">
                <a:solidFill>
                  <a:srgbClr val="8A93A6"/>
                </a:solidFill>
              </a:rPr>
              <a:t>■</a:t>
            </a:r>
            <a:endParaRPr lang="en-US" sz="2000" dirty="0"/>
          </a:p>
        </p:txBody>
      </p:sp>
      <p:sp>
        <p:nvSpPr>
          <p:cNvPr id="24" name="Text 22"/>
          <p:cNvSpPr/>
          <p:nvPr/>
        </p:nvSpPr>
        <p:spPr>
          <a:xfrm>
            <a:off x="9509760" y="4434840"/>
            <a:ext cx="2148840" cy="365760"/>
          </a:xfrm>
          <a:prstGeom prst="rect">
            <a:avLst/>
          </a:prstGeom>
          <a:noFill/>
          <a:ln/>
        </p:spPr>
        <p:txBody>
          <a:bodyPr wrap="square" rtlCol="0" anchor="ctr"/>
          <a:lstStyle/>
          <a:p>
            <a:pPr algn="ctr" indent="0" marL="0">
              <a:buNone/>
            </a:pPr>
            <a:r>
              <a:rPr lang="en-US" sz="1200" b="1" dirty="0">
                <a:solidFill>
                  <a:srgbClr val="E7ECF3"/>
                </a:solidFill>
                <a:latin typeface="Calibri" pitchFamily="34" charset="0"/>
                <a:ea typeface="Calibri" pitchFamily="34" charset="-122"/>
                <a:cs typeface="Calibri" pitchFamily="34" charset="-120"/>
              </a:rPr>
              <a:t>Doc</a:t>
            </a:r>
            <a:endParaRPr lang="en-US" sz="1200" dirty="0"/>
          </a:p>
        </p:txBody>
      </p:sp>
      <p:sp>
        <p:nvSpPr>
          <p:cNvPr id="25" name="Text 23"/>
          <p:cNvSpPr/>
          <p:nvPr/>
        </p:nvSpPr>
        <p:spPr>
          <a:xfrm>
            <a:off x="7040880" y="5166360"/>
            <a:ext cx="4617720" cy="274320"/>
          </a:xfrm>
          <a:prstGeom prst="rect">
            <a:avLst/>
          </a:prstGeom>
          <a:noFill/>
          <a:ln/>
        </p:spPr>
        <p:txBody>
          <a:bodyPr wrap="square" rtlCol="0" anchor="ctr"/>
          <a:lstStyle/>
          <a:p>
            <a:pPr algn="ctr" indent="0" marL="0">
              <a:buNone/>
            </a:pPr>
            <a:r>
              <a:rPr lang="en-US" sz="1050" i="1" dirty="0">
                <a:solidFill>
                  <a:srgbClr val="8A93A6"/>
                </a:solidFill>
                <a:latin typeface="Calibri" pitchFamily="34" charset="0"/>
                <a:ea typeface="Calibri" pitchFamily="34" charset="-122"/>
                <a:cs typeface="Calibri" pitchFamily="34" charset="-120"/>
              </a:rPr>
              <a:t>Disconnected — no shared thread between them</a:t>
            </a:r>
            <a:endParaRPr lang="en-US" sz="1050" dirty="0"/>
          </a:p>
        </p:txBody>
      </p:sp>
      <p:sp>
        <p:nvSpPr>
          <p:cNvPr id="26" name="Shape 24"/>
          <p:cNvSpPr/>
          <p:nvPr/>
        </p:nvSpPr>
        <p:spPr>
          <a:xfrm>
            <a:off x="7040880" y="5440680"/>
            <a:ext cx="4617720" cy="777240"/>
          </a:xfrm>
          <a:prstGeom prst="roundRect">
            <a:avLst>
              <a:gd name="adj" fmla="val 11765"/>
            </a:avLst>
          </a:prstGeom>
          <a:solidFill>
            <a:srgbClr val="232B3D"/>
          </a:solidFill>
          <a:ln w="12700">
            <a:solidFill>
              <a:srgbClr val="2E3648"/>
            </a:solidFill>
            <a:prstDash val="solid"/>
          </a:ln>
        </p:spPr>
      </p:sp>
      <p:sp>
        <p:nvSpPr>
          <p:cNvPr id="27" name="Text 25"/>
          <p:cNvSpPr/>
          <p:nvPr/>
        </p:nvSpPr>
        <p:spPr>
          <a:xfrm>
            <a:off x="7178040" y="5440680"/>
            <a:ext cx="548640" cy="777240"/>
          </a:xfrm>
          <a:prstGeom prst="rect">
            <a:avLst/>
          </a:prstGeom>
          <a:noFill/>
          <a:ln/>
        </p:spPr>
        <p:txBody>
          <a:bodyPr wrap="square" rtlCol="0" anchor="ctr"/>
          <a:lstStyle/>
          <a:p>
            <a:pPr algn="ctr" indent="0" marL="0">
              <a:buNone/>
            </a:pPr>
            <a:r>
              <a:rPr lang="en-US" sz="2600" dirty="0">
                <a:solidFill>
                  <a:srgbClr val="E0A83D"/>
                </a:solidFill>
              </a:rPr>
              <a:t>?</a:t>
            </a:r>
            <a:endParaRPr lang="en-US" sz="2600" dirty="0"/>
          </a:p>
        </p:txBody>
      </p:sp>
      <p:sp>
        <p:nvSpPr>
          <p:cNvPr id="28" name="Text 26"/>
          <p:cNvSpPr/>
          <p:nvPr/>
        </p:nvSpPr>
        <p:spPr>
          <a:xfrm>
            <a:off x="7772400" y="5440680"/>
            <a:ext cx="3794760" cy="777240"/>
          </a:xfrm>
          <a:prstGeom prst="rect">
            <a:avLst/>
          </a:prstGeom>
          <a:noFill/>
          <a:ln/>
        </p:spPr>
        <p:txBody>
          <a:bodyPr wrap="square" rtlCol="0" anchor="ctr"/>
          <a:lstStyle/>
          <a:p>
            <a:pPr indent="0" marL="0">
              <a:buNone/>
            </a:pPr>
            <a:r>
              <a:rPr lang="en-US" sz="1150" i="1" dirty="0">
                <a:solidFill>
                  <a:srgbClr val="8A93A6"/>
                </a:solidFill>
                <a:latin typeface="Calibri" pitchFamily="34" charset="0"/>
                <a:ea typeface="Calibri" pitchFamily="34" charset="-122"/>
                <a:cs typeface="Calibri" pitchFamily="34" charset="-120"/>
              </a:rPr>
              <a:t>Generic LLM — no repository history</a:t>
            </a:r>
            <a:endParaRPr lang="en-US" sz="1150" dirty="0"/>
          </a:p>
        </p:txBody>
      </p:sp>
      <p:sp>
        <p:nvSpPr>
          <p:cNvPr id="29" name="Text 27"/>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02 / 14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PMI'S SOLUTION</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One shared knowledge base, two ways to use it</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PMI converts repository data into searchable, contextual answers.</a:t>
            </a:r>
            <a:endParaRPr lang="en-US" sz="1450" dirty="0"/>
          </a:p>
        </p:txBody>
      </p:sp>
      <p:sp>
        <p:nvSpPr>
          <p:cNvPr id="5" name="Shape 3"/>
          <p:cNvSpPr/>
          <p:nvPr/>
        </p:nvSpPr>
        <p:spPr>
          <a:xfrm>
            <a:off x="4663440" y="2286000"/>
            <a:ext cx="2834640" cy="777240"/>
          </a:xfrm>
          <a:prstGeom prst="roundRect">
            <a:avLst>
              <a:gd name="adj" fmla="val 11765"/>
            </a:avLst>
          </a:prstGeom>
          <a:solidFill>
            <a:srgbClr val="2FD9C9"/>
          </a:solidFill>
          <a:ln/>
        </p:spPr>
      </p:sp>
      <p:sp>
        <p:nvSpPr>
          <p:cNvPr id="6" name="Text 4"/>
          <p:cNvSpPr/>
          <p:nvPr/>
        </p:nvSpPr>
        <p:spPr>
          <a:xfrm>
            <a:off x="4663440" y="2286000"/>
            <a:ext cx="2834640" cy="777240"/>
          </a:xfrm>
          <a:prstGeom prst="rect">
            <a:avLst/>
          </a:prstGeom>
          <a:noFill/>
          <a:ln/>
        </p:spPr>
        <p:txBody>
          <a:bodyPr wrap="square" rtlCol="0" anchor="ctr"/>
          <a:lstStyle/>
          <a:p>
            <a:pPr algn="ctr" indent="0" marL="0">
              <a:buNone/>
            </a:pPr>
            <a:r>
              <a:rPr lang="en-US" sz="1350" b="1" dirty="0">
                <a:solidFill>
                  <a:srgbClr val="141922"/>
                </a:solidFill>
                <a:latin typeface="Calibri" pitchFamily="34" charset="0"/>
                <a:ea typeface="Calibri" pitchFamily="34" charset="-122"/>
                <a:cs typeface="Calibri" pitchFamily="34" charset="-120"/>
              </a:rPr>
              <a:t>Shared Knowledge Base</a:t>
            </a:r>
            <a:endParaRPr lang="en-US" sz="1350" dirty="0"/>
          </a:p>
        </p:txBody>
      </p:sp>
      <p:sp>
        <p:nvSpPr>
          <p:cNvPr id="7" name="Shape 5"/>
          <p:cNvSpPr/>
          <p:nvPr/>
        </p:nvSpPr>
        <p:spPr>
          <a:xfrm>
            <a:off x="3383280" y="3429000"/>
            <a:ext cx="2743200" cy="9144"/>
          </a:xfrm>
          <a:prstGeom prst="line">
            <a:avLst/>
          </a:prstGeom>
          <a:noFill/>
          <a:ln w="19050">
            <a:solidFill>
              <a:srgbClr val="2E3648"/>
            </a:solidFill>
            <a:prstDash val="solid"/>
          </a:ln>
        </p:spPr>
      </p:sp>
      <p:sp>
        <p:nvSpPr>
          <p:cNvPr id="8" name="Shape 6"/>
          <p:cNvSpPr/>
          <p:nvPr/>
        </p:nvSpPr>
        <p:spPr>
          <a:xfrm>
            <a:off x="3383280" y="3063240"/>
            <a:ext cx="9144" cy="365760"/>
          </a:xfrm>
          <a:prstGeom prst="line">
            <a:avLst/>
          </a:prstGeom>
          <a:noFill/>
          <a:ln w="19050">
            <a:solidFill>
              <a:srgbClr val="2E3648"/>
            </a:solidFill>
            <a:prstDash val="solid"/>
          </a:ln>
        </p:spPr>
      </p:sp>
      <p:sp>
        <p:nvSpPr>
          <p:cNvPr id="9" name="Shape 7"/>
          <p:cNvSpPr/>
          <p:nvPr/>
        </p:nvSpPr>
        <p:spPr>
          <a:xfrm>
            <a:off x="6080760" y="3063240"/>
            <a:ext cx="9144" cy="365760"/>
          </a:xfrm>
          <a:prstGeom prst="line">
            <a:avLst/>
          </a:prstGeom>
          <a:noFill/>
          <a:ln w="19050">
            <a:solidFill>
              <a:srgbClr val="2E3648"/>
            </a:solidFill>
            <a:prstDash val="solid"/>
          </a:ln>
        </p:spPr>
      </p:sp>
      <p:sp>
        <p:nvSpPr>
          <p:cNvPr id="10" name="Shape 8"/>
          <p:cNvSpPr/>
          <p:nvPr/>
        </p:nvSpPr>
        <p:spPr>
          <a:xfrm>
            <a:off x="6080760" y="3429000"/>
            <a:ext cx="2743200" cy="9144"/>
          </a:xfrm>
          <a:prstGeom prst="line">
            <a:avLst/>
          </a:prstGeom>
          <a:noFill/>
          <a:ln w="19050">
            <a:solidFill>
              <a:srgbClr val="2E3648"/>
            </a:solidFill>
            <a:prstDash val="solid"/>
          </a:ln>
        </p:spPr>
      </p:sp>
      <p:sp>
        <p:nvSpPr>
          <p:cNvPr id="11" name="Shape 9"/>
          <p:cNvSpPr/>
          <p:nvPr/>
        </p:nvSpPr>
        <p:spPr>
          <a:xfrm>
            <a:off x="3383280" y="3429000"/>
            <a:ext cx="9144" cy="320040"/>
          </a:xfrm>
          <a:prstGeom prst="line">
            <a:avLst/>
          </a:prstGeom>
          <a:noFill/>
          <a:ln w="19050">
            <a:solidFill>
              <a:srgbClr val="2E3648"/>
            </a:solidFill>
            <a:prstDash val="solid"/>
          </a:ln>
        </p:spPr>
      </p:sp>
      <p:sp>
        <p:nvSpPr>
          <p:cNvPr id="12" name="Shape 10"/>
          <p:cNvSpPr/>
          <p:nvPr/>
        </p:nvSpPr>
        <p:spPr>
          <a:xfrm>
            <a:off x="8823960" y="3429000"/>
            <a:ext cx="9144" cy="320040"/>
          </a:xfrm>
          <a:prstGeom prst="line">
            <a:avLst/>
          </a:prstGeom>
          <a:noFill/>
          <a:ln w="19050">
            <a:solidFill>
              <a:srgbClr val="2E3648"/>
            </a:solidFill>
            <a:prstDash val="solid"/>
          </a:ln>
        </p:spPr>
      </p:sp>
      <p:sp>
        <p:nvSpPr>
          <p:cNvPr id="13" name="Shape 11"/>
          <p:cNvSpPr/>
          <p:nvPr/>
        </p:nvSpPr>
        <p:spPr>
          <a:xfrm>
            <a:off x="1463040" y="3749040"/>
            <a:ext cx="3749040" cy="1737360"/>
          </a:xfrm>
          <a:prstGeom prst="roundRect">
            <a:avLst>
              <a:gd name="adj" fmla="val 6316"/>
            </a:avLst>
          </a:prstGeom>
          <a:solidFill>
            <a:srgbClr val="1C2230"/>
          </a:solidFill>
          <a:ln w="12700">
            <a:solidFill>
              <a:srgbClr val="2E3648"/>
            </a:solidFill>
            <a:prstDash val="solid"/>
          </a:ln>
        </p:spPr>
      </p:sp>
      <p:sp>
        <p:nvSpPr>
          <p:cNvPr id="14" name="Shape 12"/>
          <p:cNvSpPr/>
          <p:nvPr/>
        </p:nvSpPr>
        <p:spPr>
          <a:xfrm>
            <a:off x="1783080" y="4023360"/>
            <a:ext cx="548640" cy="548640"/>
          </a:xfrm>
          <a:prstGeom prst="ellipse">
            <a:avLst/>
          </a:prstGeom>
          <a:solidFill>
            <a:srgbClr val="232B3D"/>
          </a:solidFill>
          <a:ln w="15875">
            <a:solidFill>
              <a:srgbClr val="2FD9C9"/>
            </a:solidFill>
            <a:prstDash val="solid"/>
          </a:ln>
        </p:spPr>
      </p:sp>
      <p:sp>
        <p:nvSpPr>
          <p:cNvPr id="15" name="Text 13"/>
          <p:cNvSpPr/>
          <p:nvPr/>
        </p:nvSpPr>
        <p:spPr>
          <a:xfrm>
            <a:off x="1783080" y="4023360"/>
            <a:ext cx="548640" cy="548640"/>
          </a:xfrm>
          <a:prstGeom prst="rect">
            <a:avLst/>
          </a:prstGeom>
          <a:noFill/>
          <a:ln/>
        </p:spPr>
        <p:txBody>
          <a:bodyPr wrap="square" rtlCol="0" anchor="ctr"/>
          <a:lstStyle/>
          <a:p>
            <a:pPr algn="ctr" indent="0" marL="0">
              <a:buNone/>
            </a:pPr>
            <a:r>
              <a:rPr lang="en-US" sz="1800" dirty="0">
                <a:solidFill>
                  <a:srgbClr val="2FD9C9"/>
                </a:solidFill>
              </a:rPr>
              <a:t>💬</a:t>
            </a:r>
            <a:endParaRPr lang="en-US" sz="1800" dirty="0"/>
          </a:p>
        </p:txBody>
      </p:sp>
      <p:sp>
        <p:nvSpPr>
          <p:cNvPr id="16" name="Text 14"/>
          <p:cNvSpPr/>
          <p:nvPr/>
        </p:nvSpPr>
        <p:spPr>
          <a:xfrm>
            <a:off x="2514600" y="3977640"/>
            <a:ext cx="2514600" cy="640080"/>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Conversational Project Assistant</a:t>
            </a:r>
            <a:endParaRPr lang="en-US" sz="1550" dirty="0"/>
          </a:p>
        </p:txBody>
      </p:sp>
      <p:sp>
        <p:nvSpPr>
          <p:cNvPr id="17" name="Text 15"/>
          <p:cNvSpPr/>
          <p:nvPr/>
        </p:nvSpPr>
        <p:spPr>
          <a:xfrm>
            <a:off x="1783080" y="4709160"/>
            <a:ext cx="3246120" cy="640080"/>
          </a:xfrm>
          <a:prstGeom prst="rect">
            <a:avLst/>
          </a:prstGeom>
          <a:noFill/>
          <a:ln/>
        </p:spPr>
        <p:txBody>
          <a:bodyPr wrap="square" rtlCol="0" anchor="ctr"/>
          <a:lstStyle/>
          <a:p>
            <a:pPr indent="0" marL="0">
              <a:lnSpc>
                <a:spcPct val="125000"/>
              </a:lnSpc>
              <a:buNone/>
            </a:pPr>
            <a:r>
              <a:rPr lang="en-US" sz="1250" dirty="0">
                <a:solidFill>
                  <a:srgbClr val="8A93A6"/>
                </a:solidFill>
                <a:latin typeface="Calibri" pitchFamily="34" charset="0"/>
                <a:ea typeface="Calibri" pitchFamily="34" charset="-122"/>
                <a:cs typeface="Calibri" pitchFamily="34" charset="-120"/>
              </a:rPr>
              <a:t>Ask questions, get grounded answers</a:t>
            </a:r>
            <a:endParaRPr lang="en-US" sz="1250" dirty="0"/>
          </a:p>
        </p:txBody>
      </p:sp>
      <p:sp>
        <p:nvSpPr>
          <p:cNvPr id="18" name="Shape 16"/>
          <p:cNvSpPr/>
          <p:nvPr/>
        </p:nvSpPr>
        <p:spPr>
          <a:xfrm>
            <a:off x="6949440" y="3749040"/>
            <a:ext cx="3749040" cy="1737360"/>
          </a:xfrm>
          <a:prstGeom prst="roundRect">
            <a:avLst>
              <a:gd name="adj" fmla="val 6316"/>
            </a:avLst>
          </a:prstGeom>
          <a:solidFill>
            <a:srgbClr val="1C2230"/>
          </a:solidFill>
          <a:ln w="12700">
            <a:solidFill>
              <a:srgbClr val="2E3648"/>
            </a:solidFill>
            <a:prstDash val="solid"/>
          </a:ln>
        </p:spPr>
      </p:sp>
      <p:sp>
        <p:nvSpPr>
          <p:cNvPr id="19" name="Shape 17"/>
          <p:cNvSpPr/>
          <p:nvPr/>
        </p:nvSpPr>
        <p:spPr>
          <a:xfrm>
            <a:off x="7269480" y="4023360"/>
            <a:ext cx="548640" cy="548640"/>
          </a:xfrm>
          <a:prstGeom prst="ellipse">
            <a:avLst/>
          </a:prstGeom>
          <a:solidFill>
            <a:srgbClr val="232B3D"/>
          </a:solidFill>
          <a:ln w="15875">
            <a:solidFill>
              <a:srgbClr val="2FD9C9"/>
            </a:solidFill>
            <a:prstDash val="solid"/>
          </a:ln>
        </p:spPr>
      </p:sp>
      <p:sp>
        <p:nvSpPr>
          <p:cNvPr id="20" name="Text 18"/>
          <p:cNvSpPr/>
          <p:nvPr/>
        </p:nvSpPr>
        <p:spPr>
          <a:xfrm>
            <a:off x="7269480" y="4023360"/>
            <a:ext cx="548640" cy="548640"/>
          </a:xfrm>
          <a:prstGeom prst="rect">
            <a:avLst/>
          </a:prstGeom>
          <a:noFill/>
          <a:ln/>
        </p:spPr>
        <p:txBody>
          <a:bodyPr wrap="square" rtlCol="0" anchor="ctr"/>
          <a:lstStyle/>
          <a:p>
            <a:pPr algn="ctr" indent="0" marL="0">
              <a:buNone/>
            </a:pPr>
            <a:r>
              <a:rPr lang="en-US" sz="1800" dirty="0">
                <a:solidFill>
                  <a:srgbClr val="2FD9C9"/>
                </a:solidFill>
              </a:rPr>
              <a:t>✓</a:t>
            </a:r>
            <a:endParaRPr lang="en-US" sz="1800" dirty="0"/>
          </a:p>
        </p:txBody>
      </p:sp>
      <p:sp>
        <p:nvSpPr>
          <p:cNvPr id="21" name="Text 19"/>
          <p:cNvSpPr/>
          <p:nvPr/>
        </p:nvSpPr>
        <p:spPr>
          <a:xfrm>
            <a:off x="8001000" y="3977640"/>
            <a:ext cx="2514600" cy="640080"/>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Automated Pull Request Reviewer</a:t>
            </a:r>
            <a:endParaRPr lang="en-US" sz="1550" dirty="0"/>
          </a:p>
        </p:txBody>
      </p:sp>
      <p:sp>
        <p:nvSpPr>
          <p:cNvPr id="22" name="Text 20"/>
          <p:cNvSpPr/>
          <p:nvPr/>
        </p:nvSpPr>
        <p:spPr>
          <a:xfrm>
            <a:off x="7269480" y="4709160"/>
            <a:ext cx="3246120" cy="640080"/>
          </a:xfrm>
          <a:prstGeom prst="rect">
            <a:avLst/>
          </a:prstGeom>
          <a:noFill/>
          <a:ln/>
        </p:spPr>
        <p:txBody>
          <a:bodyPr wrap="square" rtlCol="0" anchor="ctr"/>
          <a:lstStyle/>
          <a:p>
            <a:pPr indent="0" marL="0">
              <a:lnSpc>
                <a:spcPct val="125000"/>
              </a:lnSpc>
              <a:buNone/>
            </a:pPr>
            <a:r>
              <a:rPr lang="en-US" sz="1250" dirty="0">
                <a:solidFill>
                  <a:srgbClr val="8A93A6"/>
                </a:solidFill>
                <a:latin typeface="Calibri" pitchFamily="34" charset="0"/>
                <a:ea typeface="Calibri" pitchFamily="34" charset="-122"/>
                <a:cs typeface="Calibri" pitchFamily="34" charset="-120"/>
              </a:rPr>
              <a:t>Historical context on every PR</a:t>
            </a:r>
            <a:endParaRPr lang="en-US" sz="1250" dirty="0"/>
          </a:p>
        </p:txBody>
      </p:sp>
      <p:sp>
        <p:nvSpPr>
          <p:cNvPr id="23" name="Text 21"/>
          <p:cNvSpPr/>
          <p:nvPr/>
        </p:nvSpPr>
        <p:spPr>
          <a:xfrm>
            <a:off x="548640" y="5715000"/>
            <a:ext cx="11064240" cy="365760"/>
          </a:xfrm>
          <a:prstGeom prst="rect">
            <a:avLst/>
          </a:prstGeom>
          <a:noFill/>
          <a:ln/>
        </p:spPr>
        <p:txBody>
          <a:bodyPr wrap="square" rtlCol="0" anchor="ctr"/>
          <a:lstStyle/>
          <a:p>
            <a:pPr algn="ctr" indent="0" marL="0">
              <a:buNone/>
            </a:pPr>
            <a:r>
              <a:rPr lang="en-US" sz="1250" i="1" dirty="0">
                <a:solidFill>
                  <a:srgbClr val="8A93A6"/>
                </a:solidFill>
                <a:latin typeface="Calibri" pitchFamily="34" charset="0"/>
                <a:ea typeface="Calibri" pitchFamily="34" charset="-122"/>
                <a:cs typeface="Calibri" pitchFamily="34" charset="-120"/>
              </a:rPr>
              <a:t>Both draw on the same underlying knowledge base.</a:t>
            </a:r>
            <a:endParaRPr lang="en-US" sz="1250" dirty="0"/>
          </a:p>
        </p:txBody>
      </p:sp>
      <p:sp>
        <p:nvSpPr>
          <p:cNvPr id="24" name="Text 22"/>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03 / 14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End-to-end architecture</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From raw repository activity to grounded answers and automated review.</a:t>
            </a:r>
            <a:endParaRPr lang="en-US" sz="1450" dirty="0"/>
          </a:p>
        </p:txBody>
      </p:sp>
      <p:sp>
        <p:nvSpPr>
          <p:cNvPr id="5" name="Shape 3"/>
          <p:cNvSpPr/>
          <p:nvPr/>
        </p:nvSpPr>
        <p:spPr>
          <a:xfrm>
            <a:off x="548640" y="1920240"/>
            <a:ext cx="5074920" cy="292608"/>
          </a:xfrm>
          <a:prstGeom prst="roundRect">
            <a:avLst>
              <a:gd name="adj" fmla="val 18750"/>
            </a:avLst>
          </a:prstGeom>
          <a:ln w="12700">
            <a:solidFill>
              <a:srgbClr val="2FD9C9"/>
            </a:solidFill>
            <a:prstDash val="solid"/>
          </a:ln>
        </p:spPr>
      </p:sp>
      <p:sp>
        <p:nvSpPr>
          <p:cNvPr id="6" name="Text 4"/>
          <p:cNvSpPr/>
          <p:nvPr/>
        </p:nvSpPr>
        <p:spPr>
          <a:xfrm>
            <a:off x="548640" y="1920240"/>
            <a:ext cx="5074920" cy="292608"/>
          </a:xfrm>
          <a:prstGeom prst="rect">
            <a:avLst/>
          </a:prstGeom>
          <a:noFill/>
          <a:ln/>
        </p:spPr>
        <p:txBody>
          <a:bodyPr wrap="square" rtlCol="0" anchor="ctr"/>
          <a:lstStyle/>
          <a:p>
            <a:pPr algn="ctr" indent="0" marL="0">
              <a:buNone/>
            </a:pPr>
            <a:r>
              <a:rPr lang="en-US" sz="950" b="1" spc="100" kern="0" dirty="0">
                <a:solidFill>
                  <a:srgbClr val="2FD9C9"/>
                </a:solidFill>
                <a:latin typeface="Calibri" pitchFamily="34" charset="0"/>
                <a:ea typeface="Calibri" pitchFamily="34" charset="-122"/>
                <a:cs typeface="Calibri" pitchFamily="34" charset="-120"/>
              </a:rPr>
              <a:t>COLLECTION &amp; INDEXING</a:t>
            </a:r>
            <a:endParaRPr lang="en-US" sz="950" dirty="0"/>
          </a:p>
        </p:txBody>
      </p:sp>
      <p:sp>
        <p:nvSpPr>
          <p:cNvPr id="7" name="Shape 5"/>
          <p:cNvSpPr/>
          <p:nvPr/>
        </p:nvSpPr>
        <p:spPr>
          <a:xfrm>
            <a:off x="5806440" y="1920240"/>
            <a:ext cx="2514600" cy="292608"/>
          </a:xfrm>
          <a:prstGeom prst="roundRect">
            <a:avLst>
              <a:gd name="adj" fmla="val 18750"/>
            </a:avLst>
          </a:prstGeom>
          <a:ln w="12700">
            <a:solidFill>
              <a:srgbClr val="3FBF6B"/>
            </a:solidFill>
            <a:prstDash val="solid"/>
          </a:ln>
        </p:spPr>
      </p:sp>
      <p:sp>
        <p:nvSpPr>
          <p:cNvPr id="8" name="Text 6"/>
          <p:cNvSpPr/>
          <p:nvPr/>
        </p:nvSpPr>
        <p:spPr>
          <a:xfrm>
            <a:off x="5806440" y="1920240"/>
            <a:ext cx="2514600" cy="292608"/>
          </a:xfrm>
          <a:prstGeom prst="rect">
            <a:avLst/>
          </a:prstGeom>
          <a:noFill/>
          <a:ln/>
        </p:spPr>
        <p:txBody>
          <a:bodyPr wrap="square" rtlCol="0" anchor="ctr"/>
          <a:lstStyle/>
          <a:p>
            <a:pPr algn="ctr" indent="0" marL="0">
              <a:buNone/>
            </a:pPr>
            <a:r>
              <a:rPr lang="en-US" sz="950" b="1" spc="100" kern="0" dirty="0">
                <a:solidFill>
                  <a:srgbClr val="3FBF6B"/>
                </a:solidFill>
                <a:latin typeface="Calibri" pitchFamily="34" charset="0"/>
                <a:ea typeface="Calibri" pitchFamily="34" charset="-122"/>
                <a:cs typeface="Calibri" pitchFamily="34" charset="-120"/>
              </a:rPr>
              <a:t>RETRIEVAL &amp; REASONING</a:t>
            </a:r>
            <a:endParaRPr lang="en-US" sz="950" dirty="0"/>
          </a:p>
        </p:txBody>
      </p:sp>
      <p:sp>
        <p:nvSpPr>
          <p:cNvPr id="9" name="Shape 7"/>
          <p:cNvSpPr/>
          <p:nvPr/>
        </p:nvSpPr>
        <p:spPr>
          <a:xfrm>
            <a:off x="8503920" y="1920240"/>
            <a:ext cx="3108960" cy="292608"/>
          </a:xfrm>
          <a:prstGeom prst="roundRect">
            <a:avLst>
              <a:gd name="adj" fmla="val 18750"/>
            </a:avLst>
          </a:prstGeom>
          <a:ln w="12700">
            <a:solidFill>
              <a:srgbClr val="E0A83D"/>
            </a:solidFill>
            <a:prstDash val="solid"/>
          </a:ln>
        </p:spPr>
      </p:sp>
      <p:sp>
        <p:nvSpPr>
          <p:cNvPr id="10" name="Text 8"/>
          <p:cNvSpPr/>
          <p:nvPr/>
        </p:nvSpPr>
        <p:spPr>
          <a:xfrm>
            <a:off x="8503920" y="1920240"/>
            <a:ext cx="3108960" cy="292608"/>
          </a:xfrm>
          <a:prstGeom prst="rect">
            <a:avLst/>
          </a:prstGeom>
          <a:noFill/>
          <a:ln/>
        </p:spPr>
        <p:txBody>
          <a:bodyPr wrap="square" rtlCol="0" anchor="ctr"/>
          <a:lstStyle/>
          <a:p>
            <a:pPr algn="ctr" indent="0" marL="0">
              <a:buNone/>
            </a:pPr>
            <a:r>
              <a:rPr lang="en-US" sz="950" b="1" spc="100" kern="0" dirty="0">
                <a:solidFill>
                  <a:srgbClr val="E0A83D"/>
                </a:solidFill>
                <a:latin typeface="Calibri" pitchFamily="34" charset="0"/>
                <a:ea typeface="Calibri" pitchFamily="34" charset="-122"/>
                <a:cs typeface="Calibri" pitchFamily="34" charset="-120"/>
              </a:rPr>
              <a:t>DELIVERY</a:t>
            </a:r>
            <a:endParaRPr lang="en-US" sz="950" dirty="0"/>
          </a:p>
        </p:txBody>
      </p:sp>
      <p:sp>
        <p:nvSpPr>
          <p:cNvPr id="11" name="Shape 9"/>
          <p:cNvSpPr/>
          <p:nvPr/>
        </p:nvSpPr>
        <p:spPr>
          <a:xfrm>
            <a:off x="548640" y="2377440"/>
            <a:ext cx="1581912" cy="914400"/>
          </a:xfrm>
          <a:prstGeom prst="roundRect">
            <a:avLst>
              <a:gd name="adj" fmla="val 8000"/>
            </a:avLst>
          </a:prstGeom>
          <a:solidFill>
            <a:srgbClr val="232B3D"/>
          </a:solidFill>
          <a:ln w="12700">
            <a:solidFill>
              <a:srgbClr val="2E3648"/>
            </a:solidFill>
            <a:prstDash val="solid"/>
          </a:ln>
        </p:spPr>
      </p:sp>
      <p:sp>
        <p:nvSpPr>
          <p:cNvPr id="12" name="Text 10"/>
          <p:cNvSpPr/>
          <p:nvPr/>
        </p:nvSpPr>
        <p:spPr>
          <a:xfrm>
            <a:off x="640080" y="2450592"/>
            <a:ext cx="1399032" cy="201168"/>
          </a:xfrm>
          <a:prstGeom prst="rect">
            <a:avLst/>
          </a:prstGeom>
          <a:noFill/>
          <a:ln/>
        </p:spPr>
        <p:txBody>
          <a:bodyPr wrap="square" rtlCol="0" anchor="ctr"/>
          <a:lstStyle/>
          <a:p>
            <a:pPr algn="l" indent="0" marL="0">
              <a:buNone/>
            </a:pPr>
            <a:r>
              <a:rPr lang="en-US" sz="850" b="1" spc="50" kern="0" dirty="0">
                <a:solidFill>
                  <a:srgbClr val="2FD9C9"/>
                </a:solidFill>
                <a:latin typeface="Calibri" pitchFamily="34" charset="0"/>
                <a:ea typeface="Calibri" pitchFamily="34" charset="-122"/>
                <a:cs typeface="Calibri" pitchFamily="34" charset="-120"/>
              </a:rPr>
              <a:t>SOURCE</a:t>
            </a:r>
            <a:endParaRPr lang="en-US" sz="850" dirty="0"/>
          </a:p>
        </p:txBody>
      </p:sp>
      <p:sp>
        <p:nvSpPr>
          <p:cNvPr id="13" name="Text 11"/>
          <p:cNvSpPr/>
          <p:nvPr/>
        </p:nvSpPr>
        <p:spPr>
          <a:xfrm>
            <a:off x="640080" y="2651760"/>
            <a:ext cx="1399032" cy="566928"/>
          </a:xfrm>
          <a:prstGeom prst="rect">
            <a:avLst/>
          </a:prstGeom>
          <a:noFill/>
          <a:ln/>
        </p:spPr>
        <p:txBody>
          <a:bodyPr wrap="square" rtlCol="0" anchor="t">
            <a:normAutofit/>
          </a:bodyPr>
          <a:lstStyle/>
          <a:p>
            <a:pPr algn="l" indent="0" marL="0">
              <a:buNone/>
            </a:pPr>
            <a:r>
              <a:rPr lang="en-US" sz="1100" b="1" dirty="0">
                <a:solidFill>
                  <a:srgbClr val="E7ECF3"/>
                </a:solidFill>
                <a:latin typeface="Calibri" pitchFamily="34" charset="0"/>
                <a:ea typeface="Calibri" pitchFamily="34" charset="-122"/>
                <a:cs typeface="Calibri" pitchFamily="34" charset="-120"/>
              </a:rPr>
              <a:t>GitHub Repository</a:t>
            </a:r>
            <a:endParaRPr lang="en-US" sz="1100" dirty="0"/>
          </a:p>
        </p:txBody>
      </p:sp>
      <p:sp>
        <p:nvSpPr>
          <p:cNvPr id="14" name="Text 12"/>
          <p:cNvSpPr/>
          <p:nvPr/>
        </p:nvSpPr>
        <p:spPr>
          <a:xfrm>
            <a:off x="2130552" y="2377440"/>
            <a:ext cx="164592" cy="914400"/>
          </a:xfrm>
          <a:prstGeom prst="rect">
            <a:avLst/>
          </a:prstGeom>
          <a:noFill/>
          <a:ln/>
        </p:spPr>
        <p:txBody>
          <a:bodyPr wrap="square" rtlCol="0" anchor="ctr"/>
          <a:lstStyle/>
          <a:p>
            <a:pPr algn="ctr" indent="0" marL="0">
              <a:buNone/>
            </a:pPr>
            <a:r>
              <a:rPr lang="en-US" sz="1500" dirty="0">
                <a:solidFill>
                  <a:srgbClr val="8A93A6"/>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2295144" y="2377440"/>
            <a:ext cx="1581912" cy="914400"/>
          </a:xfrm>
          <a:prstGeom prst="roundRect">
            <a:avLst>
              <a:gd name="adj" fmla="val 8000"/>
            </a:avLst>
          </a:prstGeom>
          <a:solidFill>
            <a:srgbClr val="232B3D"/>
          </a:solidFill>
          <a:ln w="12700">
            <a:solidFill>
              <a:srgbClr val="2E3648"/>
            </a:solidFill>
            <a:prstDash val="solid"/>
          </a:ln>
        </p:spPr>
      </p:sp>
      <p:sp>
        <p:nvSpPr>
          <p:cNvPr id="16" name="Text 14"/>
          <p:cNvSpPr/>
          <p:nvPr/>
        </p:nvSpPr>
        <p:spPr>
          <a:xfrm>
            <a:off x="2386584" y="2450592"/>
            <a:ext cx="1399032" cy="201168"/>
          </a:xfrm>
          <a:prstGeom prst="rect">
            <a:avLst/>
          </a:prstGeom>
          <a:noFill/>
          <a:ln/>
        </p:spPr>
        <p:txBody>
          <a:bodyPr wrap="square" rtlCol="0" anchor="ctr"/>
          <a:lstStyle/>
          <a:p>
            <a:pPr algn="l" indent="0" marL="0">
              <a:buNone/>
            </a:pPr>
            <a:r>
              <a:rPr lang="en-US" sz="850" b="1" spc="50" kern="0" dirty="0">
                <a:solidFill>
                  <a:srgbClr val="2FD9C9"/>
                </a:solidFill>
                <a:latin typeface="Calibri" pitchFamily="34" charset="0"/>
                <a:ea typeface="Calibri" pitchFamily="34" charset="-122"/>
                <a:cs typeface="Calibri" pitchFamily="34" charset="-120"/>
              </a:rPr>
              <a:t>STEP 1</a:t>
            </a:r>
            <a:endParaRPr lang="en-US" sz="850" dirty="0"/>
          </a:p>
        </p:txBody>
      </p:sp>
      <p:sp>
        <p:nvSpPr>
          <p:cNvPr id="17" name="Text 15"/>
          <p:cNvSpPr/>
          <p:nvPr/>
        </p:nvSpPr>
        <p:spPr>
          <a:xfrm>
            <a:off x="2386584" y="2651760"/>
            <a:ext cx="1399032" cy="566928"/>
          </a:xfrm>
          <a:prstGeom prst="rect">
            <a:avLst/>
          </a:prstGeom>
          <a:noFill/>
          <a:ln/>
        </p:spPr>
        <p:txBody>
          <a:bodyPr wrap="square" rtlCol="0" anchor="t">
            <a:normAutofit/>
          </a:bodyPr>
          <a:lstStyle/>
          <a:p>
            <a:pPr algn="l" indent="0" marL="0">
              <a:buNone/>
            </a:pPr>
            <a:r>
              <a:rPr lang="en-US" sz="1100" b="1" dirty="0">
                <a:solidFill>
                  <a:srgbClr val="E7ECF3"/>
                </a:solidFill>
                <a:latin typeface="Calibri" pitchFamily="34" charset="0"/>
                <a:ea typeface="Calibri" pitchFamily="34" charset="-122"/>
                <a:cs typeface="Calibri" pitchFamily="34" charset="-120"/>
              </a:rPr>
              <a:t>Data Collection</a:t>
            </a:r>
            <a:endParaRPr lang="en-US" sz="1100" dirty="0"/>
          </a:p>
        </p:txBody>
      </p:sp>
      <p:sp>
        <p:nvSpPr>
          <p:cNvPr id="18" name="Text 16"/>
          <p:cNvSpPr/>
          <p:nvPr/>
        </p:nvSpPr>
        <p:spPr>
          <a:xfrm>
            <a:off x="3877056" y="2377440"/>
            <a:ext cx="164592" cy="914400"/>
          </a:xfrm>
          <a:prstGeom prst="rect">
            <a:avLst/>
          </a:prstGeom>
          <a:noFill/>
          <a:ln/>
        </p:spPr>
        <p:txBody>
          <a:bodyPr wrap="square" rtlCol="0" anchor="ctr"/>
          <a:lstStyle/>
          <a:p>
            <a:pPr algn="ctr" indent="0" marL="0">
              <a:buNone/>
            </a:pPr>
            <a:r>
              <a:rPr lang="en-US" sz="1500" dirty="0">
                <a:solidFill>
                  <a:srgbClr val="8A93A6"/>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4041648" y="2377440"/>
            <a:ext cx="1581912" cy="914400"/>
          </a:xfrm>
          <a:prstGeom prst="roundRect">
            <a:avLst>
              <a:gd name="adj" fmla="val 8000"/>
            </a:avLst>
          </a:prstGeom>
          <a:solidFill>
            <a:srgbClr val="232B3D"/>
          </a:solidFill>
          <a:ln w="12700">
            <a:solidFill>
              <a:srgbClr val="2E3648"/>
            </a:solidFill>
            <a:prstDash val="solid"/>
          </a:ln>
        </p:spPr>
      </p:sp>
      <p:sp>
        <p:nvSpPr>
          <p:cNvPr id="20" name="Text 18"/>
          <p:cNvSpPr/>
          <p:nvPr/>
        </p:nvSpPr>
        <p:spPr>
          <a:xfrm>
            <a:off x="4133088" y="2450592"/>
            <a:ext cx="1399032" cy="201168"/>
          </a:xfrm>
          <a:prstGeom prst="rect">
            <a:avLst/>
          </a:prstGeom>
          <a:noFill/>
          <a:ln/>
        </p:spPr>
        <p:txBody>
          <a:bodyPr wrap="square" rtlCol="0" anchor="ctr"/>
          <a:lstStyle/>
          <a:p>
            <a:pPr algn="l" indent="0" marL="0">
              <a:buNone/>
            </a:pPr>
            <a:r>
              <a:rPr lang="en-US" sz="850" b="1" spc="50" kern="0" dirty="0">
                <a:solidFill>
                  <a:srgbClr val="2FD9C9"/>
                </a:solidFill>
                <a:latin typeface="Calibri" pitchFamily="34" charset="0"/>
                <a:ea typeface="Calibri" pitchFamily="34" charset="-122"/>
                <a:cs typeface="Calibri" pitchFamily="34" charset="-120"/>
              </a:rPr>
              <a:t>STEP 2</a:t>
            </a:r>
            <a:endParaRPr lang="en-US" sz="850" dirty="0"/>
          </a:p>
        </p:txBody>
      </p:sp>
      <p:sp>
        <p:nvSpPr>
          <p:cNvPr id="21" name="Text 19"/>
          <p:cNvSpPr/>
          <p:nvPr/>
        </p:nvSpPr>
        <p:spPr>
          <a:xfrm>
            <a:off x="4133088" y="2651760"/>
            <a:ext cx="1399032" cy="566928"/>
          </a:xfrm>
          <a:prstGeom prst="rect">
            <a:avLst/>
          </a:prstGeom>
          <a:noFill/>
          <a:ln/>
        </p:spPr>
        <p:txBody>
          <a:bodyPr wrap="square" rtlCol="0" anchor="t">
            <a:normAutofit/>
          </a:bodyPr>
          <a:lstStyle/>
          <a:p>
            <a:pPr algn="l" indent="0" marL="0">
              <a:buNone/>
            </a:pPr>
            <a:r>
              <a:rPr lang="en-US" sz="1100" b="1" dirty="0">
                <a:solidFill>
                  <a:srgbClr val="E7ECF3"/>
                </a:solidFill>
                <a:latin typeface="Calibri" pitchFamily="34" charset="0"/>
                <a:ea typeface="Calibri" pitchFamily="34" charset="-122"/>
                <a:cs typeface="Calibri" pitchFamily="34" charset="-120"/>
              </a:rPr>
              <a:t>Knowledge Extraction</a:t>
            </a:r>
            <a:endParaRPr lang="en-US" sz="1100" dirty="0"/>
          </a:p>
        </p:txBody>
      </p:sp>
      <p:sp>
        <p:nvSpPr>
          <p:cNvPr id="22" name="Shape 20"/>
          <p:cNvSpPr/>
          <p:nvPr/>
        </p:nvSpPr>
        <p:spPr>
          <a:xfrm>
            <a:off x="548640" y="3520440"/>
            <a:ext cx="2455164" cy="914400"/>
          </a:xfrm>
          <a:prstGeom prst="roundRect">
            <a:avLst>
              <a:gd name="adj" fmla="val 8000"/>
            </a:avLst>
          </a:prstGeom>
          <a:solidFill>
            <a:srgbClr val="232B3D"/>
          </a:solidFill>
          <a:ln w="12700">
            <a:solidFill>
              <a:srgbClr val="2E3648"/>
            </a:solidFill>
            <a:prstDash val="solid"/>
          </a:ln>
        </p:spPr>
      </p:sp>
      <p:sp>
        <p:nvSpPr>
          <p:cNvPr id="23" name="Text 21"/>
          <p:cNvSpPr/>
          <p:nvPr/>
        </p:nvSpPr>
        <p:spPr>
          <a:xfrm>
            <a:off x="640080" y="3593592"/>
            <a:ext cx="2272284" cy="201168"/>
          </a:xfrm>
          <a:prstGeom prst="rect">
            <a:avLst/>
          </a:prstGeom>
          <a:noFill/>
          <a:ln/>
        </p:spPr>
        <p:txBody>
          <a:bodyPr wrap="square" rtlCol="0" anchor="ctr"/>
          <a:lstStyle/>
          <a:p>
            <a:pPr algn="l" indent="0" marL="0">
              <a:buNone/>
            </a:pPr>
            <a:r>
              <a:rPr lang="en-US" sz="850" b="1" spc="50" kern="0" dirty="0">
                <a:solidFill>
                  <a:srgbClr val="2FD9C9"/>
                </a:solidFill>
                <a:latin typeface="Calibri" pitchFamily="34" charset="0"/>
                <a:ea typeface="Calibri" pitchFamily="34" charset="-122"/>
                <a:cs typeface="Calibri" pitchFamily="34" charset="-120"/>
              </a:rPr>
              <a:t>STEP 3</a:t>
            </a:r>
            <a:endParaRPr lang="en-US" sz="850" dirty="0"/>
          </a:p>
        </p:txBody>
      </p:sp>
      <p:sp>
        <p:nvSpPr>
          <p:cNvPr id="24" name="Text 22"/>
          <p:cNvSpPr/>
          <p:nvPr/>
        </p:nvSpPr>
        <p:spPr>
          <a:xfrm>
            <a:off x="640080" y="3794760"/>
            <a:ext cx="2272284" cy="566928"/>
          </a:xfrm>
          <a:prstGeom prst="rect">
            <a:avLst/>
          </a:prstGeom>
          <a:noFill/>
          <a:ln/>
        </p:spPr>
        <p:txBody>
          <a:bodyPr wrap="square" rtlCol="0" anchor="t">
            <a:normAutofit/>
          </a:bodyPr>
          <a:lstStyle/>
          <a:p>
            <a:pPr algn="l" indent="0" marL="0">
              <a:buNone/>
            </a:pPr>
            <a:r>
              <a:rPr lang="en-US" sz="1100" b="1" dirty="0">
                <a:solidFill>
                  <a:srgbClr val="E7ECF3"/>
                </a:solidFill>
                <a:latin typeface="Calibri" pitchFamily="34" charset="0"/>
                <a:ea typeface="Calibri" pitchFamily="34" charset="-122"/>
                <a:cs typeface="Calibri" pitchFamily="34" charset="-120"/>
              </a:rPr>
              <a:t>Embedding Generation</a:t>
            </a:r>
            <a:endParaRPr lang="en-US" sz="1100" dirty="0"/>
          </a:p>
        </p:txBody>
      </p:sp>
      <p:sp>
        <p:nvSpPr>
          <p:cNvPr id="25" name="Text 23"/>
          <p:cNvSpPr/>
          <p:nvPr/>
        </p:nvSpPr>
        <p:spPr>
          <a:xfrm>
            <a:off x="3003804" y="3520440"/>
            <a:ext cx="164592" cy="914400"/>
          </a:xfrm>
          <a:prstGeom prst="rect">
            <a:avLst/>
          </a:prstGeom>
          <a:noFill/>
          <a:ln/>
        </p:spPr>
        <p:txBody>
          <a:bodyPr wrap="square" rtlCol="0" anchor="ctr"/>
          <a:lstStyle/>
          <a:p>
            <a:pPr algn="ctr" indent="0" marL="0">
              <a:buNone/>
            </a:pPr>
            <a:r>
              <a:rPr lang="en-US" sz="1500" dirty="0">
                <a:solidFill>
                  <a:srgbClr val="8A93A6"/>
                </a:solidFill>
                <a:latin typeface="Calibri" pitchFamily="34" charset="0"/>
                <a:ea typeface="Calibri" pitchFamily="34" charset="-122"/>
                <a:cs typeface="Calibri" pitchFamily="34" charset="-120"/>
              </a:rPr>
              <a:t>→</a:t>
            </a:r>
            <a:endParaRPr lang="en-US" sz="1500" dirty="0"/>
          </a:p>
        </p:txBody>
      </p:sp>
      <p:sp>
        <p:nvSpPr>
          <p:cNvPr id="26" name="Shape 24"/>
          <p:cNvSpPr/>
          <p:nvPr/>
        </p:nvSpPr>
        <p:spPr>
          <a:xfrm>
            <a:off x="3168396" y="3520440"/>
            <a:ext cx="2455164" cy="914400"/>
          </a:xfrm>
          <a:prstGeom prst="roundRect">
            <a:avLst>
              <a:gd name="adj" fmla="val 8000"/>
            </a:avLst>
          </a:prstGeom>
          <a:solidFill>
            <a:srgbClr val="23384A"/>
          </a:solidFill>
          <a:ln w="12700">
            <a:solidFill>
              <a:srgbClr val="2FD9C9"/>
            </a:solidFill>
            <a:prstDash val="solid"/>
          </a:ln>
        </p:spPr>
      </p:sp>
      <p:sp>
        <p:nvSpPr>
          <p:cNvPr id="27" name="Text 25"/>
          <p:cNvSpPr/>
          <p:nvPr/>
        </p:nvSpPr>
        <p:spPr>
          <a:xfrm>
            <a:off x="3259836" y="3593592"/>
            <a:ext cx="2272284" cy="201168"/>
          </a:xfrm>
          <a:prstGeom prst="rect">
            <a:avLst/>
          </a:prstGeom>
          <a:noFill/>
          <a:ln/>
        </p:spPr>
        <p:txBody>
          <a:bodyPr wrap="square" rtlCol="0" anchor="ctr"/>
          <a:lstStyle/>
          <a:p>
            <a:pPr algn="l" indent="0" marL="0">
              <a:buNone/>
            </a:pPr>
            <a:r>
              <a:rPr lang="en-US" sz="850" b="1" spc="50" kern="0" dirty="0">
                <a:solidFill>
                  <a:srgbClr val="2FD9C9"/>
                </a:solidFill>
                <a:latin typeface="Calibri" pitchFamily="34" charset="0"/>
                <a:ea typeface="Calibri" pitchFamily="34" charset="-122"/>
                <a:cs typeface="Calibri" pitchFamily="34" charset="-120"/>
              </a:rPr>
              <a:t>STEP 4</a:t>
            </a:r>
            <a:endParaRPr lang="en-US" sz="850" dirty="0"/>
          </a:p>
        </p:txBody>
      </p:sp>
      <p:sp>
        <p:nvSpPr>
          <p:cNvPr id="28" name="Text 26"/>
          <p:cNvSpPr/>
          <p:nvPr/>
        </p:nvSpPr>
        <p:spPr>
          <a:xfrm>
            <a:off x="3259836" y="3794760"/>
            <a:ext cx="2272284" cy="566928"/>
          </a:xfrm>
          <a:prstGeom prst="rect">
            <a:avLst/>
          </a:prstGeom>
          <a:noFill/>
          <a:ln/>
        </p:spPr>
        <p:txBody>
          <a:bodyPr wrap="square" rtlCol="0" anchor="t">
            <a:normAutofit/>
          </a:bodyPr>
          <a:lstStyle/>
          <a:p>
            <a:pPr algn="l" indent="0" marL="0">
              <a:buNone/>
            </a:pPr>
            <a:r>
              <a:rPr lang="en-US" sz="1100" b="1" dirty="0">
                <a:solidFill>
                  <a:srgbClr val="E7ECF3"/>
                </a:solidFill>
                <a:latin typeface="Calibri" pitchFamily="34" charset="0"/>
                <a:ea typeface="Calibri" pitchFamily="34" charset="-122"/>
                <a:cs typeface="Calibri" pitchFamily="34" charset="-120"/>
              </a:rPr>
              <a:t>ChromaDB Vector Index</a:t>
            </a:r>
            <a:endParaRPr lang="en-US" sz="1100" dirty="0"/>
          </a:p>
        </p:txBody>
      </p:sp>
      <p:sp>
        <p:nvSpPr>
          <p:cNvPr id="29" name="Text 27"/>
          <p:cNvSpPr/>
          <p:nvPr/>
        </p:nvSpPr>
        <p:spPr>
          <a:xfrm>
            <a:off x="5623560" y="3520440"/>
            <a:ext cx="182880" cy="914400"/>
          </a:xfrm>
          <a:prstGeom prst="rect">
            <a:avLst/>
          </a:prstGeom>
          <a:noFill/>
          <a:ln/>
        </p:spPr>
        <p:txBody>
          <a:bodyPr wrap="square" rtlCol="0" anchor="ctr"/>
          <a:lstStyle/>
          <a:p>
            <a:pPr algn="ctr" indent="0" marL="0">
              <a:buNone/>
            </a:pPr>
            <a:r>
              <a:rPr lang="en-US" sz="1600" dirty="0">
                <a:solidFill>
                  <a:srgbClr val="8A93A6"/>
                </a:solidFill>
              </a:rPr>
              <a:t>→</a:t>
            </a:r>
            <a:endParaRPr lang="en-US" sz="1600" dirty="0"/>
          </a:p>
        </p:txBody>
      </p:sp>
      <p:sp>
        <p:nvSpPr>
          <p:cNvPr id="30" name="Shape 28"/>
          <p:cNvSpPr/>
          <p:nvPr/>
        </p:nvSpPr>
        <p:spPr>
          <a:xfrm>
            <a:off x="5806440" y="3520440"/>
            <a:ext cx="1193292" cy="914400"/>
          </a:xfrm>
          <a:prstGeom prst="roundRect">
            <a:avLst>
              <a:gd name="adj" fmla="val 8000"/>
            </a:avLst>
          </a:prstGeom>
          <a:solidFill>
            <a:srgbClr val="1E3327"/>
          </a:solidFill>
          <a:ln w="12700">
            <a:solidFill>
              <a:srgbClr val="3FBF6B"/>
            </a:solidFill>
            <a:prstDash val="solid"/>
          </a:ln>
        </p:spPr>
      </p:sp>
      <p:sp>
        <p:nvSpPr>
          <p:cNvPr id="31" name="Text 29"/>
          <p:cNvSpPr/>
          <p:nvPr/>
        </p:nvSpPr>
        <p:spPr>
          <a:xfrm>
            <a:off x="5897880" y="3593592"/>
            <a:ext cx="1010412" cy="201168"/>
          </a:xfrm>
          <a:prstGeom prst="rect">
            <a:avLst/>
          </a:prstGeom>
          <a:noFill/>
          <a:ln/>
        </p:spPr>
        <p:txBody>
          <a:bodyPr wrap="square" rtlCol="0" anchor="ctr"/>
          <a:lstStyle/>
          <a:p>
            <a:pPr algn="l" indent="0" marL="0">
              <a:buNone/>
            </a:pPr>
            <a:r>
              <a:rPr lang="en-US" sz="850" b="1" spc="50" kern="0" dirty="0">
                <a:solidFill>
                  <a:srgbClr val="3FBF6B"/>
                </a:solidFill>
                <a:latin typeface="Calibri" pitchFamily="34" charset="0"/>
                <a:ea typeface="Calibri" pitchFamily="34" charset="-122"/>
                <a:cs typeface="Calibri" pitchFamily="34" charset="-120"/>
              </a:rPr>
              <a:t>STEP 5</a:t>
            </a:r>
            <a:endParaRPr lang="en-US" sz="850" dirty="0"/>
          </a:p>
        </p:txBody>
      </p:sp>
      <p:sp>
        <p:nvSpPr>
          <p:cNvPr id="32" name="Text 30"/>
          <p:cNvSpPr/>
          <p:nvPr/>
        </p:nvSpPr>
        <p:spPr>
          <a:xfrm>
            <a:off x="5897880" y="3794760"/>
            <a:ext cx="1010412" cy="566928"/>
          </a:xfrm>
          <a:prstGeom prst="rect">
            <a:avLst/>
          </a:prstGeom>
          <a:noFill/>
          <a:ln/>
        </p:spPr>
        <p:txBody>
          <a:bodyPr wrap="square" rtlCol="0" anchor="t">
            <a:normAutofit/>
          </a:bodyPr>
          <a:lstStyle/>
          <a:p>
            <a:pPr algn="l" indent="0" marL="0">
              <a:buNone/>
            </a:pPr>
            <a:r>
              <a:rPr lang="en-US" sz="1100" b="1" dirty="0">
                <a:solidFill>
                  <a:srgbClr val="E7ECF3"/>
                </a:solidFill>
                <a:latin typeface="Calibri" pitchFamily="34" charset="0"/>
                <a:ea typeface="Calibri" pitchFamily="34" charset="-122"/>
                <a:cs typeface="Calibri" pitchFamily="34" charset="-120"/>
              </a:rPr>
              <a:t>Retrieval + Deterministic Ops</a:t>
            </a:r>
            <a:endParaRPr lang="en-US" sz="1100" dirty="0"/>
          </a:p>
        </p:txBody>
      </p:sp>
      <p:sp>
        <p:nvSpPr>
          <p:cNvPr id="33" name="Text 31"/>
          <p:cNvSpPr/>
          <p:nvPr/>
        </p:nvSpPr>
        <p:spPr>
          <a:xfrm>
            <a:off x="6999732" y="3520440"/>
            <a:ext cx="128016" cy="914400"/>
          </a:xfrm>
          <a:prstGeom prst="rect">
            <a:avLst/>
          </a:prstGeom>
          <a:noFill/>
          <a:ln/>
        </p:spPr>
        <p:txBody>
          <a:bodyPr wrap="square" rtlCol="0" anchor="ctr"/>
          <a:lstStyle/>
          <a:p>
            <a:pPr algn="ctr" indent="0" marL="0">
              <a:buNone/>
            </a:pPr>
            <a:r>
              <a:rPr lang="en-US" sz="1500" dirty="0">
                <a:solidFill>
                  <a:srgbClr val="8A93A6"/>
                </a:solidFill>
                <a:latin typeface="Calibri" pitchFamily="34" charset="0"/>
                <a:ea typeface="Calibri" pitchFamily="34" charset="-122"/>
                <a:cs typeface="Calibri" pitchFamily="34" charset="-120"/>
              </a:rPr>
              <a:t>→</a:t>
            </a:r>
            <a:endParaRPr lang="en-US" sz="1500" dirty="0"/>
          </a:p>
        </p:txBody>
      </p:sp>
      <p:sp>
        <p:nvSpPr>
          <p:cNvPr id="34" name="Shape 32"/>
          <p:cNvSpPr/>
          <p:nvPr/>
        </p:nvSpPr>
        <p:spPr>
          <a:xfrm>
            <a:off x="7127748" y="3520440"/>
            <a:ext cx="1193292" cy="914400"/>
          </a:xfrm>
          <a:prstGeom prst="roundRect">
            <a:avLst>
              <a:gd name="adj" fmla="val 8000"/>
            </a:avLst>
          </a:prstGeom>
          <a:solidFill>
            <a:srgbClr val="1E3327"/>
          </a:solidFill>
          <a:ln w="12700">
            <a:solidFill>
              <a:srgbClr val="3FBF6B"/>
            </a:solidFill>
            <a:prstDash val="solid"/>
          </a:ln>
        </p:spPr>
      </p:sp>
      <p:sp>
        <p:nvSpPr>
          <p:cNvPr id="35" name="Text 33"/>
          <p:cNvSpPr/>
          <p:nvPr/>
        </p:nvSpPr>
        <p:spPr>
          <a:xfrm>
            <a:off x="7219188" y="3593592"/>
            <a:ext cx="1010412" cy="201168"/>
          </a:xfrm>
          <a:prstGeom prst="rect">
            <a:avLst/>
          </a:prstGeom>
          <a:noFill/>
          <a:ln/>
        </p:spPr>
        <p:txBody>
          <a:bodyPr wrap="square" rtlCol="0" anchor="ctr"/>
          <a:lstStyle/>
          <a:p>
            <a:pPr algn="l" indent="0" marL="0">
              <a:buNone/>
            </a:pPr>
            <a:r>
              <a:rPr lang="en-US" sz="850" b="1" spc="50" kern="0" dirty="0">
                <a:solidFill>
                  <a:srgbClr val="3FBF6B"/>
                </a:solidFill>
                <a:latin typeface="Calibri" pitchFamily="34" charset="0"/>
                <a:ea typeface="Calibri" pitchFamily="34" charset="-122"/>
                <a:cs typeface="Calibri" pitchFamily="34" charset="-120"/>
              </a:rPr>
              <a:t>STEP 6</a:t>
            </a:r>
            <a:endParaRPr lang="en-US" sz="850" dirty="0"/>
          </a:p>
        </p:txBody>
      </p:sp>
      <p:sp>
        <p:nvSpPr>
          <p:cNvPr id="36" name="Text 34"/>
          <p:cNvSpPr/>
          <p:nvPr/>
        </p:nvSpPr>
        <p:spPr>
          <a:xfrm>
            <a:off x="7219188" y="3794760"/>
            <a:ext cx="1010412" cy="566928"/>
          </a:xfrm>
          <a:prstGeom prst="rect">
            <a:avLst/>
          </a:prstGeom>
          <a:noFill/>
          <a:ln/>
        </p:spPr>
        <p:txBody>
          <a:bodyPr wrap="square" rtlCol="0" anchor="t">
            <a:normAutofit/>
          </a:bodyPr>
          <a:lstStyle/>
          <a:p>
            <a:pPr algn="l" indent="0" marL="0">
              <a:buNone/>
            </a:pPr>
            <a:r>
              <a:rPr lang="en-US" sz="1100" b="1" dirty="0">
                <a:solidFill>
                  <a:srgbClr val="E7ECF3"/>
                </a:solidFill>
                <a:latin typeface="Calibri" pitchFamily="34" charset="0"/>
                <a:ea typeface="Calibri" pitchFamily="34" charset="-122"/>
                <a:cs typeface="Calibri" pitchFamily="34" charset="-120"/>
              </a:rPr>
              <a:t>Reasoning Model</a:t>
            </a:r>
            <a:endParaRPr lang="en-US" sz="1100" dirty="0"/>
          </a:p>
        </p:txBody>
      </p:sp>
      <p:sp>
        <p:nvSpPr>
          <p:cNvPr id="37" name="Text 35"/>
          <p:cNvSpPr/>
          <p:nvPr/>
        </p:nvSpPr>
        <p:spPr>
          <a:xfrm>
            <a:off x="8321040" y="3520440"/>
            <a:ext cx="182880" cy="914400"/>
          </a:xfrm>
          <a:prstGeom prst="rect">
            <a:avLst/>
          </a:prstGeom>
          <a:noFill/>
          <a:ln/>
        </p:spPr>
        <p:txBody>
          <a:bodyPr wrap="square" rtlCol="0" anchor="ctr"/>
          <a:lstStyle/>
          <a:p>
            <a:pPr algn="ctr" indent="0" marL="0">
              <a:buNone/>
            </a:pPr>
            <a:r>
              <a:rPr lang="en-US" sz="1600" dirty="0">
                <a:solidFill>
                  <a:srgbClr val="8A93A6"/>
                </a:solidFill>
              </a:rPr>
              <a:t>→</a:t>
            </a:r>
            <a:endParaRPr lang="en-US" sz="1600" dirty="0"/>
          </a:p>
        </p:txBody>
      </p:sp>
      <p:sp>
        <p:nvSpPr>
          <p:cNvPr id="38" name="Shape 36"/>
          <p:cNvSpPr/>
          <p:nvPr/>
        </p:nvSpPr>
        <p:spPr>
          <a:xfrm>
            <a:off x="8503920" y="3291840"/>
            <a:ext cx="3108960" cy="594360"/>
          </a:xfrm>
          <a:prstGeom prst="roundRect">
            <a:avLst>
              <a:gd name="adj" fmla="val 12308"/>
            </a:avLst>
          </a:prstGeom>
          <a:solidFill>
            <a:srgbClr val="3A2E17"/>
          </a:solidFill>
          <a:ln w="12700">
            <a:solidFill>
              <a:srgbClr val="E0A83D"/>
            </a:solidFill>
            <a:prstDash val="solid"/>
          </a:ln>
        </p:spPr>
      </p:sp>
      <p:sp>
        <p:nvSpPr>
          <p:cNvPr id="39" name="Text 37"/>
          <p:cNvSpPr/>
          <p:nvPr/>
        </p:nvSpPr>
        <p:spPr>
          <a:xfrm>
            <a:off x="8595360" y="3364992"/>
            <a:ext cx="2926080" cy="201168"/>
          </a:xfrm>
          <a:prstGeom prst="rect">
            <a:avLst/>
          </a:prstGeom>
          <a:noFill/>
          <a:ln/>
        </p:spPr>
        <p:txBody>
          <a:bodyPr wrap="square" rtlCol="0" anchor="ctr"/>
          <a:lstStyle/>
          <a:p>
            <a:pPr algn="l" indent="0" marL="0">
              <a:buNone/>
            </a:pPr>
            <a:r>
              <a:rPr lang="en-US" sz="850" b="1" spc="50" kern="0" dirty="0">
                <a:solidFill>
                  <a:srgbClr val="E0A83D"/>
                </a:solidFill>
                <a:latin typeface="Calibri" pitchFamily="34" charset="0"/>
                <a:ea typeface="Calibri" pitchFamily="34" charset="-122"/>
                <a:cs typeface="Calibri" pitchFamily="34" charset="-120"/>
              </a:rPr>
              <a:t>DELIVERY</a:t>
            </a:r>
            <a:endParaRPr lang="en-US" sz="850" dirty="0"/>
          </a:p>
        </p:txBody>
      </p:sp>
      <p:sp>
        <p:nvSpPr>
          <p:cNvPr id="40" name="Text 38"/>
          <p:cNvSpPr/>
          <p:nvPr/>
        </p:nvSpPr>
        <p:spPr>
          <a:xfrm>
            <a:off x="8595360" y="3566160"/>
            <a:ext cx="2926080" cy="246888"/>
          </a:xfrm>
          <a:prstGeom prst="rect">
            <a:avLst/>
          </a:prstGeom>
          <a:noFill/>
          <a:ln/>
        </p:spPr>
        <p:txBody>
          <a:bodyPr wrap="square" rtlCol="0" anchor="t">
            <a:normAutofit/>
          </a:bodyPr>
          <a:lstStyle/>
          <a:p>
            <a:pPr algn="l" indent="0" marL="0">
              <a:buNone/>
            </a:pPr>
            <a:r>
              <a:rPr lang="en-US" sz="1000" b="1" dirty="0">
                <a:solidFill>
                  <a:srgbClr val="E7ECF3"/>
                </a:solidFill>
                <a:latin typeface="Calibri" pitchFamily="34" charset="0"/>
                <a:ea typeface="Calibri" pitchFamily="34" charset="-122"/>
                <a:cs typeface="Calibri" pitchFamily="34" charset="-120"/>
              </a:rPr>
              <a:t>FastAPI + Streamlit (Chat)</a:t>
            </a:r>
            <a:endParaRPr lang="en-US" sz="1000" dirty="0"/>
          </a:p>
        </p:txBody>
      </p:sp>
      <p:sp>
        <p:nvSpPr>
          <p:cNvPr id="41" name="Shape 39"/>
          <p:cNvSpPr/>
          <p:nvPr/>
        </p:nvSpPr>
        <p:spPr>
          <a:xfrm>
            <a:off x="8503920" y="3977640"/>
            <a:ext cx="3108960" cy="594360"/>
          </a:xfrm>
          <a:prstGeom prst="roundRect">
            <a:avLst>
              <a:gd name="adj" fmla="val 12308"/>
            </a:avLst>
          </a:prstGeom>
          <a:solidFill>
            <a:srgbClr val="3A2E17"/>
          </a:solidFill>
          <a:ln w="12700">
            <a:solidFill>
              <a:srgbClr val="E0A83D"/>
            </a:solidFill>
            <a:prstDash val="solid"/>
          </a:ln>
        </p:spPr>
      </p:sp>
      <p:sp>
        <p:nvSpPr>
          <p:cNvPr id="42" name="Text 40"/>
          <p:cNvSpPr/>
          <p:nvPr/>
        </p:nvSpPr>
        <p:spPr>
          <a:xfrm>
            <a:off x="8595360" y="4050792"/>
            <a:ext cx="2926080" cy="201168"/>
          </a:xfrm>
          <a:prstGeom prst="rect">
            <a:avLst/>
          </a:prstGeom>
          <a:noFill/>
          <a:ln/>
        </p:spPr>
        <p:txBody>
          <a:bodyPr wrap="square" rtlCol="0" anchor="ctr"/>
          <a:lstStyle/>
          <a:p>
            <a:pPr algn="l" indent="0" marL="0">
              <a:buNone/>
            </a:pPr>
            <a:r>
              <a:rPr lang="en-US" sz="850" b="1" spc="50" kern="0" dirty="0">
                <a:solidFill>
                  <a:srgbClr val="E0A83D"/>
                </a:solidFill>
                <a:latin typeface="Calibri" pitchFamily="34" charset="0"/>
                <a:ea typeface="Calibri" pitchFamily="34" charset="-122"/>
                <a:cs typeface="Calibri" pitchFamily="34" charset="-120"/>
              </a:rPr>
              <a:t>DELIVERY</a:t>
            </a:r>
            <a:endParaRPr lang="en-US" sz="850" dirty="0"/>
          </a:p>
        </p:txBody>
      </p:sp>
      <p:sp>
        <p:nvSpPr>
          <p:cNvPr id="43" name="Text 41"/>
          <p:cNvSpPr/>
          <p:nvPr/>
        </p:nvSpPr>
        <p:spPr>
          <a:xfrm>
            <a:off x="8595360" y="4251960"/>
            <a:ext cx="2926080" cy="246888"/>
          </a:xfrm>
          <a:prstGeom prst="rect">
            <a:avLst/>
          </a:prstGeom>
          <a:noFill/>
          <a:ln/>
        </p:spPr>
        <p:txBody>
          <a:bodyPr wrap="square" rtlCol="0" anchor="t">
            <a:normAutofit/>
          </a:bodyPr>
          <a:lstStyle/>
          <a:p>
            <a:pPr algn="l" indent="0" marL="0">
              <a:buNone/>
            </a:pPr>
            <a:r>
              <a:rPr lang="en-US" sz="1000" b="1" dirty="0">
                <a:solidFill>
                  <a:srgbClr val="E7ECF3"/>
                </a:solidFill>
                <a:latin typeface="Calibri" pitchFamily="34" charset="0"/>
                <a:ea typeface="Calibri" pitchFamily="34" charset="-122"/>
                <a:cs typeface="Calibri" pitchFamily="34" charset="-120"/>
              </a:rPr>
              <a:t>GitHub Actions (PR Review)</a:t>
            </a:r>
            <a:endParaRPr lang="en-US" sz="1000" dirty="0"/>
          </a:p>
        </p:txBody>
      </p:sp>
      <p:sp>
        <p:nvSpPr>
          <p:cNvPr id="44" name="Shape 42"/>
          <p:cNvSpPr/>
          <p:nvPr/>
        </p:nvSpPr>
        <p:spPr>
          <a:xfrm>
            <a:off x="548640" y="4892040"/>
            <a:ext cx="11064240" cy="868680"/>
          </a:xfrm>
          <a:prstGeom prst="roundRect">
            <a:avLst>
              <a:gd name="adj" fmla="val 10526"/>
            </a:avLst>
          </a:prstGeom>
          <a:solidFill>
            <a:srgbClr val="1C2230"/>
          </a:solidFill>
          <a:ln w="12700">
            <a:solidFill>
              <a:srgbClr val="2E3648"/>
            </a:solidFill>
            <a:prstDash val="solid"/>
          </a:ln>
        </p:spPr>
      </p:sp>
      <p:sp>
        <p:nvSpPr>
          <p:cNvPr id="45" name="Text 43"/>
          <p:cNvSpPr/>
          <p:nvPr/>
        </p:nvSpPr>
        <p:spPr>
          <a:xfrm>
            <a:off x="868680" y="5029200"/>
            <a:ext cx="10424160" cy="256032"/>
          </a:xfrm>
          <a:prstGeom prst="rect">
            <a:avLst/>
          </a:prstGeom>
          <a:noFill/>
          <a:ln/>
        </p:spPr>
        <p:txBody>
          <a:bodyPr wrap="square" rtlCol="0" anchor="ctr"/>
          <a:lstStyle/>
          <a:p>
            <a:pPr indent="0" marL="0">
              <a:buNone/>
            </a:pPr>
            <a:r>
              <a:rPr lang="en-US" sz="1000" b="1" spc="100" kern="0" dirty="0">
                <a:solidFill>
                  <a:srgbClr val="2FD9C9"/>
                </a:solidFill>
                <a:latin typeface="Calibri" pitchFamily="34" charset="0"/>
                <a:ea typeface="Calibri" pitchFamily="34" charset="-122"/>
                <a:cs typeface="Calibri" pitchFamily="34" charset="-120"/>
              </a:rPr>
              <a:t>PREPARATION REBUILDS THE INDEX</a:t>
            </a:r>
            <a:endParaRPr lang="en-US" sz="1000" dirty="0"/>
          </a:p>
        </p:txBody>
      </p:sp>
      <p:sp>
        <p:nvSpPr>
          <p:cNvPr id="46" name="Text 44"/>
          <p:cNvSpPr/>
          <p:nvPr/>
        </p:nvSpPr>
        <p:spPr>
          <a:xfrm>
            <a:off x="868680" y="5303520"/>
            <a:ext cx="10424160" cy="384048"/>
          </a:xfrm>
          <a:prstGeom prst="rect">
            <a:avLst/>
          </a:prstGeom>
          <a:noFill/>
          <a:ln/>
        </p:spPr>
        <p:txBody>
          <a:bodyPr wrap="square" rtlCol="0" anchor="ctr"/>
          <a:lstStyle/>
          <a:p>
            <a:pPr indent="0" marL="0">
              <a:buNone/>
            </a:pPr>
            <a:r>
              <a:rPr lang="en-US" sz="1250" dirty="0">
                <a:solidFill>
                  <a:srgbClr val="E7ECF3"/>
                </a:solidFill>
                <a:latin typeface="Calibri" pitchFamily="34" charset="0"/>
                <a:ea typeface="Calibri" pitchFamily="34" charset="-122"/>
                <a:cs typeface="Calibri" pitchFamily="34" charset="-120"/>
              </a:rPr>
              <a:t>Preparation rebuilds the vector database end-to-end — stale records do not survive a refresh.</a:t>
            </a:r>
            <a:endParaRPr lang="en-US" sz="1250" dirty="0"/>
          </a:p>
        </p:txBody>
      </p:sp>
      <p:sp>
        <p:nvSpPr>
          <p:cNvPr id="47" name="Text 45"/>
          <p:cNvSpPr/>
          <p:nvPr/>
        </p:nvSpPr>
        <p:spPr>
          <a:xfrm>
            <a:off x="548640" y="5943600"/>
            <a:ext cx="11064240" cy="365760"/>
          </a:xfrm>
          <a:prstGeom prst="rect">
            <a:avLst/>
          </a:prstGeom>
          <a:noFill/>
          <a:ln/>
        </p:spPr>
        <p:txBody>
          <a:bodyPr wrap="square" rtlCol="0" anchor="ctr"/>
          <a:lstStyle/>
          <a:p>
            <a:pPr indent="0" marL="0">
              <a:buNone/>
            </a:pPr>
            <a:r>
              <a:rPr lang="en-US" sz="1100" i="1" dirty="0">
                <a:solidFill>
                  <a:srgbClr val="8A93A6"/>
                </a:solidFill>
                <a:latin typeface="Calibri" pitchFamily="34" charset="0"/>
                <a:ea typeface="Calibri" pitchFamily="34" charset="-122"/>
                <a:cs typeface="Calibri" pitchFamily="34" charset="-120"/>
              </a:rPr>
              <a:t>Zones map directly to the next several slides: collection &amp; indexing, then retrieval &amp; reasoning, then delivery.</a:t>
            </a:r>
            <a:endParaRPr lang="en-US" sz="1100" dirty="0"/>
          </a:p>
        </p:txBody>
      </p:sp>
      <p:sp>
        <p:nvSpPr>
          <p:cNvPr id="48" name="Text 46"/>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04 / 14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COLLECTION &amp; INDEXING</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Data collection and knowledge extraction</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Turning raw GitHub activity into structured, addressable knowledge.</a:t>
            </a:r>
            <a:endParaRPr lang="en-US" sz="1450" dirty="0"/>
          </a:p>
        </p:txBody>
      </p:sp>
      <p:sp>
        <p:nvSpPr>
          <p:cNvPr id="5" name="Shape 3"/>
          <p:cNvSpPr/>
          <p:nvPr/>
        </p:nvSpPr>
        <p:spPr>
          <a:xfrm>
            <a:off x="548640" y="2148840"/>
            <a:ext cx="1280160" cy="685800"/>
          </a:xfrm>
          <a:prstGeom prst="roundRect">
            <a:avLst>
              <a:gd name="adj" fmla="val 10667"/>
            </a:avLst>
          </a:prstGeom>
          <a:solidFill>
            <a:srgbClr val="1C2230"/>
          </a:solidFill>
          <a:ln w="12700">
            <a:solidFill>
              <a:srgbClr val="2E3648"/>
            </a:solidFill>
            <a:prstDash val="solid"/>
          </a:ln>
        </p:spPr>
      </p:sp>
      <p:sp>
        <p:nvSpPr>
          <p:cNvPr id="6" name="Text 4"/>
          <p:cNvSpPr/>
          <p:nvPr/>
        </p:nvSpPr>
        <p:spPr>
          <a:xfrm>
            <a:off x="548640" y="2148840"/>
            <a:ext cx="1280160" cy="685800"/>
          </a:xfrm>
          <a:prstGeom prst="rect">
            <a:avLst/>
          </a:prstGeom>
          <a:noFill/>
          <a:ln/>
        </p:spPr>
        <p:txBody>
          <a:bodyPr wrap="square" rtlCol="0" anchor="ctr"/>
          <a:lstStyle/>
          <a:p>
            <a:pPr algn="ctr" indent="0" marL="0">
              <a:buNone/>
            </a:pPr>
            <a:r>
              <a:rPr lang="en-US" sz="1100" b="1" dirty="0">
                <a:solidFill>
                  <a:srgbClr val="E7ECF3"/>
                </a:solidFill>
                <a:latin typeface="Calibri" pitchFamily="34" charset="0"/>
                <a:ea typeface="Calibri" pitchFamily="34" charset="-122"/>
                <a:cs typeface="Calibri" pitchFamily="34" charset="-120"/>
              </a:rPr>
              <a:t>Commits</a:t>
            </a:r>
            <a:endParaRPr lang="en-US" sz="1100" dirty="0"/>
          </a:p>
        </p:txBody>
      </p:sp>
      <p:sp>
        <p:nvSpPr>
          <p:cNvPr id="7" name="Shape 5"/>
          <p:cNvSpPr/>
          <p:nvPr/>
        </p:nvSpPr>
        <p:spPr>
          <a:xfrm>
            <a:off x="548640" y="3154680"/>
            <a:ext cx="1280160" cy="685800"/>
          </a:xfrm>
          <a:prstGeom prst="roundRect">
            <a:avLst>
              <a:gd name="adj" fmla="val 10667"/>
            </a:avLst>
          </a:prstGeom>
          <a:solidFill>
            <a:srgbClr val="1C2230"/>
          </a:solidFill>
          <a:ln w="12700">
            <a:solidFill>
              <a:srgbClr val="2E3648"/>
            </a:solidFill>
            <a:prstDash val="solid"/>
          </a:ln>
        </p:spPr>
      </p:sp>
      <p:sp>
        <p:nvSpPr>
          <p:cNvPr id="8" name="Text 6"/>
          <p:cNvSpPr/>
          <p:nvPr/>
        </p:nvSpPr>
        <p:spPr>
          <a:xfrm>
            <a:off x="548640" y="3154680"/>
            <a:ext cx="1280160" cy="685800"/>
          </a:xfrm>
          <a:prstGeom prst="rect">
            <a:avLst/>
          </a:prstGeom>
          <a:noFill/>
          <a:ln/>
        </p:spPr>
        <p:txBody>
          <a:bodyPr wrap="square" rtlCol="0" anchor="ctr"/>
          <a:lstStyle/>
          <a:p>
            <a:pPr algn="ctr" indent="0" marL="0">
              <a:buNone/>
            </a:pPr>
            <a:r>
              <a:rPr lang="en-US" sz="1100" b="1" dirty="0">
                <a:solidFill>
                  <a:srgbClr val="E7ECF3"/>
                </a:solidFill>
                <a:latin typeface="Calibri" pitchFamily="34" charset="0"/>
                <a:ea typeface="Calibri" pitchFamily="34" charset="-122"/>
                <a:cs typeface="Calibri" pitchFamily="34" charset="-120"/>
              </a:rPr>
              <a:t>Issues</a:t>
            </a:r>
            <a:endParaRPr lang="en-US" sz="1100" dirty="0"/>
          </a:p>
        </p:txBody>
      </p:sp>
      <p:sp>
        <p:nvSpPr>
          <p:cNvPr id="9" name="Shape 7"/>
          <p:cNvSpPr/>
          <p:nvPr/>
        </p:nvSpPr>
        <p:spPr>
          <a:xfrm>
            <a:off x="548640" y="4160520"/>
            <a:ext cx="1280160" cy="685800"/>
          </a:xfrm>
          <a:prstGeom prst="roundRect">
            <a:avLst>
              <a:gd name="adj" fmla="val 10667"/>
            </a:avLst>
          </a:prstGeom>
          <a:solidFill>
            <a:srgbClr val="1C2230"/>
          </a:solidFill>
          <a:ln w="12700">
            <a:solidFill>
              <a:srgbClr val="2E3648"/>
            </a:solidFill>
            <a:prstDash val="solid"/>
          </a:ln>
        </p:spPr>
      </p:sp>
      <p:sp>
        <p:nvSpPr>
          <p:cNvPr id="10" name="Text 8"/>
          <p:cNvSpPr/>
          <p:nvPr/>
        </p:nvSpPr>
        <p:spPr>
          <a:xfrm>
            <a:off x="548640" y="4160520"/>
            <a:ext cx="1280160" cy="685800"/>
          </a:xfrm>
          <a:prstGeom prst="rect">
            <a:avLst/>
          </a:prstGeom>
          <a:noFill/>
          <a:ln/>
        </p:spPr>
        <p:txBody>
          <a:bodyPr wrap="square" rtlCol="0" anchor="ctr"/>
          <a:lstStyle/>
          <a:p>
            <a:pPr algn="ctr" indent="0" marL="0">
              <a:buNone/>
            </a:pPr>
            <a:r>
              <a:rPr lang="en-US" sz="1100" b="1" dirty="0">
                <a:solidFill>
                  <a:srgbClr val="E7ECF3"/>
                </a:solidFill>
                <a:latin typeface="Calibri" pitchFamily="34" charset="0"/>
                <a:ea typeface="Calibri" pitchFamily="34" charset="-122"/>
                <a:cs typeface="Calibri" pitchFamily="34" charset="-120"/>
              </a:rPr>
              <a:t>Pull Requests</a:t>
            </a:r>
            <a:endParaRPr lang="en-US" sz="1100" dirty="0"/>
          </a:p>
        </p:txBody>
      </p:sp>
      <p:sp>
        <p:nvSpPr>
          <p:cNvPr id="11" name="Shape 9"/>
          <p:cNvSpPr/>
          <p:nvPr/>
        </p:nvSpPr>
        <p:spPr>
          <a:xfrm>
            <a:off x="548640" y="5166360"/>
            <a:ext cx="1280160" cy="685800"/>
          </a:xfrm>
          <a:prstGeom prst="roundRect">
            <a:avLst>
              <a:gd name="adj" fmla="val 10667"/>
            </a:avLst>
          </a:prstGeom>
          <a:solidFill>
            <a:srgbClr val="1C2230"/>
          </a:solidFill>
          <a:ln w="12700">
            <a:solidFill>
              <a:srgbClr val="2E3648"/>
            </a:solidFill>
            <a:prstDash val="solid"/>
          </a:ln>
        </p:spPr>
      </p:sp>
      <p:sp>
        <p:nvSpPr>
          <p:cNvPr id="12" name="Text 10"/>
          <p:cNvSpPr/>
          <p:nvPr/>
        </p:nvSpPr>
        <p:spPr>
          <a:xfrm>
            <a:off x="548640" y="5166360"/>
            <a:ext cx="1280160" cy="685800"/>
          </a:xfrm>
          <a:prstGeom prst="rect">
            <a:avLst/>
          </a:prstGeom>
          <a:noFill/>
          <a:ln/>
        </p:spPr>
        <p:txBody>
          <a:bodyPr wrap="square" rtlCol="0" anchor="ctr"/>
          <a:lstStyle/>
          <a:p>
            <a:pPr algn="ctr" indent="0" marL="0">
              <a:buNone/>
            </a:pPr>
            <a:r>
              <a:rPr lang="en-US" sz="1100" b="1" dirty="0">
                <a:solidFill>
                  <a:srgbClr val="E7ECF3"/>
                </a:solidFill>
                <a:latin typeface="Calibri" pitchFamily="34" charset="0"/>
                <a:ea typeface="Calibri" pitchFamily="34" charset="-122"/>
                <a:cs typeface="Calibri" pitchFamily="34" charset="-120"/>
              </a:rPr>
              <a:t>Markdown Docs</a:t>
            </a:r>
            <a:endParaRPr lang="en-US" sz="1100" dirty="0"/>
          </a:p>
        </p:txBody>
      </p:sp>
      <p:sp>
        <p:nvSpPr>
          <p:cNvPr id="13" name="Shape 11"/>
          <p:cNvSpPr/>
          <p:nvPr/>
        </p:nvSpPr>
        <p:spPr>
          <a:xfrm>
            <a:off x="2331720" y="2606040"/>
            <a:ext cx="2377440" cy="2011680"/>
          </a:xfrm>
          <a:prstGeom prst="roundRect">
            <a:avLst>
              <a:gd name="adj" fmla="val 4545"/>
            </a:avLst>
          </a:prstGeom>
          <a:solidFill>
            <a:srgbClr val="23384A"/>
          </a:solidFill>
          <a:ln w="15875">
            <a:solidFill>
              <a:srgbClr val="2FD9C9"/>
            </a:solidFill>
            <a:prstDash val="solid"/>
          </a:ln>
        </p:spPr>
      </p:sp>
      <p:sp>
        <p:nvSpPr>
          <p:cNvPr id="14" name="Text 12"/>
          <p:cNvSpPr/>
          <p:nvPr/>
        </p:nvSpPr>
        <p:spPr>
          <a:xfrm>
            <a:off x="2560320" y="2834640"/>
            <a:ext cx="1920240" cy="54864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Knowledge Extraction</a:t>
            </a:r>
            <a:endParaRPr lang="en-US" sz="1500" dirty="0"/>
          </a:p>
        </p:txBody>
      </p:sp>
      <p:sp>
        <p:nvSpPr>
          <p:cNvPr id="15" name="Text 13"/>
          <p:cNvSpPr/>
          <p:nvPr/>
        </p:nvSpPr>
        <p:spPr>
          <a:xfrm>
            <a:off x="2560320" y="3429000"/>
            <a:ext cx="1920240" cy="1005840"/>
          </a:xfrm>
          <a:prstGeom prst="rect">
            <a:avLst/>
          </a:prstGeom>
          <a:noFill/>
          <a:ln/>
        </p:spPr>
        <p:txBody>
          <a:bodyPr wrap="square" rtlCol="0" anchor="ctr"/>
          <a:lstStyle/>
          <a:p>
            <a:pPr indent="0" marL="0">
              <a:lnSpc>
                <a:spcPct val="130000"/>
              </a:lnSpc>
              <a:buNone/>
            </a:pPr>
            <a:r>
              <a:rPr lang="en-US" sz="1100" dirty="0">
                <a:solidFill>
                  <a:srgbClr val="8A93A6"/>
                </a:solidFill>
                <a:latin typeface="Calibri" pitchFamily="34" charset="0"/>
                <a:ea typeface="Calibri" pitchFamily="34" charset="-122"/>
                <a:cs typeface="Calibri" pitchFamily="34" charset="-120"/>
              </a:rPr>
              <a:t>Converts raw activity into structured knowledge documents.</a:t>
            </a:r>
            <a:endParaRPr lang="en-US" sz="1100" dirty="0"/>
          </a:p>
        </p:txBody>
      </p:sp>
      <p:sp>
        <p:nvSpPr>
          <p:cNvPr id="16" name="Text 14"/>
          <p:cNvSpPr/>
          <p:nvPr/>
        </p:nvSpPr>
        <p:spPr>
          <a:xfrm>
            <a:off x="4846320" y="3383280"/>
            <a:ext cx="320040" cy="640080"/>
          </a:xfrm>
          <a:prstGeom prst="rect">
            <a:avLst/>
          </a:prstGeom>
          <a:noFill/>
          <a:ln/>
        </p:spPr>
        <p:txBody>
          <a:bodyPr wrap="square" rtlCol="0" anchor="ctr"/>
          <a:lstStyle/>
          <a:p>
            <a:pPr algn="ctr" indent="0" marL="0">
              <a:buNone/>
            </a:pPr>
            <a:r>
              <a:rPr lang="en-US" sz="1800" dirty="0">
                <a:solidFill>
                  <a:srgbClr val="8A93A6"/>
                </a:solidFill>
              </a:rPr>
              <a:t>→</a:t>
            </a:r>
            <a:endParaRPr lang="en-US" sz="1800" dirty="0"/>
          </a:p>
        </p:txBody>
      </p:sp>
      <p:sp>
        <p:nvSpPr>
          <p:cNvPr id="17" name="Shape 15"/>
          <p:cNvSpPr/>
          <p:nvPr/>
        </p:nvSpPr>
        <p:spPr>
          <a:xfrm>
            <a:off x="5257800" y="2377440"/>
            <a:ext cx="3108960" cy="3566160"/>
          </a:xfrm>
          <a:prstGeom prst="roundRect">
            <a:avLst>
              <a:gd name="adj" fmla="val 2941"/>
            </a:avLst>
          </a:prstGeom>
          <a:solidFill>
            <a:srgbClr val="1C2230"/>
          </a:solidFill>
          <a:ln w="12700">
            <a:solidFill>
              <a:srgbClr val="2E3648"/>
            </a:solidFill>
            <a:prstDash val="solid"/>
          </a:ln>
        </p:spPr>
      </p:sp>
      <p:sp>
        <p:nvSpPr>
          <p:cNvPr id="18" name="Text 16"/>
          <p:cNvSpPr/>
          <p:nvPr/>
        </p:nvSpPr>
        <p:spPr>
          <a:xfrm>
            <a:off x="5486400" y="2560320"/>
            <a:ext cx="2651760" cy="256032"/>
          </a:xfrm>
          <a:prstGeom prst="rect">
            <a:avLst/>
          </a:prstGeom>
          <a:noFill/>
          <a:ln/>
        </p:spPr>
        <p:txBody>
          <a:bodyPr wrap="square" rtlCol="0" anchor="ctr"/>
          <a:lstStyle/>
          <a:p>
            <a:pPr indent="0" marL="0">
              <a:buNone/>
            </a:pPr>
            <a:r>
              <a:rPr lang="en-US" sz="900" b="1" spc="100" kern="0" dirty="0">
                <a:solidFill>
                  <a:srgbClr val="2FD9C9"/>
                </a:solidFill>
                <a:latin typeface="Calibri" pitchFamily="34" charset="0"/>
                <a:ea typeface="Calibri" pitchFamily="34" charset="-122"/>
                <a:cs typeface="Calibri" pitchFamily="34" charset="-120"/>
              </a:rPr>
              <a:t>EXAMPLE KNOWLEDGE DOCUMENT</a:t>
            </a:r>
            <a:endParaRPr lang="en-US" sz="900" dirty="0"/>
          </a:p>
        </p:txBody>
      </p:sp>
      <p:sp>
        <p:nvSpPr>
          <p:cNvPr id="19" name="Text 17"/>
          <p:cNvSpPr/>
          <p:nvPr/>
        </p:nvSpPr>
        <p:spPr>
          <a:xfrm>
            <a:off x="5486400" y="2926080"/>
            <a:ext cx="2651760" cy="201168"/>
          </a:xfrm>
          <a:prstGeom prst="rect">
            <a:avLst/>
          </a:prstGeom>
          <a:noFill/>
          <a:ln/>
        </p:spPr>
        <p:txBody>
          <a:bodyPr wrap="square" rtlCol="0" anchor="ctr"/>
          <a:lstStyle/>
          <a:p>
            <a:pPr indent="0" marL="0">
              <a:buNone/>
            </a:pPr>
            <a:r>
              <a:rPr lang="en-US" sz="850" b="1" spc="50" kern="0" dirty="0">
                <a:solidFill>
                  <a:srgbClr val="8A93A6"/>
                </a:solidFill>
                <a:latin typeface="Calibri" pitchFamily="34" charset="0"/>
                <a:ea typeface="Calibri" pitchFamily="34" charset="-122"/>
                <a:cs typeface="Calibri" pitchFamily="34" charset="-120"/>
              </a:rPr>
              <a:t>ID</a:t>
            </a:r>
            <a:endParaRPr lang="en-US" sz="850" dirty="0"/>
          </a:p>
        </p:txBody>
      </p:sp>
      <p:sp>
        <p:nvSpPr>
          <p:cNvPr id="20" name="Text 18"/>
          <p:cNvSpPr/>
          <p:nvPr/>
        </p:nvSpPr>
        <p:spPr>
          <a:xfrm>
            <a:off x="5486400" y="3127248"/>
            <a:ext cx="2651760" cy="365760"/>
          </a:xfrm>
          <a:prstGeom prst="rect">
            <a:avLst/>
          </a:prstGeom>
          <a:noFill/>
          <a:ln/>
        </p:spPr>
        <p:txBody>
          <a:bodyPr wrap="square" rtlCol="0" anchor="ctr"/>
          <a:lstStyle/>
          <a:p>
            <a:pPr indent="0" marL="0">
              <a:lnSpc>
                <a:spcPct val="110000"/>
              </a:lnSpc>
              <a:buNone/>
            </a:pPr>
            <a:r>
              <a:rPr lang="en-US" sz="1000" dirty="0">
                <a:solidFill>
                  <a:srgbClr val="E7ECF3"/>
                </a:solidFill>
                <a:latin typeface="Consolas" pitchFamily="34" charset="0"/>
                <a:ea typeface="Consolas" pitchFamily="34" charset="-122"/>
                <a:cs typeface="Consolas" pitchFamily="34" charset="-120"/>
              </a:rPr>
              <a:t>pr_142</a:t>
            </a:r>
            <a:endParaRPr lang="en-US" sz="1000" dirty="0"/>
          </a:p>
        </p:txBody>
      </p:sp>
      <p:sp>
        <p:nvSpPr>
          <p:cNvPr id="21" name="Text 19"/>
          <p:cNvSpPr/>
          <p:nvPr/>
        </p:nvSpPr>
        <p:spPr>
          <a:xfrm>
            <a:off x="5486400" y="3611880"/>
            <a:ext cx="2651760" cy="201168"/>
          </a:xfrm>
          <a:prstGeom prst="rect">
            <a:avLst/>
          </a:prstGeom>
          <a:noFill/>
          <a:ln/>
        </p:spPr>
        <p:txBody>
          <a:bodyPr wrap="square" rtlCol="0" anchor="ctr"/>
          <a:lstStyle/>
          <a:p>
            <a:pPr indent="0" marL="0">
              <a:buNone/>
            </a:pPr>
            <a:r>
              <a:rPr lang="en-US" sz="850" b="1" spc="50" kern="0" dirty="0">
                <a:solidFill>
                  <a:srgbClr val="8A93A6"/>
                </a:solidFill>
                <a:latin typeface="Calibri" pitchFamily="34" charset="0"/>
                <a:ea typeface="Calibri" pitchFamily="34" charset="-122"/>
                <a:cs typeface="Calibri" pitchFamily="34" charset="-120"/>
              </a:rPr>
              <a:t>TYPE</a:t>
            </a:r>
            <a:endParaRPr lang="en-US" sz="850" dirty="0"/>
          </a:p>
        </p:txBody>
      </p:sp>
      <p:sp>
        <p:nvSpPr>
          <p:cNvPr id="22" name="Text 20"/>
          <p:cNvSpPr/>
          <p:nvPr/>
        </p:nvSpPr>
        <p:spPr>
          <a:xfrm>
            <a:off x="5486400" y="3813048"/>
            <a:ext cx="2651760" cy="365760"/>
          </a:xfrm>
          <a:prstGeom prst="rect">
            <a:avLst/>
          </a:prstGeom>
          <a:noFill/>
          <a:ln/>
        </p:spPr>
        <p:txBody>
          <a:bodyPr wrap="square" rtlCol="0" anchor="ctr"/>
          <a:lstStyle/>
          <a:p>
            <a:pPr indent="0" marL="0">
              <a:lnSpc>
                <a:spcPct val="110000"/>
              </a:lnSpc>
              <a:buNone/>
            </a:pPr>
            <a:r>
              <a:rPr lang="en-US" sz="1000" dirty="0">
                <a:solidFill>
                  <a:srgbClr val="E7ECF3"/>
                </a:solidFill>
                <a:latin typeface="Consolas" pitchFamily="34" charset="0"/>
                <a:ea typeface="Consolas" pitchFamily="34" charset="-122"/>
                <a:cs typeface="Consolas" pitchFamily="34" charset="-120"/>
              </a:rPr>
              <a:t>pull_request</a:t>
            </a:r>
            <a:endParaRPr lang="en-US" sz="1000" dirty="0"/>
          </a:p>
        </p:txBody>
      </p:sp>
      <p:sp>
        <p:nvSpPr>
          <p:cNvPr id="23" name="Text 21"/>
          <p:cNvSpPr/>
          <p:nvPr/>
        </p:nvSpPr>
        <p:spPr>
          <a:xfrm>
            <a:off x="5486400" y="4297680"/>
            <a:ext cx="2651760" cy="201168"/>
          </a:xfrm>
          <a:prstGeom prst="rect">
            <a:avLst/>
          </a:prstGeom>
          <a:noFill/>
          <a:ln/>
        </p:spPr>
        <p:txBody>
          <a:bodyPr wrap="square" rtlCol="0" anchor="ctr"/>
          <a:lstStyle/>
          <a:p>
            <a:pPr indent="0" marL="0">
              <a:buNone/>
            </a:pPr>
            <a:r>
              <a:rPr lang="en-US" sz="850" b="1" spc="50" kern="0" dirty="0">
                <a:solidFill>
                  <a:srgbClr val="8A93A6"/>
                </a:solidFill>
                <a:latin typeface="Calibri" pitchFamily="34" charset="0"/>
                <a:ea typeface="Calibri" pitchFamily="34" charset="-122"/>
                <a:cs typeface="Calibri" pitchFamily="34" charset="-120"/>
              </a:rPr>
              <a:t>TEXT</a:t>
            </a:r>
            <a:endParaRPr lang="en-US" sz="850" dirty="0"/>
          </a:p>
        </p:txBody>
      </p:sp>
      <p:sp>
        <p:nvSpPr>
          <p:cNvPr id="24" name="Text 22"/>
          <p:cNvSpPr/>
          <p:nvPr/>
        </p:nvSpPr>
        <p:spPr>
          <a:xfrm>
            <a:off x="5486400" y="4498848"/>
            <a:ext cx="2651760" cy="548640"/>
          </a:xfrm>
          <a:prstGeom prst="rect">
            <a:avLst/>
          </a:prstGeom>
          <a:noFill/>
          <a:ln/>
        </p:spPr>
        <p:txBody>
          <a:bodyPr wrap="square" rtlCol="0" anchor="ctr"/>
          <a:lstStyle/>
          <a:p>
            <a:pPr indent="0" marL="0">
              <a:lnSpc>
                <a:spcPct val="110000"/>
              </a:lnSpc>
              <a:buNone/>
            </a:pPr>
            <a:r>
              <a:rPr lang="en-US" sz="1000" dirty="0">
                <a:solidFill>
                  <a:srgbClr val="E7ECF3"/>
                </a:solidFill>
                <a:latin typeface="Consolas" pitchFamily="34" charset="0"/>
                <a:ea typeface="Consolas" pitchFamily="34" charset="-122"/>
                <a:cs typeface="Consolas" pitchFamily="34" charset="-120"/>
              </a:rPr>
              <a:t>"Fix retrieval timeout</a:t>
            </a:r>
            <a:endParaRPr lang="en-US" sz="1000" dirty="0"/>
          </a:p>
          <a:p>
            <a:pPr indent="0" marL="0">
              <a:lnSpc>
                <a:spcPct val="110000"/>
              </a:lnSpc>
              <a:buNone/>
            </a:pPr>
            <a:r>
              <a:rPr lang="en-US" sz="1000" dirty="0">
                <a:solidFill>
                  <a:srgbClr val="E7ECF3"/>
                </a:solidFill>
                <a:latin typeface="Consolas" pitchFamily="34" charset="0"/>
                <a:ea typeface="Consolas" pitchFamily="34" charset="-122"/>
                <a:cs typeface="Consolas" pitchFamily="34" charset="-120"/>
              </a:rPr>
              <a:t>on large repos"</a:t>
            </a:r>
            <a:endParaRPr lang="en-US" sz="1000" dirty="0"/>
          </a:p>
        </p:txBody>
      </p:sp>
      <p:sp>
        <p:nvSpPr>
          <p:cNvPr id="25" name="Text 23"/>
          <p:cNvSpPr/>
          <p:nvPr/>
        </p:nvSpPr>
        <p:spPr>
          <a:xfrm>
            <a:off x="5486400" y="5166360"/>
            <a:ext cx="2651760" cy="201168"/>
          </a:xfrm>
          <a:prstGeom prst="rect">
            <a:avLst/>
          </a:prstGeom>
          <a:noFill/>
          <a:ln/>
        </p:spPr>
        <p:txBody>
          <a:bodyPr wrap="square" rtlCol="0" anchor="ctr"/>
          <a:lstStyle/>
          <a:p>
            <a:pPr indent="0" marL="0">
              <a:buNone/>
            </a:pPr>
            <a:r>
              <a:rPr lang="en-US" sz="850" b="1" spc="50" kern="0" dirty="0">
                <a:solidFill>
                  <a:srgbClr val="8A93A6"/>
                </a:solidFill>
                <a:latin typeface="Calibri" pitchFamily="34" charset="0"/>
                <a:ea typeface="Calibri" pitchFamily="34" charset="-122"/>
                <a:cs typeface="Calibri" pitchFamily="34" charset="-120"/>
              </a:rPr>
              <a:t>METADATA</a:t>
            </a:r>
            <a:endParaRPr lang="en-US" sz="850" dirty="0"/>
          </a:p>
        </p:txBody>
      </p:sp>
      <p:sp>
        <p:nvSpPr>
          <p:cNvPr id="26" name="Text 24"/>
          <p:cNvSpPr/>
          <p:nvPr/>
        </p:nvSpPr>
        <p:spPr>
          <a:xfrm>
            <a:off x="5486400" y="5367528"/>
            <a:ext cx="2651760" cy="320040"/>
          </a:xfrm>
          <a:prstGeom prst="rect">
            <a:avLst/>
          </a:prstGeom>
          <a:noFill/>
          <a:ln/>
        </p:spPr>
        <p:txBody>
          <a:bodyPr wrap="square" rtlCol="0" anchor="ctr"/>
          <a:lstStyle/>
          <a:p>
            <a:pPr indent="0" marL="0">
              <a:lnSpc>
                <a:spcPct val="110000"/>
              </a:lnSpc>
              <a:buNone/>
            </a:pPr>
            <a:r>
              <a:rPr lang="en-US" sz="1000" dirty="0">
                <a:solidFill>
                  <a:srgbClr val="E7ECF3"/>
                </a:solidFill>
                <a:latin typeface="Consolas" pitchFamily="34" charset="0"/>
                <a:ea typeface="Consolas" pitchFamily="34" charset="-122"/>
                <a:cs typeface="Consolas" pitchFamily="34" charset="-120"/>
              </a:rPr>
              <a:t>author, date, labels</a:t>
            </a:r>
            <a:endParaRPr lang="en-US" sz="1000" dirty="0"/>
          </a:p>
        </p:txBody>
      </p:sp>
      <p:sp>
        <p:nvSpPr>
          <p:cNvPr id="27" name="Shape 25"/>
          <p:cNvSpPr/>
          <p:nvPr/>
        </p:nvSpPr>
        <p:spPr>
          <a:xfrm>
            <a:off x="8732520" y="2377440"/>
            <a:ext cx="2880360" cy="3566160"/>
          </a:xfrm>
          <a:prstGeom prst="roundRect">
            <a:avLst>
              <a:gd name="adj" fmla="val 3175"/>
            </a:avLst>
          </a:prstGeom>
          <a:solidFill>
            <a:srgbClr val="1C2230"/>
          </a:solidFill>
          <a:ln w="12700">
            <a:solidFill>
              <a:srgbClr val="2E3648"/>
            </a:solidFill>
            <a:prstDash val="solid"/>
          </a:ln>
        </p:spPr>
      </p:sp>
      <p:sp>
        <p:nvSpPr>
          <p:cNvPr id="28" name="Text 26"/>
          <p:cNvSpPr/>
          <p:nvPr/>
        </p:nvSpPr>
        <p:spPr>
          <a:xfrm>
            <a:off x="8961120" y="2560320"/>
            <a:ext cx="2423160" cy="256032"/>
          </a:xfrm>
          <a:prstGeom prst="rect">
            <a:avLst/>
          </a:prstGeom>
          <a:noFill/>
          <a:ln/>
        </p:spPr>
        <p:txBody>
          <a:bodyPr wrap="square" rtlCol="0" anchor="ctr"/>
          <a:lstStyle/>
          <a:p>
            <a:pPr indent="0" marL="0">
              <a:buNone/>
            </a:pPr>
            <a:r>
              <a:rPr lang="en-US" sz="950" b="1" spc="100" kern="0" dirty="0">
                <a:solidFill>
                  <a:srgbClr val="2FD9C9"/>
                </a:solidFill>
                <a:latin typeface="Calibri" pitchFamily="34" charset="0"/>
                <a:ea typeface="Calibri" pitchFamily="34" charset="-122"/>
                <a:cs typeface="Calibri" pitchFamily="34" charset="-120"/>
              </a:rPr>
              <a:t>CANONICAL ID FORMATS</a:t>
            </a:r>
            <a:endParaRPr lang="en-US" sz="950" dirty="0"/>
          </a:p>
        </p:txBody>
      </p:sp>
      <p:sp>
        <p:nvSpPr>
          <p:cNvPr id="29" name="Shape 27"/>
          <p:cNvSpPr/>
          <p:nvPr/>
        </p:nvSpPr>
        <p:spPr>
          <a:xfrm>
            <a:off x="8961120" y="2926080"/>
            <a:ext cx="2423160" cy="566928"/>
          </a:xfrm>
          <a:prstGeom prst="roundRect">
            <a:avLst>
              <a:gd name="adj" fmla="val 9677"/>
            </a:avLst>
          </a:prstGeom>
          <a:solidFill>
            <a:srgbClr val="232B3D"/>
          </a:solidFill>
          <a:ln w="12700">
            <a:solidFill>
              <a:srgbClr val="2E3648"/>
            </a:solidFill>
            <a:prstDash val="solid"/>
          </a:ln>
        </p:spPr>
      </p:sp>
      <p:sp>
        <p:nvSpPr>
          <p:cNvPr id="30" name="Text 28"/>
          <p:cNvSpPr/>
          <p:nvPr/>
        </p:nvSpPr>
        <p:spPr>
          <a:xfrm>
            <a:off x="9098280" y="2926080"/>
            <a:ext cx="2148840" cy="566928"/>
          </a:xfrm>
          <a:prstGeom prst="rect">
            <a:avLst/>
          </a:prstGeom>
          <a:noFill/>
          <a:ln/>
        </p:spPr>
        <p:txBody>
          <a:bodyPr wrap="square" rtlCol="0" anchor="ctr"/>
          <a:lstStyle/>
          <a:p>
            <a:pPr indent="0" marL="0">
              <a:buNone/>
            </a:pPr>
            <a:r>
              <a:rPr lang="en-US" sz="1050" dirty="0">
                <a:solidFill>
                  <a:srgbClr val="2FD9C9"/>
                </a:solidFill>
                <a:latin typeface="Consolas" pitchFamily="34" charset="0"/>
                <a:ea typeface="Consolas" pitchFamily="34" charset="-122"/>
                <a:cs typeface="Consolas" pitchFamily="34" charset="-120"/>
              </a:rPr>
              <a:t>commit_&lt;7-char-sha&gt;</a:t>
            </a:r>
            <a:endParaRPr lang="en-US" sz="1050" dirty="0"/>
          </a:p>
        </p:txBody>
      </p:sp>
      <p:sp>
        <p:nvSpPr>
          <p:cNvPr id="31" name="Shape 29"/>
          <p:cNvSpPr/>
          <p:nvPr/>
        </p:nvSpPr>
        <p:spPr>
          <a:xfrm>
            <a:off x="8961120" y="3639312"/>
            <a:ext cx="2423160" cy="566928"/>
          </a:xfrm>
          <a:prstGeom prst="roundRect">
            <a:avLst>
              <a:gd name="adj" fmla="val 9677"/>
            </a:avLst>
          </a:prstGeom>
          <a:solidFill>
            <a:srgbClr val="232B3D"/>
          </a:solidFill>
          <a:ln w="12700">
            <a:solidFill>
              <a:srgbClr val="2E3648"/>
            </a:solidFill>
            <a:prstDash val="solid"/>
          </a:ln>
        </p:spPr>
      </p:sp>
      <p:sp>
        <p:nvSpPr>
          <p:cNvPr id="32" name="Text 30"/>
          <p:cNvSpPr/>
          <p:nvPr/>
        </p:nvSpPr>
        <p:spPr>
          <a:xfrm>
            <a:off x="9098280" y="3639312"/>
            <a:ext cx="2148840" cy="566928"/>
          </a:xfrm>
          <a:prstGeom prst="rect">
            <a:avLst/>
          </a:prstGeom>
          <a:noFill/>
          <a:ln/>
        </p:spPr>
        <p:txBody>
          <a:bodyPr wrap="square" rtlCol="0" anchor="ctr"/>
          <a:lstStyle/>
          <a:p>
            <a:pPr indent="0" marL="0">
              <a:buNone/>
            </a:pPr>
            <a:r>
              <a:rPr lang="en-US" sz="1050" dirty="0">
                <a:solidFill>
                  <a:srgbClr val="2FD9C9"/>
                </a:solidFill>
                <a:latin typeface="Consolas" pitchFamily="34" charset="0"/>
                <a:ea typeface="Consolas" pitchFamily="34" charset="-122"/>
                <a:cs typeface="Consolas" pitchFamily="34" charset="-120"/>
              </a:rPr>
              <a:t>pr_&lt;number&gt;</a:t>
            </a:r>
            <a:endParaRPr lang="en-US" sz="1050" dirty="0"/>
          </a:p>
        </p:txBody>
      </p:sp>
      <p:sp>
        <p:nvSpPr>
          <p:cNvPr id="33" name="Shape 31"/>
          <p:cNvSpPr/>
          <p:nvPr/>
        </p:nvSpPr>
        <p:spPr>
          <a:xfrm>
            <a:off x="8961120" y="4352544"/>
            <a:ext cx="2423160" cy="566928"/>
          </a:xfrm>
          <a:prstGeom prst="roundRect">
            <a:avLst>
              <a:gd name="adj" fmla="val 9677"/>
            </a:avLst>
          </a:prstGeom>
          <a:solidFill>
            <a:srgbClr val="232B3D"/>
          </a:solidFill>
          <a:ln w="12700">
            <a:solidFill>
              <a:srgbClr val="2E3648"/>
            </a:solidFill>
            <a:prstDash val="solid"/>
          </a:ln>
        </p:spPr>
      </p:sp>
      <p:sp>
        <p:nvSpPr>
          <p:cNvPr id="34" name="Text 32"/>
          <p:cNvSpPr/>
          <p:nvPr/>
        </p:nvSpPr>
        <p:spPr>
          <a:xfrm>
            <a:off x="9098280" y="4352544"/>
            <a:ext cx="2148840" cy="566928"/>
          </a:xfrm>
          <a:prstGeom prst="rect">
            <a:avLst/>
          </a:prstGeom>
          <a:noFill/>
          <a:ln/>
        </p:spPr>
        <p:txBody>
          <a:bodyPr wrap="square" rtlCol="0" anchor="ctr"/>
          <a:lstStyle/>
          <a:p>
            <a:pPr indent="0" marL="0">
              <a:buNone/>
            </a:pPr>
            <a:r>
              <a:rPr lang="en-US" sz="1050" dirty="0">
                <a:solidFill>
                  <a:srgbClr val="2FD9C9"/>
                </a:solidFill>
                <a:latin typeface="Consolas" pitchFamily="34" charset="0"/>
                <a:ea typeface="Consolas" pitchFamily="34" charset="-122"/>
                <a:cs typeface="Consolas" pitchFamily="34" charset="-120"/>
              </a:rPr>
              <a:t>issue_&lt;number&gt;</a:t>
            </a:r>
            <a:endParaRPr lang="en-US" sz="1050" dirty="0"/>
          </a:p>
        </p:txBody>
      </p:sp>
      <p:sp>
        <p:nvSpPr>
          <p:cNvPr id="35" name="Shape 33"/>
          <p:cNvSpPr/>
          <p:nvPr/>
        </p:nvSpPr>
        <p:spPr>
          <a:xfrm>
            <a:off x="8961120" y="5065776"/>
            <a:ext cx="2423160" cy="566928"/>
          </a:xfrm>
          <a:prstGeom prst="roundRect">
            <a:avLst>
              <a:gd name="adj" fmla="val 9677"/>
            </a:avLst>
          </a:prstGeom>
          <a:solidFill>
            <a:srgbClr val="232B3D"/>
          </a:solidFill>
          <a:ln w="12700">
            <a:solidFill>
              <a:srgbClr val="2E3648"/>
            </a:solidFill>
            <a:prstDash val="solid"/>
          </a:ln>
        </p:spPr>
      </p:sp>
      <p:sp>
        <p:nvSpPr>
          <p:cNvPr id="36" name="Text 34"/>
          <p:cNvSpPr/>
          <p:nvPr/>
        </p:nvSpPr>
        <p:spPr>
          <a:xfrm>
            <a:off x="9098280" y="5065776"/>
            <a:ext cx="2148840" cy="566928"/>
          </a:xfrm>
          <a:prstGeom prst="rect">
            <a:avLst/>
          </a:prstGeom>
          <a:noFill/>
          <a:ln/>
        </p:spPr>
        <p:txBody>
          <a:bodyPr wrap="square" rtlCol="0" anchor="ctr"/>
          <a:lstStyle/>
          <a:p>
            <a:pPr indent="0" marL="0">
              <a:buNone/>
            </a:pPr>
            <a:r>
              <a:rPr lang="en-US" sz="1050" dirty="0">
                <a:solidFill>
                  <a:srgbClr val="2FD9C9"/>
                </a:solidFill>
                <a:latin typeface="Consolas" pitchFamily="34" charset="0"/>
                <a:ea typeface="Consolas" pitchFamily="34" charset="-122"/>
                <a:cs typeface="Consolas" pitchFamily="34" charset="-120"/>
              </a:rPr>
              <a:t>doc_&lt;filename-with-</a:t>
            </a:r>
            <a:endParaRPr lang="en-US" sz="1050" dirty="0"/>
          </a:p>
          <a:p>
            <a:pPr indent="0" marL="0">
              <a:buNone/>
            </a:pPr>
            <a:r>
              <a:rPr lang="en-US" sz="1050" dirty="0">
                <a:solidFill>
                  <a:srgbClr val="2FD9C9"/>
                </a:solidFill>
                <a:latin typeface="Consolas" pitchFamily="34" charset="0"/>
                <a:ea typeface="Consolas" pitchFamily="34" charset="-122"/>
                <a:cs typeface="Consolas" pitchFamily="34" charset="-120"/>
              </a:rPr>
              <a:t>dots-replaced&gt;</a:t>
            </a:r>
            <a:endParaRPr lang="en-US" sz="1050" dirty="0"/>
          </a:p>
        </p:txBody>
      </p:sp>
      <p:sp>
        <p:nvSpPr>
          <p:cNvPr id="37" name="Text 35"/>
          <p:cNvSpPr/>
          <p:nvPr/>
        </p:nvSpPr>
        <p:spPr>
          <a:xfrm>
            <a:off x="548640" y="5943600"/>
            <a:ext cx="11064240" cy="457200"/>
          </a:xfrm>
          <a:prstGeom prst="rect">
            <a:avLst/>
          </a:prstGeom>
          <a:noFill/>
          <a:ln/>
        </p:spPr>
        <p:txBody>
          <a:bodyPr wrap="square" rtlCol="0" anchor="ctr"/>
          <a:lstStyle/>
          <a:p>
            <a:pPr indent="0" marL="0">
              <a:buNone/>
            </a:pPr>
            <a:r>
              <a:rPr lang="en-US" sz="1200" i="1" dirty="0">
                <a:solidFill>
                  <a:srgbClr val="8A93A6"/>
                </a:solidFill>
                <a:latin typeface="Calibri" pitchFamily="34" charset="0"/>
                <a:ea typeface="Calibri" pitchFamily="34" charset="-122"/>
                <a:cs typeface="Calibri" pitchFamily="34" charset="-120"/>
              </a:rPr>
              <a:t>Every record is addressable by a stable ID — the same IDs deterministic lookups use later.</a:t>
            </a:r>
            <a:endParaRPr lang="en-US" sz="1200" dirty="0"/>
          </a:p>
        </p:txBody>
      </p:sp>
      <p:sp>
        <p:nvSpPr>
          <p:cNvPr id="38" name="Text 36"/>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05 / 14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COLLECTION &amp; INDEXING</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Embeddings and ChromaDB</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Representing project knowledge so it can be searched by meaning.</a:t>
            </a:r>
            <a:endParaRPr lang="en-US" sz="1450" dirty="0"/>
          </a:p>
        </p:txBody>
      </p:sp>
      <p:sp>
        <p:nvSpPr>
          <p:cNvPr id="5" name="Shape 3"/>
          <p:cNvSpPr/>
          <p:nvPr/>
        </p:nvSpPr>
        <p:spPr>
          <a:xfrm>
            <a:off x="548640" y="2386584"/>
            <a:ext cx="82296" cy="82296"/>
          </a:xfrm>
          <a:prstGeom prst="ellipse">
            <a:avLst/>
          </a:prstGeom>
          <a:solidFill>
            <a:srgbClr val="2FD9C9"/>
          </a:solidFill>
          <a:ln/>
        </p:spPr>
      </p:sp>
      <p:sp>
        <p:nvSpPr>
          <p:cNvPr id="6" name="Text 4"/>
          <p:cNvSpPr/>
          <p:nvPr/>
        </p:nvSpPr>
        <p:spPr>
          <a:xfrm>
            <a:off x="804672" y="2130552"/>
            <a:ext cx="5413248" cy="566928"/>
          </a:xfrm>
          <a:prstGeom prst="rect">
            <a:avLst/>
          </a:prstGeom>
          <a:noFill/>
          <a:ln/>
        </p:spPr>
        <p:txBody>
          <a:bodyPr wrap="square" rtlCol="0" anchor="ctr"/>
          <a:lstStyle/>
          <a:p>
            <a:pPr indent="0" marL="0">
              <a:lnSpc>
                <a:spcPct val="115000"/>
              </a:lnSpc>
              <a:buNone/>
            </a:pPr>
            <a:r>
              <a:rPr lang="en-US" sz="1400" dirty="0">
                <a:solidFill>
                  <a:srgbClr val="E7ECF3"/>
                </a:solidFill>
                <a:latin typeface="Calibri" pitchFamily="34" charset="0"/>
                <a:ea typeface="Calibri" pitchFamily="34" charset="-122"/>
                <a:cs typeface="Calibri" pitchFamily="34" charset="-120"/>
              </a:rPr>
              <a:t>Project content is represented as vectors (embeddings)</a:t>
            </a:r>
            <a:endParaRPr lang="en-US" sz="1400" dirty="0"/>
          </a:p>
        </p:txBody>
      </p:sp>
      <p:sp>
        <p:nvSpPr>
          <p:cNvPr id="7" name="Shape 5"/>
          <p:cNvSpPr/>
          <p:nvPr/>
        </p:nvSpPr>
        <p:spPr>
          <a:xfrm>
            <a:off x="548640" y="2953512"/>
            <a:ext cx="82296" cy="82296"/>
          </a:xfrm>
          <a:prstGeom prst="ellipse">
            <a:avLst/>
          </a:prstGeom>
          <a:solidFill>
            <a:srgbClr val="2FD9C9"/>
          </a:solidFill>
          <a:ln/>
        </p:spPr>
      </p:sp>
      <p:sp>
        <p:nvSpPr>
          <p:cNvPr id="8" name="Text 6"/>
          <p:cNvSpPr/>
          <p:nvPr/>
        </p:nvSpPr>
        <p:spPr>
          <a:xfrm>
            <a:off x="804672" y="2697480"/>
            <a:ext cx="5413248" cy="566928"/>
          </a:xfrm>
          <a:prstGeom prst="rect">
            <a:avLst/>
          </a:prstGeom>
          <a:noFill/>
          <a:ln/>
        </p:spPr>
        <p:txBody>
          <a:bodyPr wrap="square" rtlCol="0" anchor="ctr"/>
          <a:lstStyle/>
          <a:p>
            <a:pPr indent="0" marL="0">
              <a:lnSpc>
                <a:spcPct val="115000"/>
              </a:lnSpc>
              <a:buNone/>
            </a:pPr>
            <a:r>
              <a:rPr lang="en-US" sz="1400" dirty="0">
                <a:solidFill>
                  <a:srgbClr val="E7ECF3"/>
                </a:solidFill>
                <a:latin typeface="Calibri" pitchFamily="34" charset="0"/>
                <a:ea typeface="Calibri" pitchFamily="34" charset="-122"/>
                <a:cs typeface="Calibri" pitchFamily="34" charset="-120"/>
              </a:rPr>
              <a:t>A question is compared against indexed project knowledge</a:t>
            </a:r>
            <a:endParaRPr lang="en-US" sz="1400" dirty="0"/>
          </a:p>
        </p:txBody>
      </p:sp>
      <p:sp>
        <p:nvSpPr>
          <p:cNvPr id="9" name="Shape 7"/>
          <p:cNvSpPr/>
          <p:nvPr/>
        </p:nvSpPr>
        <p:spPr>
          <a:xfrm>
            <a:off x="548640" y="3520440"/>
            <a:ext cx="82296" cy="82296"/>
          </a:xfrm>
          <a:prstGeom prst="ellipse">
            <a:avLst/>
          </a:prstGeom>
          <a:solidFill>
            <a:srgbClr val="2FD9C9"/>
          </a:solidFill>
          <a:ln/>
        </p:spPr>
      </p:sp>
      <p:sp>
        <p:nvSpPr>
          <p:cNvPr id="10" name="Text 8"/>
          <p:cNvSpPr/>
          <p:nvPr/>
        </p:nvSpPr>
        <p:spPr>
          <a:xfrm>
            <a:off x="804672" y="3264408"/>
            <a:ext cx="5413248" cy="566928"/>
          </a:xfrm>
          <a:prstGeom prst="rect">
            <a:avLst/>
          </a:prstGeom>
          <a:noFill/>
          <a:ln/>
        </p:spPr>
        <p:txBody>
          <a:bodyPr wrap="square" rtlCol="0" anchor="ctr"/>
          <a:lstStyle/>
          <a:p>
            <a:pPr indent="0" marL="0">
              <a:lnSpc>
                <a:spcPct val="115000"/>
              </a:lnSpc>
              <a:buNone/>
            </a:pPr>
            <a:r>
              <a:rPr lang="en-US" sz="1400" dirty="0">
                <a:solidFill>
                  <a:srgbClr val="E7ECF3"/>
                </a:solidFill>
                <a:latin typeface="Calibri" pitchFamily="34" charset="0"/>
                <a:ea typeface="Calibri" pitchFamily="34" charset="-122"/>
                <a:cs typeface="Calibri" pitchFamily="34" charset="-120"/>
              </a:rPr>
              <a:t>The most relevant records become context for an answer</a:t>
            </a:r>
            <a:endParaRPr lang="en-US" sz="1400" dirty="0"/>
          </a:p>
        </p:txBody>
      </p:sp>
      <p:sp>
        <p:nvSpPr>
          <p:cNvPr id="11" name="Shape 9"/>
          <p:cNvSpPr/>
          <p:nvPr/>
        </p:nvSpPr>
        <p:spPr>
          <a:xfrm>
            <a:off x="548640" y="4087368"/>
            <a:ext cx="82296" cy="82296"/>
          </a:xfrm>
          <a:prstGeom prst="ellipse">
            <a:avLst/>
          </a:prstGeom>
          <a:solidFill>
            <a:srgbClr val="2FD9C9"/>
          </a:solidFill>
          <a:ln/>
        </p:spPr>
      </p:sp>
      <p:sp>
        <p:nvSpPr>
          <p:cNvPr id="12" name="Text 10"/>
          <p:cNvSpPr/>
          <p:nvPr/>
        </p:nvSpPr>
        <p:spPr>
          <a:xfrm>
            <a:off x="804672" y="3831336"/>
            <a:ext cx="5413248" cy="566928"/>
          </a:xfrm>
          <a:prstGeom prst="rect">
            <a:avLst/>
          </a:prstGeom>
          <a:noFill/>
          <a:ln/>
        </p:spPr>
        <p:txBody>
          <a:bodyPr wrap="square" rtlCol="0" anchor="ctr"/>
          <a:lstStyle/>
          <a:p>
            <a:pPr indent="0" marL="0">
              <a:lnSpc>
                <a:spcPct val="115000"/>
              </a:lnSpc>
              <a:buNone/>
            </a:pPr>
            <a:r>
              <a:rPr lang="en-US" sz="1400" dirty="0">
                <a:solidFill>
                  <a:srgbClr val="E7ECF3"/>
                </a:solidFill>
                <a:latin typeface="Calibri" pitchFamily="34" charset="0"/>
                <a:ea typeface="Calibri" pitchFamily="34" charset="-122"/>
                <a:cs typeface="Calibri" pitchFamily="34" charset="-120"/>
              </a:rPr>
              <a:t>ChromaDB stores and serves the searchable vector collection</a:t>
            </a:r>
            <a:endParaRPr lang="en-US" sz="1400" dirty="0"/>
          </a:p>
        </p:txBody>
      </p:sp>
      <p:sp>
        <p:nvSpPr>
          <p:cNvPr id="13" name="Shape 11"/>
          <p:cNvSpPr/>
          <p:nvPr/>
        </p:nvSpPr>
        <p:spPr>
          <a:xfrm>
            <a:off x="548640" y="4709160"/>
            <a:ext cx="5669280" cy="1005840"/>
          </a:xfrm>
          <a:prstGeom prst="roundRect">
            <a:avLst>
              <a:gd name="adj" fmla="val 9091"/>
            </a:avLst>
          </a:prstGeom>
          <a:solidFill>
            <a:srgbClr val="3A2E17"/>
          </a:solidFill>
          <a:ln w="12700">
            <a:solidFill>
              <a:srgbClr val="E0A83D"/>
            </a:solidFill>
            <a:prstDash val="solid"/>
          </a:ln>
        </p:spPr>
      </p:sp>
      <p:sp>
        <p:nvSpPr>
          <p:cNvPr id="14" name="Text 12"/>
          <p:cNvSpPr/>
          <p:nvPr/>
        </p:nvSpPr>
        <p:spPr>
          <a:xfrm>
            <a:off x="777240" y="4709160"/>
            <a:ext cx="457200" cy="1005840"/>
          </a:xfrm>
          <a:prstGeom prst="rect">
            <a:avLst/>
          </a:prstGeom>
          <a:noFill/>
          <a:ln/>
        </p:spPr>
        <p:txBody>
          <a:bodyPr wrap="square" rtlCol="0" anchor="ctr"/>
          <a:lstStyle/>
          <a:p>
            <a:pPr indent="0" marL="0">
              <a:buNone/>
            </a:pPr>
            <a:r>
              <a:rPr lang="en-US" sz="1800" dirty="0">
                <a:solidFill>
                  <a:srgbClr val="E0A83D"/>
                </a:solidFill>
              </a:rPr>
              <a:t>⚠</a:t>
            </a:r>
            <a:endParaRPr lang="en-US" sz="1800" dirty="0"/>
          </a:p>
        </p:txBody>
      </p:sp>
      <p:sp>
        <p:nvSpPr>
          <p:cNvPr id="15" name="Text 13"/>
          <p:cNvSpPr/>
          <p:nvPr/>
        </p:nvSpPr>
        <p:spPr>
          <a:xfrm>
            <a:off x="1234440" y="4709160"/>
            <a:ext cx="4846320" cy="1005840"/>
          </a:xfrm>
          <a:prstGeom prst="rect">
            <a:avLst/>
          </a:prstGeom>
          <a:noFill/>
          <a:ln/>
        </p:spPr>
        <p:txBody>
          <a:bodyPr wrap="square" rtlCol="0" anchor="ctr"/>
          <a:lstStyle/>
          <a:p>
            <a:pPr indent="0" marL="0">
              <a:lnSpc>
                <a:spcPct val="125000"/>
              </a:lnSpc>
              <a:buNone/>
            </a:pPr>
            <a:r>
              <a:rPr lang="en-US" sz="1250" i="1" dirty="0">
                <a:solidFill>
                  <a:srgbClr val="E7ECF3"/>
                </a:solidFill>
                <a:latin typeface="Calibri" pitchFamily="34" charset="0"/>
                <a:ea typeface="Calibri" pitchFamily="34" charset="-122"/>
                <a:cs typeface="Calibri" pitchFamily="34" charset="-120"/>
              </a:rPr>
              <a:t>Semantic similarity narrows the field — it does not answer every question alone.</a:t>
            </a:r>
            <a:endParaRPr lang="en-US" sz="1250" dirty="0"/>
          </a:p>
        </p:txBody>
      </p:sp>
      <p:sp>
        <p:nvSpPr>
          <p:cNvPr id="16" name="Shape 14"/>
          <p:cNvSpPr/>
          <p:nvPr/>
        </p:nvSpPr>
        <p:spPr>
          <a:xfrm>
            <a:off x="6675120" y="2148840"/>
            <a:ext cx="4937760" cy="3246120"/>
          </a:xfrm>
          <a:prstGeom prst="roundRect">
            <a:avLst>
              <a:gd name="adj" fmla="val 3380"/>
            </a:avLst>
          </a:prstGeom>
          <a:solidFill>
            <a:srgbClr val="1C2230"/>
          </a:solidFill>
          <a:ln w="12700">
            <a:solidFill>
              <a:srgbClr val="2E3648"/>
            </a:solidFill>
            <a:prstDash val="solid"/>
          </a:ln>
        </p:spPr>
      </p:sp>
      <p:sp>
        <p:nvSpPr>
          <p:cNvPr id="17" name="Text 15"/>
          <p:cNvSpPr/>
          <p:nvPr/>
        </p:nvSpPr>
        <p:spPr>
          <a:xfrm>
            <a:off x="6949440" y="2331720"/>
            <a:ext cx="4389120" cy="274320"/>
          </a:xfrm>
          <a:prstGeom prst="rect">
            <a:avLst/>
          </a:prstGeom>
          <a:noFill/>
          <a:ln/>
        </p:spPr>
        <p:txBody>
          <a:bodyPr wrap="square" rtlCol="0" anchor="ctr"/>
          <a:lstStyle/>
          <a:p>
            <a:pPr indent="0" marL="0">
              <a:buNone/>
            </a:pPr>
            <a:r>
              <a:rPr lang="en-US" sz="1000" b="1" spc="100" kern="0" dirty="0">
                <a:solidFill>
                  <a:srgbClr val="2FD9C9"/>
                </a:solidFill>
                <a:latin typeface="Calibri" pitchFamily="34" charset="0"/>
                <a:ea typeface="Calibri" pitchFamily="34" charset="-122"/>
                <a:cs typeface="Calibri" pitchFamily="34" charset="-120"/>
              </a:rPr>
              <a:t>QUERY VECTOR ↔ PROJECT VECTORS</a:t>
            </a:r>
            <a:endParaRPr lang="en-US" sz="1000" dirty="0"/>
          </a:p>
        </p:txBody>
      </p:sp>
      <p:sp>
        <p:nvSpPr>
          <p:cNvPr id="18" name="Shape 16"/>
          <p:cNvSpPr/>
          <p:nvPr/>
        </p:nvSpPr>
        <p:spPr>
          <a:xfrm>
            <a:off x="7680960" y="3931920"/>
            <a:ext cx="109728" cy="109728"/>
          </a:xfrm>
          <a:prstGeom prst="ellipse">
            <a:avLst/>
          </a:prstGeom>
          <a:solidFill>
            <a:srgbClr val="8A93A6"/>
          </a:solidFill>
          <a:ln/>
        </p:spPr>
      </p:sp>
      <p:sp>
        <p:nvSpPr>
          <p:cNvPr id="19" name="Shape 17"/>
          <p:cNvSpPr/>
          <p:nvPr/>
        </p:nvSpPr>
        <p:spPr>
          <a:xfrm>
            <a:off x="8778240" y="3200400"/>
            <a:ext cx="109728" cy="109728"/>
          </a:xfrm>
          <a:prstGeom prst="ellipse">
            <a:avLst/>
          </a:prstGeom>
          <a:solidFill>
            <a:srgbClr val="8A93A6"/>
          </a:solidFill>
          <a:ln/>
        </p:spPr>
      </p:sp>
      <p:sp>
        <p:nvSpPr>
          <p:cNvPr id="20" name="Shape 18"/>
          <p:cNvSpPr/>
          <p:nvPr/>
        </p:nvSpPr>
        <p:spPr>
          <a:xfrm>
            <a:off x="9601200" y="4297680"/>
            <a:ext cx="109728" cy="109728"/>
          </a:xfrm>
          <a:prstGeom prst="ellipse">
            <a:avLst/>
          </a:prstGeom>
          <a:solidFill>
            <a:srgbClr val="8A93A6"/>
          </a:solidFill>
          <a:ln/>
        </p:spPr>
      </p:sp>
      <p:sp>
        <p:nvSpPr>
          <p:cNvPr id="21" name="Shape 19"/>
          <p:cNvSpPr/>
          <p:nvPr/>
        </p:nvSpPr>
        <p:spPr>
          <a:xfrm>
            <a:off x="10424160" y="2926080"/>
            <a:ext cx="109728" cy="109728"/>
          </a:xfrm>
          <a:prstGeom prst="ellipse">
            <a:avLst/>
          </a:prstGeom>
          <a:solidFill>
            <a:srgbClr val="8A93A6"/>
          </a:solidFill>
          <a:ln/>
        </p:spPr>
      </p:sp>
      <p:sp>
        <p:nvSpPr>
          <p:cNvPr id="22" name="Shape 20"/>
          <p:cNvSpPr/>
          <p:nvPr/>
        </p:nvSpPr>
        <p:spPr>
          <a:xfrm>
            <a:off x="8321040" y="4663440"/>
            <a:ext cx="109728" cy="109728"/>
          </a:xfrm>
          <a:prstGeom prst="ellipse">
            <a:avLst/>
          </a:prstGeom>
          <a:solidFill>
            <a:srgbClr val="8A93A6"/>
          </a:solidFill>
          <a:ln/>
        </p:spPr>
      </p:sp>
      <p:sp>
        <p:nvSpPr>
          <p:cNvPr id="23" name="Shape 21"/>
          <p:cNvSpPr/>
          <p:nvPr/>
        </p:nvSpPr>
        <p:spPr>
          <a:xfrm>
            <a:off x="10698480" y="4572000"/>
            <a:ext cx="109728" cy="109728"/>
          </a:xfrm>
          <a:prstGeom prst="ellipse">
            <a:avLst/>
          </a:prstGeom>
          <a:solidFill>
            <a:srgbClr val="8A93A6"/>
          </a:solidFill>
          <a:ln/>
        </p:spPr>
      </p:sp>
      <p:sp>
        <p:nvSpPr>
          <p:cNvPr id="24" name="Shape 22"/>
          <p:cNvSpPr/>
          <p:nvPr/>
        </p:nvSpPr>
        <p:spPr>
          <a:xfrm>
            <a:off x="9326880" y="5029200"/>
            <a:ext cx="109728" cy="109728"/>
          </a:xfrm>
          <a:prstGeom prst="ellipse">
            <a:avLst/>
          </a:prstGeom>
          <a:solidFill>
            <a:srgbClr val="8A93A6"/>
          </a:solidFill>
          <a:ln/>
        </p:spPr>
      </p:sp>
      <p:sp>
        <p:nvSpPr>
          <p:cNvPr id="25" name="Shape 23"/>
          <p:cNvSpPr/>
          <p:nvPr/>
        </p:nvSpPr>
        <p:spPr>
          <a:xfrm>
            <a:off x="9006840" y="3977640"/>
            <a:ext cx="201168" cy="201168"/>
          </a:xfrm>
          <a:prstGeom prst="ellipse">
            <a:avLst/>
          </a:prstGeom>
          <a:solidFill>
            <a:srgbClr val="2FD9C9"/>
          </a:solidFill>
          <a:ln w="12700">
            <a:solidFill>
              <a:srgbClr val="FFFFFF"/>
            </a:solidFill>
            <a:prstDash val="solid"/>
          </a:ln>
        </p:spPr>
      </p:sp>
      <p:sp>
        <p:nvSpPr>
          <p:cNvPr id="26" name="Text 24"/>
          <p:cNvSpPr/>
          <p:nvPr/>
        </p:nvSpPr>
        <p:spPr>
          <a:xfrm>
            <a:off x="8778240" y="4206240"/>
            <a:ext cx="822960" cy="228600"/>
          </a:xfrm>
          <a:prstGeom prst="rect">
            <a:avLst/>
          </a:prstGeom>
          <a:noFill/>
          <a:ln/>
        </p:spPr>
        <p:txBody>
          <a:bodyPr wrap="square" rtlCol="0" anchor="ctr"/>
          <a:lstStyle/>
          <a:p>
            <a:pPr algn="ctr" indent="0" marL="0">
              <a:buNone/>
            </a:pPr>
            <a:r>
              <a:rPr lang="en-US" sz="850" dirty="0">
                <a:solidFill>
                  <a:srgbClr val="2FD9C9"/>
                </a:solidFill>
                <a:latin typeface="Calibri" pitchFamily="34" charset="0"/>
                <a:ea typeface="Calibri" pitchFamily="34" charset="-122"/>
                <a:cs typeface="Calibri" pitchFamily="34" charset="-120"/>
              </a:rPr>
              <a:t>query</a:t>
            </a:r>
            <a:endParaRPr lang="en-US" sz="850" dirty="0"/>
          </a:p>
        </p:txBody>
      </p:sp>
      <p:sp>
        <p:nvSpPr>
          <p:cNvPr id="27" name="Shape 25"/>
          <p:cNvSpPr/>
          <p:nvPr/>
        </p:nvSpPr>
        <p:spPr>
          <a:xfrm>
            <a:off x="8549640" y="3520440"/>
            <a:ext cx="1280160" cy="1005840"/>
          </a:xfrm>
          <a:prstGeom prst="ellipse">
            <a:avLst/>
          </a:prstGeom>
          <a:ln w="12700">
            <a:solidFill>
              <a:srgbClr val="2FD9C9"/>
            </a:solidFill>
            <a:prstDash val="dash"/>
          </a:ln>
        </p:spPr>
      </p:sp>
      <p:sp>
        <p:nvSpPr>
          <p:cNvPr id="28" name="Text 26"/>
          <p:cNvSpPr/>
          <p:nvPr/>
        </p:nvSpPr>
        <p:spPr>
          <a:xfrm>
            <a:off x="6949440" y="5074920"/>
            <a:ext cx="1828800"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ChromaDB</a:t>
            </a:r>
            <a:endParaRPr lang="en-US" sz="1300" dirty="0"/>
          </a:p>
        </p:txBody>
      </p:sp>
      <p:sp>
        <p:nvSpPr>
          <p:cNvPr id="29" name="Text 27"/>
          <p:cNvSpPr/>
          <p:nvPr/>
        </p:nvSpPr>
        <p:spPr>
          <a:xfrm>
            <a:off x="6949440" y="5321808"/>
            <a:ext cx="4206240" cy="274320"/>
          </a:xfrm>
          <a:prstGeom prst="rect">
            <a:avLst/>
          </a:prstGeom>
          <a:noFill/>
          <a:ln/>
        </p:spPr>
        <p:txBody>
          <a:bodyPr wrap="square" rtlCol="0" anchor="ctr"/>
          <a:lstStyle/>
          <a:p>
            <a:pPr indent="0" marL="0">
              <a:buNone/>
            </a:pPr>
            <a:r>
              <a:rPr lang="en-US" sz="1050" dirty="0">
                <a:solidFill>
                  <a:srgbClr val="8A93A6"/>
                </a:solidFill>
                <a:latin typeface="Calibri" pitchFamily="34" charset="0"/>
                <a:ea typeface="Calibri" pitchFamily="34" charset="-122"/>
                <a:cs typeface="Calibri" pitchFamily="34" charset="-120"/>
              </a:rPr>
              <a:t>stores &amp; serves the vector collection</a:t>
            </a:r>
            <a:endParaRPr lang="en-US" sz="1050" dirty="0"/>
          </a:p>
        </p:txBody>
      </p:sp>
      <p:sp>
        <p:nvSpPr>
          <p:cNvPr id="30" name="Text 28"/>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06 / 14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RETRIEVAL &amp; REASONING</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Retrieval plus deterministic operations</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Exact operations for structured answers, semantic retrieval for interpretation.</a:t>
            </a:r>
            <a:endParaRPr lang="en-US" sz="1450" dirty="0"/>
          </a:p>
        </p:txBody>
      </p:sp>
      <p:sp>
        <p:nvSpPr>
          <p:cNvPr id="5" name="Shape 3"/>
          <p:cNvSpPr/>
          <p:nvPr/>
        </p:nvSpPr>
        <p:spPr>
          <a:xfrm>
            <a:off x="548640" y="2103120"/>
            <a:ext cx="4114800" cy="3794760"/>
          </a:xfrm>
          <a:prstGeom prst="roundRect">
            <a:avLst>
              <a:gd name="adj" fmla="val 2410"/>
            </a:avLst>
          </a:prstGeom>
          <a:solidFill>
            <a:srgbClr val="1C2230"/>
          </a:solidFill>
          <a:ln w="12700">
            <a:solidFill>
              <a:srgbClr val="2E3648"/>
            </a:solidFill>
            <a:prstDash val="solid"/>
          </a:ln>
        </p:spPr>
      </p:sp>
      <p:sp>
        <p:nvSpPr>
          <p:cNvPr id="6" name="Text 4"/>
          <p:cNvSpPr/>
          <p:nvPr/>
        </p:nvSpPr>
        <p:spPr>
          <a:xfrm>
            <a:off x="822960" y="2286000"/>
            <a:ext cx="3566160" cy="274320"/>
          </a:xfrm>
          <a:prstGeom prst="rect">
            <a:avLst/>
          </a:prstGeom>
          <a:noFill/>
          <a:ln/>
        </p:spPr>
        <p:txBody>
          <a:bodyPr wrap="square" rtlCol="0" anchor="ctr"/>
          <a:lstStyle/>
          <a:p>
            <a:pPr indent="0" marL="0">
              <a:buNone/>
            </a:pPr>
            <a:r>
              <a:rPr lang="en-US" sz="1050" b="1" spc="100" kern="0" dirty="0">
                <a:solidFill>
                  <a:srgbClr val="3FBF6B"/>
                </a:solidFill>
                <a:latin typeface="Calibri" pitchFamily="34" charset="0"/>
                <a:ea typeface="Calibri" pitchFamily="34" charset="-122"/>
                <a:cs typeface="Calibri" pitchFamily="34" charset="-120"/>
              </a:rPr>
              <a:t>DETERMINISTIC OPERATIONS</a:t>
            </a:r>
            <a:endParaRPr lang="en-US" sz="1050" dirty="0"/>
          </a:p>
        </p:txBody>
      </p:sp>
      <p:sp>
        <p:nvSpPr>
          <p:cNvPr id="7" name="Shape 5"/>
          <p:cNvSpPr/>
          <p:nvPr/>
        </p:nvSpPr>
        <p:spPr>
          <a:xfrm>
            <a:off x="822960" y="2651760"/>
            <a:ext cx="3566160" cy="438912"/>
          </a:xfrm>
          <a:prstGeom prst="roundRect">
            <a:avLst>
              <a:gd name="adj" fmla="val 12500"/>
            </a:avLst>
          </a:prstGeom>
          <a:solidFill>
            <a:srgbClr val="1E3327"/>
          </a:solidFill>
          <a:ln w="12700">
            <a:solidFill>
              <a:srgbClr val="2E3648"/>
            </a:solidFill>
            <a:prstDash val="solid"/>
          </a:ln>
        </p:spPr>
      </p:sp>
      <p:sp>
        <p:nvSpPr>
          <p:cNvPr id="8" name="Text 6"/>
          <p:cNvSpPr/>
          <p:nvPr/>
        </p:nvSpPr>
        <p:spPr>
          <a:xfrm>
            <a:off x="960120" y="2651760"/>
            <a:ext cx="3291840" cy="438912"/>
          </a:xfrm>
          <a:prstGeom prst="rect">
            <a:avLst/>
          </a:prstGeom>
          <a:noFill/>
          <a:ln/>
        </p:spPr>
        <p:txBody>
          <a:bodyPr wrap="square" rtlCol="0" anchor="ctr"/>
          <a:lstStyle/>
          <a:p>
            <a:pPr indent="0" marL="0">
              <a:buNone/>
            </a:pPr>
            <a:r>
              <a:rPr lang="en-US" sz="1300" dirty="0">
                <a:solidFill>
                  <a:srgbClr val="3FBF6B"/>
                </a:solidFill>
                <a:latin typeface="Consolas" pitchFamily="34" charset="0"/>
                <a:ea typeface="Consolas" pitchFamily="34" charset="-122"/>
                <a:cs typeface="Consolas" pitchFamily="34" charset="-120"/>
              </a:rPr>
              <a:t>get</a:t>
            </a:r>
            <a:endParaRPr lang="en-US" sz="1300" dirty="0"/>
          </a:p>
        </p:txBody>
      </p:sp>
      <p:sp>
        <p:nvSpPr>
          <p:cNvPr id="9" name="Shape 7"/>
          <p:cNvSpPr/>
          <p:nvPr/>
        </p:nvSpPr>
        <p:spPr>
          <a:xfrm>
            <a:off x="822960" y="3182112"/>
            <a:ext cx="3566160" cy="438912"/>
          </a:xfrm>
          <a:prstGeom prst="roundRect">
            <a:avLst>
              <a:gd name="adj" fmla="val 12500"/>
            </a:avLst>
          </a:prstGeom>
          <a:solidFill>
            <a:srgbClr val="1E3327"/>
          </a:solidFill>
          <a:ln w="12700">
            <a:solidFill>
              <a:srgbClr val="2E3648"/>
            </a:solidFill>
            <a:prstDash val="solid"/>
          </a:ln>
        </p:spPr>
      </p:sp>
      <p:sp>
        <p:nvSpPr>
          <p:cNvPr id="10" name="Text 8"/>
          <p:cNvSpPr/>
          <p:nvPr/>
        </p:nvSpPr>
        <p:spPr>
          <a:xfrm>
            <a:off x="960120" y="3182112"/>
            <a:ext cx="3291840" cy="438912"/>
          </a:xfrm>
          <a:prstGeom prst="rect">
            <a:avLst/>
          </a:prstGeom>
          <a:noFill/>
          <a:ln/>
        </p:spPr>
        <p:txBody>
          <a:bodyPr wrap="square" rtlCol="0" anchor="ctr"/>
          <a:lstStyle/>
          <a:p>
            <a:pPr indent="0" marL="0">
              <a:buNone/>
            </a:pPr>
            <a:r>
              <a:rPr lang="en-US" sz="1300" dirty="0">
                <a:solidFill>
                  <a:srgbClr val="3FBF6B"/>
                </a:solidFill>
                <a:latin typeface="Consolas" pitchFamily="34" charset="0"/>
                <a:ea typeface="Consolas" pitchFamily="34" charset="-122"/>
                <a:cs typeface="Consolas" pitchFamily="34" charset="-120"/>
              </a:rPr>
              <a:t>list</a:t>
            </a:r>
            <a:endParaRPr lang="en-US" sz="1300" dirty="0"/>
          </a:p>
        </p:txBody>
      </p:sp>
      <p:sp>
        <p:nvSpPr>
          <p:cNvPr id="11" name="Shape 9"/>
          <p:cNvSpPr/>
          <p:nvPr/>
        </p:nvSpPr>
        <p:spPr>
          <a:xfrm>
            <a:off x="822960" y="3712464"/>
            <a:ext cx="3566160" cy="438912"/>
          </a:xfrm>
          <a:prstGeom prst="roundRect">
            <a:avLst>
              <a:gd name="adj" fmla="val 12500"/>
            </a:avLst>
          </a:prstGeom>
          <a:solidFill>
            <a:srgbClr val="1E3327"/>
          </a:solidFill>
          <a:ln w="12700">
            <a:solidFill>
              <a:srgbClr val="2E3648"/>
            </a:solidFill>
            <a:prstDash val="solid"/>
          </a:ln>
        </p:spPr>
      </p:sp>
      <p:sp>
        <p:nvSpPr>
          <p:cNvPr id="12" name="Text 10"/>
          <p:cNvSpPr/>
          <p:nvPr/>
        </p:nvSpPr>
        <p:spPr>
          <a:xfrm>
            <a:off x="960120" y="3712464"/>
            <a:ext cx="3291840" cy="438912"/>
          </a:xfrm>
          <a:prstGeom prst="rect">
            <a:avLst/>
          </a:prstGeom>
          <a:noFill/>
          <a:ln/>
        </p:spPr>
        <p:txBody>
          <a:bodyPr wrap="square" rtlCol="0" anchor="ctr"/>
          <a:lstStyle/>
          <a:p>
            <a:pPr indent="0" marL="0">
              <a:buNone/>
            </a:pPr>
            <a:r>
              <a:rPr lang="en-US" sz="1300" dirty="0">
                <a:solidFill>
                  <a:srgbClr val="3FBF6B"/>
                </a:solidFill>
                <a:latin typeface="Consolas" pitchFamily="34" charset="0"/>
                <a:ea typeface="Consolas" pitchFamily="34" charset="-122"/>
                <a:cs typeface="Consolas" pitchFamily="34" charset="-120"/>
              </a:rPr>
              <a:t>previous</a:t>
            </a:r>
            <a:endParaRPr lang="en-US" sz="1300" dirty="0"/>
          </a:p>
        </p:txBody>
      </p:sp>
      <p:sp>
        <p:nvSpPr>
          <p:cNvPr id="13" name="Shape 11"/>
          <p:cNvSpPr/>
          <p:nvPr/>
        </p:nvSpPr>
        <p:spPr>
          <a:xfrm>
            <a:off x="822960" y="4242816"/>
            <a:ext cx="3566160" cy="438912"/>
          </a:xfrm>
          <a:prstGeom prst="roundRect">
            <a:avLst>
              <a:gd name="adj" fmla="val 12500"/>
            </a:avLst>
          </a:prstGeom>
          <a:solidFill>
            <a:srgbClr val="1E3327"/>
          </a:solidFill>
          <a:ln w="12700">
            <a:solidFill>
              <a:srgbClr val="2E3648"/>
            </a:solidFill>
            <a:prstDash val="solid"/>
          </a:ln>
        </p:spPr>
      </p:sp>
      <p:sp>
        <p:nvSpPr>
          <p:cNvPr id="14" name="Text 12"/>
          <p:cNvSpPr/>
          <p:nvPr/>
        </p:nvSpPr>
        <p:spPr>
          <a:xfrm>
            <a:off x="960120" y="4242816"/>
            <a:ext cx="3291840" cy="438912"/>
          </a:xfrm>
          <a:prstGeom prst="rect">
            <a:avLst/>
          </a:prstGeom>
          <a:noFill/>
          <a:ln/>
        </p:spPr>
        <p:txBody>
          <a:bodyPr wrap="square" rtlCol="0" anchor="ctr"/>
          <a:lstStyle/>
          <a:p>
            <a:pPr indent="0" marL="0">
              <a:buNone/>
            </a:pPr>
            <a:r>
              <a:rPr lang="en-US" sz="1300" dirty="0">
                <a:solidFill>
                  <a:srgbClr val="3FBF6B"/>
                </a:solidFill>
                <a:latin typeface="Consolas" pitchFamily="34" charset="0"/>
                <a:ea typeface="Consolas" pitchFamily="34" charset="-122"/>
                <a:cs typeface="Consolas" pitchFamily="34" charset="-120"/>
              </a:rPr>
              <a:t>next</a:t>
            </a:r>
            <a:endParaRPr lang="en-US" sz="1300" dirty="0"/>
          </a:p>
        </p:txBody>
      </p:sp>
      <p:sp>
        <p:nvSpPr>
          <p:cNvPr id="15" name="Shape 13"/>
          <p:cNvSpPr/>
          <p:nvPr/>
        </p:nvSpPr>
        <p:spPr>
          <a:xfrm>
            <a:off x="822960" y="4773168"/>
            <a:ext cx="3566160" cy="438912"/>
          </a:xfrm>
          <a:prstGeom prst="roundRect">
            <a:avLst>
              <a:gd name="adj" fmla="val 12500"/>
            </a:avLst>
          </a:prstGeom>
          <a:solidFill>
            <a:srgbClr val="1E3327"/>
          </a:solidFill>
          <a:ln w="12700">
            <a:solidFill>
              <a:srgbClr val="2E3648"/>
            </a:solidFill>
            <a:prstDash val="solid"/>
          </a:ln>
        </p:spPr>
      </p:sp>
      <p:sp>
        <p:nvSpPr>
          <p:cNvPr id="16" name="Text 14"/>
          <p:cNvSpPr/>
          <p:nvPr/>
        </p:nvSpPr>
        <p:spPr>
          <a:xfrm>
            <a:off x="960120" y="4773168"/>
            <a:ext cx="3291840" cy="438912"/>
          </a:xfrm>
          <a:prstGeom prst="rect">
            <a:avLst/>
          </a:prstGeom>
          <a:noFill/>
          <a:ln/>
        </p:spPr>
        <p:txBody>
          <a:bodyPr wrap="square" rtlCol="0" anchor="ctr"/>
          <a:lstStyle/>
          <a:p>
            <a:pPr indent="0" marL="0">
              <a:buNone/>
            </a:pPr>
            <a:r>
              <a:rPr lang="en-US" sz="1300" dirty="0">
                <a:solidFill>
                  <a:srgbClr val="3FBF6B"/>
                </a:solidFill>
                <a:latin typeface="Consolas" pitchFamily="34" charset="0"/>
                <a:ea typeface="Consolas" pitchFamily="34" charset="-122"/>
                <a:cs typeface="Consolas" pitchFamily="34" charset="-120"/>
              </a:rPr>
              <a:t>list_files</a:t>
            </a:r>
            <a:endParaRPr lang="en-US" sz="1300" dirty="0"/>
          </a:p>
        </p:txBody>
      </p:sp>
      <p:sp>
        <p:nvSpPr>
          <p:cNvPr id="17" name="Text 15"/>
          <p:cNvSpPr/>
          <p:nvPr/>
        </p:nvSpPr>
        <p:spPr>
          <a:xfrm>
            <a:off x="822960" y="5376672"/>
            <a:ext cx="3566160" cy="457200"/>
          </a:xfrm>
          <a:prstGeom prst="rect">
            <a:avLst/>
          </a:prstGeom>
          <a:noFill/>
          <a:ln/>
        </p:spPr>
        <p:txBody>
          <a:bodyPr wrap="square" rtlCol="0" anchor="ctr"/>
          <a:lstStyle/>
          <a:p>
            <a:pPr indent="0" marL="0">
              <a:buNone/>
            </a:pPr>
            <a:r>
              <a:rPr lang="en-US" sz="1050" i="1" dirty="0">
                <a:solidFill>
                  <a:srgbClr val="8A93A6"/>
                </a:solidFill>
                <a:latin typeface="Calibri" pitchFamily="34" charset="0"/>
                <a:ea typeface="Calibri" pitchFamily="34" charset="-122"/>
                <a:cs typeface="Calibri" pitchFamily="34" charset="-120"/>
              </a:rPr>
              <a:t>Not every question benefits from semantic search — some have one exact answer.</a:t>
            </a:r>
            <a:endParaRPr lang="en-US" sz="1050" dirty="0"/>
          </a:p>
        </p:txBody>
      </p:sp>
      <p:sp>
        <p:nvSpPr>
          <p:cNvPr id="18" name="Shape 16"/>
          <p:cNvSpPr/>
          <p:nvPr/>
        </p:nvSpPr>
        <p:spPr>
          <a:xfrm>
            <a:off x="4892040" y="2103120"/>
            <a:ext cx="6766560" cy="3794760"/>
          </a:xfrm>
          <a:prstGeom prst="roundRect">
            <a:avLst>
              <a:gd name="adj" fmla="val 2410"/>
            </a:avLst>
          </a:prstGeom>
          <a:solidFill>
            <a:srgbClr val="1C2230"/>
          </a:solidFill>
          <a:ln w="12700">
            <a:solidFill>
              <a:srgbClr val="2E3648"/>
            </a:solidFill>
            <a:prstDash val="solid"/>
          </a:ln>
        </p:spPr>
      </p:sp>
      <p:sp>
        <p:nvSpPr>
          <p:cNvPr id="19" name="Text 17"/>
          <p:cNvSpPr/>
          <p:nvPr/>
        </p:nvSpPr>
        <p:spPr>
          <a:xfrm>
            <a:off x="5166360" y="2286000"/>
            <a:ext cx="6217920" cy="274320"/>
          </a:xfrm>
          <a:prstGeom prst="rect">
            <a:avLst/>
          </a:prstGeom>
          <a:noFill/>
          <a:ln/>
        </p:spPr>
        <p:txBody>
          <a:bodyPr wrap="square" rtlCol="0" anchor="ctr"/>
          <a:lstStyle/>
          <a:p>
            <a:pPr indent="0" marL="0">
              <a:buNone/>
            </a:pPr>
            <a:r>
              <a:rPr lang="en-US" sz="1050" b="1" spc="100" kern="0" dirty="0">
                <a:solidFill>
                  <a:srgbClr val="2FD9C9"/>
                </a:solidFill>
                <a:latin typeface="Calibri" pitchFamily="34" charset="0"/>
                <a:ea typeface="Calibri" pitchFamily="34" charset="-122"/>
                <a:cs typeface="Calibri" pitchFamily="34" charset="-120"/>
              </a:rPr>
              <a:t>EXAMPLE CONVERSATION</a:t>
            </a:r>
            <a:endParaRPr lang="en-US" sz="1050" dirty="0"/>
          </a:p>
        </p:txBody>
      </p:sp>
      <p:sp>
        <p:nvSpPr>
          <p:cNvPr id="20" name="Shape 18"/>
          <p:cNvSpPr/>
          <p:nvPr/>
        </p:nvSpPr>
        <p:spPr>
          <a:xfrm>
            <a:off x="5166360" y="2697480"/>
            <a:ext cx="6217920" cy="384048"/>
          </a:xfrm>
          <a:prstGeom prst="roundRect">
            <a:avLst>
              <a:gd name="adj" fmla="val 50000"/>
            </a:avLst>
          </a:prstGeom>
          <a:solidFill>
            <a:srgbClr val="232B3D"/>
          </a:solidFill>
          <a:ln/>
        </p:spPr>
      </p:sp>
      <p:sp>
        <p:nvSpPr>
          <p:cNvPr id="21" name="Text 19"/>
          <p:cNvSpPr/>
          <p:nvPr/>
        </p:nvSpPr>
        <p:spPr>
          <a:xfrm>
            <a:off x="5166360" y="2697480"/>
            <a:ext cx="6217920" cy="384048"/>
          </a:xfrm>
          <a:prstGeom prst="rect">
            <a:avLst/>
          </a:prstGeom>
          <a:noFill/>
          <a:ln/>
        </p:spPr>
        <p:txBody>
          <a:bodyPr wrap="square" rtlCol="0" anchor="ctr"/>
          <a:lstStyle/>
          <a:p>
            <a:pPr algn="ctr" indent="0" marL="0">
              <a:buNone/>
            </a:pPr>
            <a:r>
              <a:rPr lang="en-US" sz="1050" b="1" dirty="0">
                <a:solidFill>
                  <a:srgbClr val="E0A83D"/>
                </a:solidFill>
                <a:latin typeface="Consolas" pitchFamily="34" charset="0"/>
                <a:ea typeface="Consolas" pitchFamily="34" charset="-122"/>
                <a:cs typeface="Consolas" pitchFamily="34" charset="-120"/>
              </a:rPr>
              <a:t>ACTIVE REFERENCE: PR #15</a:t>
            </a:r>
            <a:endParaRPr lang="en-US" sz="1050" dirty="0"/>
          </a:p>
        </p:txBody>
      </p:sp>
      <p:sp>
        <p:nvSpPr>
          <p:cNvPr id="22" name="Shape 20"/>
          <p:cNvSpPr/>
          <p:nvPr/>
        </p:nvSpPr>
        <p:spPr>
          <a:xfrm>
            <a:off x="5166360" y="3291840"/>
            <a:ext cx="3931920" cy="594360"/>
          </a:xfrm>
          <a:prstGeom prst="roundRect">
            <a:avLst>
              <a:gd name="adj" fmla="val 12308"/>
            </a:avLst>
          </a:prstGeom>
          <a:solidFill>
            <a:srgbClr val="232B3D"/>
          </a:solidFill>
          <a:ln/>
        </p:spPr>
      </p:sp>
      <p:sp>
        <p:nvSpPr>
          <p:cNvPr id="23" name="Text 21"/>
          <p:cNvSpPr/>
          <p:nvPr/>
        </p:nvSpPr>
        <p:spPr>
          <a:xfrm>
            <a:off x="5349240" y="3291840"/>
            <a:ext cx="3566160" cy="594360"/>
          </a:xfrm>
          <a:prstGeom prst="rect">
            <a:avLst/>
          </a:prstGeom>
          <a:noFill/>
          <a:ln/>
        </p:spPr>
        <p:txBody>
          <a:bodyPr wrap="square" rtlCol="0" anchor="ctr"/>
          <a:lstStyle/>
          <a:p>
            <a:pPr indent="0" marL="0">
              <a:buNone/>
            </a:pPr>
            <a:r>
              <a:rPr lang="en-US" sz="1250" dirty="0">
                <a:solidFill>
                  <a:srgbClr val="E7ECF3"/>
                </a:solidFill>
                <a:latin typeface="Calibri" pitchFamily="34" charset="0"/>
                <a:ea typeface="Calibri" pitchFamily="34" charset="-122"/>
                <a:cs typeface="Calibri" pitchFamily="34" charset="-120"/>
              </a:rPr>
              <a:t>“Tell me about PR #15”</a:t>
            </a:r>
            <a:endParaRPr lang="en-US" sz="1250" dirty="0"/>
          </a:p>
        </p:txBody>
      </p:sp>
      <p:sp>
        <p:nvSpPr>
          <p:cNvPr id="24" name="Shape 22"/>
          <p:cNvSpPr/>
          <p:nvPr/>
        </p:nvSpPr>
        <p:spPr>
          <a:xfrm>
            <a:off x="9281160" y="3383280"/>
            <a:ext cx="1737360" cy="411480"/>
          </a:xfrm>
          <a:prstGeom prst="roundRect">
            <a:avLst>
              <a:gd name="adj" fmla="val 13333"/>
            </a:avLst>
          </a:prstGeom>
          <a:solidFill>
            <a:srgbClr val="1E3327"/>
          </a:solidFill>
          <a:ln w="12700">
            <a:solidFill>
              <a:srgbClr val="2E3648"/>
            </a:solidFill>
            <a:prstDash val="solid"/>
          </a:ln>
        </p:spPr>
      </p:sp>
      <p:sp>
        <p:nvSpPr>
          <p:cNvPr id="25" name="Text 23"/>
          <p:cNvSpPr/>
          <p:nvPr/>
        </p:nvSpPr>
        <p:spPr>
          <a:xfrm>
            <a:off x="9418320" y="3383280"/>
            <a:ext cx="1463040" cy="411480"/>
          </a:xfrm>
          <a:prstGeom prst="rect">
            <a:avLst/>
          </a:prstGeom>
          <a:noFill/>
          <a:ln/>
        </p:spPr>
        <p:txBody>
          <a:bodyPr wrap="square" rtlCol="0" anchor="ctr"/>
          <a:lstStyle/>
          <a:p>
            <a:pPr indent="0" marL="0">
              <a:buNone/>
            </a:pPr>
            <a:r>
              <a:rPr lang="en-US" sz="1200" dirty="0">
                <a:solidFill>
                  <a:srgbClr val="3FBF6B"/>
                </a:solidFill>
                <a:latin typeface="Consolas" pitchFamily="34" charset="0"/>
                <a:ea typeface="Consolas" pitchFamily="34" charset="-122"/>
                <a:cs typeface="Consolas" pitchFamily="34" charset="-120"/>
              </a:rPr>
              <a:t>get</a:t>
            </a:r>
            <a:endParaRPr lang="en-US" sz="1200" dirty="0"/>
          </a:p>
        </p:txBody>
      </p:sp>
      <p:sp>
        <p:nvSpPr>
          <p:cNvPr id="26" name="Shape 24"/>
          <p:cNvSpPr/>
          <p:nvPr/>
        </p:nvSpPr>
        <p:spPr>
          <a:xfrm>
            <a:off x="5166360" y="4069080"/>
            <a:ext cx="3931920" cy="594360"/>
          </a:xfrm>
          <a:prstGeom prst="roundRect">
            <a:avLst>
              <a:gd name="adj" fmla="val 12308"/>
            </a:avLst>
          </a:prstGeom>
          <a:solidFill>
            <a:srgbClr val="232B3D"/>
          </a:solidFill>
          <a:ln/>
        </p:spPr>
      </p:sp>
      <p:sp>
        <p:nvSpPr>
          <p:cNvPr id="27" name="Text 25"/>
          <p:cNvSpPr/>
          <p:nvPr/>
        </p:nvSpPr>
        <p:spPr>
          <a:xfrm>
            <a:off x="5349240" y="4069080"/>
            <a:ext cx="3566160" cy="594360"/>
          </a:xfrm>
          <a:prstGeom prst="rect">
            <a:avLst/>
          </a:prstGeom>
          <a:noFill/>
          <a:ln/>
        </p:spPr>
        <p:txBody>
          <a:bodyPr wrap="square" rtlCol="0" anchor="ctr"/>
          <a:lstStyle/>
          <a:p>
            <a:pPr indent="0" marL="0">
              <a:buNone/>
            </a:pPr>
            <a:r>
              <a:rPr lang="en-US" sz="1250" dirty="0">
                <a:solidFill>
                  <a:srgbClr val="E7ECF3"/>
                </a:solidFill>
                <a:latin typeface="Calibri" pitchFamily="34" charset="0"/>
                <a:ea typeface="Calibri" pitchFamily="34" charset="-122"/>
                <a:cs typeface="Calibri" pitchFamily="34" charset="-120"/>
              </a:rPr>
              <a:t>“What files did it change?”</a:t>
            </a:r>
            <a:endParaRPr lang="en-US" sz="1250" dirty="0"/>
          </a:p>
        </p:txBody>
      </p:sp>
      <p:sp>
        <p:nvSpPr>
          <p:cNvPr id="28" name="Shape 26"/>
          <p:cNvSpPr/>
          <p:nvPr/>
        </p:nvSpPr>
        <p:spPr>
          <a:xfrm>
            <a:off x="9281160" y="4160520"/>
            <a:ext cx="1737360" cy="411480"/>
          </a:xfrm>
          <a:prstGeom prst="roundRect">
            <a:avLst>
              <a:gd name="adj" fmla="val 13333"/>
            </a:avLst>
          </a:prstGeom>
          <a:solidFill>
            <a:srgbClr val="1E3327"/>
          </a:solidFill>
          <a:ln w="12700">
            <a:solidFill>
              <a:srgbClr val="2E3648"/>
            </a:solidFill>
            <a:prstDash val="solid"/>
          </a:ln>
        </p:spPr>
      </p:sp>
      <p:sp>
        <p:nvSpPr>
          <p:cNvPr id="29" name="Text 27"/>
          <p:cNvSpPr/>
          <p:nvPr/>
        </p:nvSpPr>
        <p:spPr>
          <a:xfrm>
            <a:off x="9418320" y="4160520"/>
            <a:ext cx="1463040" cy="411480"/>
          </a:xfrm>
          <a:prstGeom prst="rect">
            <a:avLst/>
          </a:prstGeom>
          <a:noFill/>
          <a:ln/>
        </p:spPr>
        <p:txBody>
          <a:bodyPr wrap="square" rtlCol="0" anchor="ctr"/>
          <a:lstStyle/>
          <a:p>
            <a:pPr indent="0" marL="0">
              <a:buNone/>
            </a:pPr>
            <a:r>
              <a:rPr lang="en-US" sz="1200" dirty="0">
                <a:solidFill>
                  <a:srgbClr val="3FBF6B"/>
                </a:solidFill>
                <a:latin typeface="Consolas" pitchFamily="34" charset="0"/>
                <a:ea typeface="Consolas" pitchFamily="34" charset="-122"/>
                <a:cs typeface="Consolas" pitchFamily="34" charset="-120"/>
              </a:rPr>
              <a:t>list_files</a:t>
            </a:r>
            <a:endParaRPr lang="en-US" sz="1200" dirty="0"/>
          </a:p>
        </p:txBody>
      </p:sp>
      <p:sp>
        <p:nvSpPr>
          <p:cNvPr id="30" name="Shape 28"/>
          <p:cNvSpPr/>
          <p:nvPr/>
        </p:nvSpPr>
        <p:spPr>
          <a:xfrm>
            <a:off x="5166360" y="4846320"/>
            <a:ext cx="3931920" cy="594360"/>
          </a:xfrm>
          <a:prstGeom prst="roundRect">
            <a:avLst>
              <a:gd name="adj" fmla="val 12308"/>
            </a:avLst>
          </a:prstGeom>
          <a:solidFill>
            <a:srgbClr val="232B3D"/>
          </a:solidFill>
          <a:ln/>
        </p:spPr>
      </p:sp>
      <p:sp>
        <p:nvSpPr>
          <p:cNvPr id="31" name="Text 29"/>
          <p:cNvSpPr/>
          <p:nvPr/>
        </p:nvSpPr>
        <p:spPr>
          <a:xfrm>
            <a:off x="5349240" y="4846320"/>
            <a:ext cx="3566160" cy="594360"/>
          </a:xfrm>
          <a:prstGeom prst="rect">
            <a:avLst/>
          </a:prstGeom>
          <a:noFill/>
          <a:ln/>
        </p:spPr>
        <p:txBody>
          <a:bodyPr wrap="square" rtlCol="0" anchor="ctr"/>
          <a:lstStyle/>
          <a:p>
            <a:pPr indent="0" marL="0">
              <a:buNone/>
            </a:pPr>
            <a:r>
              <a:rPr lang="en-US" sz="1250" dirty="0">
                <a:solidFill>
                  <a:srgbClr val="E7ECF3"/>
                </a:solidFill>
                <a:latin typeface="Calibri" pitchFamily="34" charset="0"/>
                <a:ea typeface="Calibri" pitchFamily="34" charset="-122"/>
                <a:cs typeface="Calibri" pitchFamily="34" charset="-120"/>
              </a:rPr>
              <a:t>“What was the previous PR?”</a:t>
            </a:r>
            <a:endParaRPr lang="en-US" sz="1250" dirty="0"/>
          </a:p>
        </p:txBody>
      </p:sp>
      <p:sp>
        <p:nvSpPr>
          <p:cNvPr id="32" name="Shape 30"/>
          <p:cNvSpPr/>
          <p:nvPr/>
        </p:nvSpPr>
        <p:spPr>
          <a:xfrm>
            <a:off x="9281160" y="4937760"/>
            <a:ext cx="1737360" cy="411480"/>
          </a:xfrm>
          <a:prstGeom prst="roundRect">
            <a:avLst>
              <a:gd name="adj" fmla="val 13333"/>
            </a:avLst>
          </a:prstGeom>
          <a:solidFill>
            <a:srgbClr val="1E3327"/>
          </a:solidFill>
          <a:ln w="12700">
            <a:solidFill>
              <a:srgbClr val="2E3648"/>
            </a:solidFill>
            <a:prstDash val="solid"/>
          </a:ln>
        </p:spPr>
      </p:sp>
      <p:sp>
        <p:nvSpPr>
          <p:cNvPr id="33" name="Text 31"/>
          <p:cNvSpPr/>
          <p:nvPr/>
        </p:nvSpPr>
        <p:spPr>
          <a:xfrm>
            <a:off x="9418320" y="4937760"/>
            <a:ext cx="1463040" cy="411480"/>
          </a:xfrm>
          <a:prstGeom prst="rect">
            <a:avLst/>
          </a:prstGeom>
          <a:noFill/>
          <a:ln/>
        </p:spPr>
        <p:txBody>
          <a:bodyPr wrap="square" rtlCol="0" anchor="ctr"/>
          <a:lstStyle/>
          <a:p>
            <a:pPr indent="0" marL="0">
              <a:buNone/>
            </a:pPr>
            <a:r>
              <a:rPr lang="en-US" sz="1200" dirty="0">
                <a:solidFill>
                  <a:srgbClr val="3FBF6B"/>
                </a:solidFill>
                <a:latin typeface="Consolas" pitchFamily="34" charset="0"/>
                <a:ea typeface="Consolas" pitchFamily="34" charset="-122"/>
                <a:cs typeface="Consolas" pitchFamily="34" charset="-120"/>
              </a:rPr>
              <a:t>previous</a:t>
            </a:r>
            <a:endParaRPr lang="en-US" sz="1200" dirty="0"/>
          </a:p>
        </p:txBody>
      </p:sp>
      <p:sp>
        <p:nvSpPr>
          <p:cNvPr id="34" name="Text 32"/>
          <p:cNvSpPr/>
          <p:nvPr/>
        </p:nvSpPr>
        <p:spPr>
          <a:xfrm>
            <a:off x="5166360" y="5623560"/>
            <a:ext cx="6217920" cy="365760"/>
          </a:xfrm>
          <a:prstGeom prst="rect">
            <a:avLst/>
          </a:prstGeom>
          <a:noFill/>
          <a:ln/>
        </p:spPr>
        <p:txBody>
          <a:bodyPr wrap="square" rtlCol="0" anchor="ctr"/>
          <a:lstStyle/>
          <a:p>
            <a:pPr indent="0" marL="0">
              <a:buNone/>
            </a:pPr>
            <a:r>
              <a:rPr lang="en-US" sz="1100" i="1" dirty="0">
                <a:solidFill>
                  <a:srgbClr val="E0A83D"/>
                </a:solidFill>
                <a:latin typeface="Calibri" pitchFamily="34" charset="0"/>
                <a:ea typeface="Calibri" pitchFamily="34" charset="-122"/>
                <a:cs typeface="Calibri" pitchFamily="34" charset="-120"/>
              </a:rPr>
              <a:t>previous / next return a different record — they do not replace the active reference.</a:t>
            </a:r>
            <a:endParaRPr lang="en-US" sz="1100" dirty="0"/>
          </a:p>
        </p:txBody>
      </p:sp>
      <p:sp>
        <p:nvSpPr>
          <p:cNvPr id="35" name="Text 33"/>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07 / 14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RETRIEVAL &amp; REASONING</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Reasoning and grounded answers</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The model answers from retrieved evidence, not from assumption.</a:t>
            </a:r>
            <a:endParaRPr lang="en-US" sz="1450" dirty="0"/>
          </a:p>
        </p:txBody>
      </p:sp>
      <p:sp>
        <p:nvSpPr>
          <p:cNvPr id="5" name="Shape 3"/>
          <p:cNvSpPr/>
          <p:nvPr/>
        </p:nvSpPr>
        <p:spPr>
          <a:xfrm>
            <a:off x="548640" y="2286000"/>
            <a:ext cx="3505200" cy="1005840"/>
          </a:xfrm>
          <a:prstGeom prst="roundRect">
            <a:avLst>
              <a:gd name="adj" fmla="val 7273"/>
            </a:avLst>
          </a:prstGeom>
          <a:solidFill>
            <a:srgbClr val="23384A"/>
          </a:solidFill>
          <a:ln w="12700">
            <a:solidFill>
              <a:srgbClr val="2FD9C9"/>
            </a:solidFill>
            <a:prstDash val="solid"/>
          </a:ln>
        </p:spPr>
      </p:sp>
      <p:sp>
        <p:nvSpPr>
          <p:cNvPr id="6" name="Text 4"/>
          <p:cNvSpPr/>
          <p:nvPr/>
        </p:nvSpPr>
        <p:spPr>
          <a:xfrm>
            <a:off x="640080" y="2359152"/>
            <a:ext cx="3322320" cy="201168"/>
          </a:xfrm>
          <a:prstGeom prst="rect">
            <a:avLst/>
          </a:prstGeom>
          <a:noFill/>
          <a:ln/>
        </p:spPr>
        <p:txBody>
          <a:bodyPr wrap="square" rtlCol="0" anchor="ctr"/>
          <a:lstStyle/>
          <a:p>
            <a:pPr algn="l" indent="0" marL="0">
              <a:buNone/>
            </a:pPr>
            <a:r>
              <a:rPr lang="en-US" sz="850" b="1" spc="50" kern="0" dirty="0">
                <a:solidFill>
                  <a:srgbClr val="2FD9C9"/>
                </a:solidFill>
                <a:latin typeface="Calibri" pitchFamily="34" charset="0"/>
                <a:ea typeface="Calibri" pitchFamily="34" charset="-122"/>
                <a:cs typeface="Calibri" pitchFamily="34" charset="-120"/>
              </a:rPr>
              <a:t>INPUT</a:t>
            </a:r>
            <a:endParaRPr lang="en-US" sz="850" dirty="0"/>
          </a:p>
        </p:txBody>
      </p:sp>
      <p:sp>
        <p:nvSpPr>
          <p:cNvPr id="7" name="Text 5"/>
          <p:cNvSpPr/>
          <p:nvPr/>
        </p:nvSpPr>
        <p:spPr>
          <a:xfrm>
            <a:off x="640080" y="2560320"/>
            <a:ext cx="3322320" cy="658368"/>
          </a:xfrm>
          <a:prstGeom prst="rect">
            <a:avLst/>
          </a:prstGeom>
          <a:noFill/>
          <a:ln/>
        </p:spPr>
        <p:txBody>
          <a:bodyPr wrap="square" rtlCol="0" anchor="t">
            <a:normAutofit/>
          </a:bodyPr>
          <a:lstStyle/>
          <a:p>
            <a:pPr algn="l" indent="0" marL="0">
              <a:buNone/>
            </a:pPr>
            <a:r>
              <a:rPr lang="en-US" sz="1100" b="1" dirty="0">
                <a:solidFill>
                  <a:srgbClr val="E7ECF3"/>
                </a:solidFill>
                <a:latin typeface="Calibri" pitchFamily="34" charset="0"/>
                <a:ea typeface="Calibri" pitchFamily="34" charset="-122"/>
                <a:cs typeface="Calibri" pitchFamily="34" charset="-120"/>
              </a:rPr>
              <a:t>Retrieved Context</a:t>
            </a:r>
            <a:endParaRPr lang="en-US" sz="1100" dirty="0"/>
          </a:p>
        </p:txBody>
      </p:sp>
      <p:sp>
        <p:nvSpPr>
          <p:cNvPr id="8" name="Text 6"/>
          <p:cNvSpPr/>
          <p:nvPr/>
        </p:nvSpPr>
        <p:spPr>
          <a:xfrm>
            <a:off x="4053840" y="2286000"/>
            <a:ext cx="274320" cy="1005840"/>
          </a:xfrm>
          <a:prstGeom prst="rect">
            <a:avLst/>
          </a:prstGeom>
          <a:noFill/>
          <a:ln/>
        </p:spPr>
        <p:txBody>
          <a:bodyPr wrap="square" rtlCol="0" anchor="ctr"/>
          <a:lstStyle/>
          <a:p>
            <a:pPr algn="ctr" indent="0" marL="0">
              <a:buNone/>
            </a:pPr>
            <a:r>
              <a:rPr lang="en-US" sz="1500" dirty="0">
                <a:solidFill>
                  <a:srgbClr val="8A93A6"/>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4328160" y="2286000"/>
            <a:ext cx="3505200" cy="1005840"/>
          </a:xfrm>
          <a:prstGeom prst="roundRect">
            <a:avLst>
              <a:gd name="adj" fmla="val 7273"/>
            </a:avLst>
          </a:prstGeom>
          <a:solidFill>
            <a:srgbClr val="232B3D"/>
          </a:solidFill>
          <a:ln w="12700">
            <a:solidFill>
              <a:srgbClr val="2E3648"/>
            </a:solidFill>
            <a:prstDash val="solid"/>
          </a:ln>
        </p:spPr>
      </p:sp>
      <p:sp>
        <p:nvSpPr>
          <p:cNvPr id="10" name="Text 8"/>
          <p:cNvSpPr/>
          <p:nvPr/>
        </p:nvSpPr>
        <p:spPr>
          <a:xfrm>
            <a:off x="4419600" y="2359152"/>
            <a:ext cx="3322320" cy="201168"/>
          </a:xfrm>
          <a:prstGeom prst="rect">
            <a:avLst/>
          </a:prstGeom>
          <a:noFill/>
          <a:ln/>
        </p:spPr>
        <p:txBody>
          <a:bodyPr wrap="square" rtlCol="0" anchor="ctr"/>
          <a:lstStyle/>
          <a:p>
            <a:pPr algn="l" indent="0" marL="0">
              <a:buNone/>
            </a:pPr>
            <a:r>
              <a:rPr lang="en-US" sz="850" b="1" spc="50" kern="0" dirty="0">
                <a:solidFill>
                  <a:srgbClr val="2FD9C9"/>
                </a:solidFill>
                <a:latin typeface="Calibri" pitchFamily="34" charset="0"/>
                <a:ea typeface="Calibri" pitchFamily="34" charset="-122"/>
                <a:cs typeface="Calibri" pitchFamily="34" charset="-120"/>
              </a:rPr>
              <a:t>STEP</a:t>
            </a:r>
            <a:endParaRPr lang="en-US" sz="850" dirty="0"/>
          </a:p>
        </p:txBody>
      </p:sp>
      <p:sp>
        <p:nvSpPr>
          <p:cNvPr id="11" name="Text 9"/>
          <p:cNvSpPr/>
          <p:nvPr/>
        </p:nvSpPr>
        <p:spPr>
          <a:xfrm>
            <a:off x="4419600" y="2560320"/>
            <a:ext cx="3322320" cy="658368"/>
          </a:xfrm>
          <a:prstGeom prst="rect">
            <a:avLst/>
          </a:prstGeom>
          <a:noFill/>
          <a:ln/>
        </p:spPr>
        <p:txBody>
          <a:bodyPr wrap="square" rtlCol="0" anchor="t">
            <a:normAutofit/>
          </a:bodyPr>
          <a:lstStyle/>
          <a:p>
            <a:pPr algn="l" indent="0" marL="0">
              <a:buNone/>
            </a:pPr>
            <a:r>
              <a:rPr lang="en-US" sz="1100" b="1" dirty="0">
                <a:solidFill>
                  <a:srgbClr val="E7ECF3"/>
                </a:solidFill>
                <a:latin typeface="Calibri" pitchFamily="34" charset="0"/>
                <a:ea typeface="Calibri" pitchFamily="34" charset="-122"/>
                <a:cs typeface="Calibri" pitchFamily="34" charset="-120"/>
              </a:rPr>
              <a:t>Prompt</a:t>
            </a:r>
            <a:endParaRPr lang="en-US" sz="1100" dirty="0"/>
          </a:p>
        </p:txBody>
      </p:sp>
      <p:sp>
        <p:nvSpPr>
          <p:cNvPr id="12" name="Text 10"/>
          <p:cNvSpPr/>
          <p:nvPr/>
        </p:nvSpPr>
        <p:spPr>
          <a:xfrm>
            <a:off x="7833360" y="2286000"/>
            <a:ext cx="274320" cy="1005840"/>
          </a:xfrm>
          <a:prstGeom prst="rect">
            <a:avLst/>
          </a:prstGeom>
          <a:noFill/>
          <a:ln/>
        </p:spPr>
        <p:txBody>
          <a:bodyPr wrap="square" rtlCol="0" anchor="ctr"/>
          <a:lstStyle/>
          <a:p>
            <a:pPr algn="ctr" indent="0" marL="0">
              <a:buNone/>
            </a:pPr>
            <a:r>
              <a:rPr lang="en-US" sz="1500" dirty="0">
                <a:solidFill>
                  <a:srgbClr val="8A93A6"/>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8107680" y="2286000"/>
            <a:ext cx="3505200" cy="1005840"/>
          </a:xfrm>
          <a:prstGeom prst="roundRect">
            <a:avLst>
              <a:gd name="adj" fmla="val 7273"/>
            </a:avLst>
          </a:prstGeom>
          <a:solidFill>
            <a:srgbClr val="1E3327"/>
          </a:solidFill>
          <a:ln w="12700">
            <a:solidFill>
              <a:srgbClr val="3FBF6B"/>
            </a:solidFill>
            <a:prstDash val="solid"/>
          </a:ln>
        </p:spPr>
      </p:sp>
      <p:sp>
        <p:nvSpPr>
          <p:cNvPr id="14" name="Text 12"/>
          <p:cNvSpPr/>
          <p:nvPr/>
        </p:nvSpPr>
        <p:spPr>
          <a:xfrm>
            <a:off x="8199120" y="2359152"/>
            <a:ext cx="3322320" cy="201168"/>
          </a:xfrm>
          <a:prstGeom prst="rect">
            <a:avLst/>
          </a:prstGeom>
          <a:noFill/>
          <a:ln/>
        </p:spPr>
        <p:txBody>
          <a:bodyPr wrap="square" rtlCol="0" anchor="ctr"/>
          <a:lstStyle/>
          <a:p>
            <a:pPr algn="l" indent="0" marL="0">
              <a:buNone/>
            </a:pPr>
            <a:r>
              <a:rPr lang="en-US" sz="850" b="1" spc="50" kern="0" dirty="0">
                <a:solidFill>
                  <a:srgbClr val="3FBF6B"/>
                </a:solidFill>
                <a:latin typeface="Calibri" pitchFamily="34" charset="0"/>
                <a:ea typeface="Calibri" pitchFamily="34" charset="-122"/>
                <a:cs typeface="Calibri" pitchFamily="34" charset="-120"/>
              </a:rPr>
              <a:t>OUTPUT</a:t>
            </a:r>
            <a:endParaRPr lang="en-US" sz="850" dirty="0"/>
          </a:p>
        </p:txBody>
      </p:sp>
      <p:sp>
        <p:nvSpPr>
          <p:cNvPr id="15" name="Text 13"/>
          <p:cNvSpPr/>
          <p:nvPr/>
        </p:nvSpPr>
        <p:spPr>
          <a:xfrm>
            <a:off x="8199120" y="2560320"/>
            <a:ext cx="3322320" cy="658368"/>
          </a:xfrm>
          <a:prstGeom prst="rect">
            <a:avLst/>
          </a:prstGeom>
          <a:noFill/>
          <a:ln/>
        </p:spPr>
        <p:txBody>
          <a:bodyPr wrap="square" rtlCol="0" anchor="t">
            <a:normAutofit/>
          </a:bodyPr>
          <a:lstStyle/>
          <a:p>
            <a:pPr algn="l" indent="0" marL="0">
              <a:buNone/>
            </a:pPr>
            <a:r>
              <a:rPr lang="en-US" sz="1100" b="1" dirty="0">
                <a:solidFill>
                  <a:srgbClr val="E7ECF3"/>
                </a:solidFill>
                <a:latin typeface="Calibri" pitchFamily="34" charset="0"/>
                <a:ea typeface="Calibri" pitchFamily="34" charset="-122"/>
                <a:cs typeface="Calibri" pitchFamily="34" charset="-120"/>
              </a:rPr>
              <a:t>Answer</a:t>
            </a:r>
            <a:endParaRPr lang="en-US" sz="1100" dirty="0"/>
          </a:p>
        </p:txBody>
      </p:sp>
      <p:sp>
        <p:nvSpPr>
          <p:cNvPr id="16" name="Shape 14"/>
          <p:cNvSpPr/>
          <p:nvPr/>
        </p:nvSpPr>
        <p:spPr>
          <a:xfrm>
            <a:off x="548640" y="4000500"/>
            <a:ext cx="82296" cy="82296"/>
          </a:xfrm>
          <a:prstGeom prst="ellipse">
            <a:avLst/>
          </a:prstGeom>
          <a:solidFill>
            <a:srgbClr val="2FD9C9"/>
          </a:solidFill>
          <a:ln/>
        </p:spPr>
      </p:sp>
      <p:sp>
        <p:nvSpPr>
          <p:cNvPr id="17" name="Text 15"/>
          <p:cNvSpPr/>
          <p:nvPr/>
        </p:nvSpPr>
        <p:spPr>
          <a:xfrm>
            <a:off x="804672" y="3776472"/>
            <a:ext cx="5413248" cy="502920"/>
          </a:xfrm>
          <a:prstGeom prst="rect">
            <a:avLst/>
          </a:prstGeom>
          <a:noFill/>
          <a:ln/>
        </p:spPr>
        <p:txBody>
          <a:bodyPr wrap="square" rtlCol="0" anchor="ctr"/>
          <a:lstStyle/>
          <a:p>
            <a:pPr indent="0" marL="0">
              <a:lnSpc>
                <a:spcPct val="115000"/>
              </a:lnSpc>
              <a:buNone/>
            </a:pPr>
            <a:r>
              <a:rPr lang="en-US" sz="1350" dirty="0">
                <a:solidFill>
                  <a:srgbClr val="E7ECF3"/>
                </a:solidFill>
                <a:latin typeface="Calibri" pitchFamily="34" charset="0"/>
                <a:ea typeface="Calibri" pitchFamily="34" charset="-122"/>
                <a:cs typeface="Calibri" pitchFamily="34" charset="-120"/>
              </a:rPr>
              <a:t>Retrieval supplies project context</a:t>
            </a:r>
            <a:endParaRPr lang="en-US" sz="1350" dirty="0"/>
          </a:p>
        </p:txBody>
      </p:sp>
      <p:sp>
        <p:nvSpPr>
          <p:cNvPr id="18" name="Shape 16"/>
          <p:cNvSpPr/>
          <p:nvPr/>
        </p:nvSpPr>
        <p:spPr>
          <a:xfrm>
            <a:off x="548640" y="4503420"/>
            <a:ext cx="82296" cy="82296"/>
          </a:xfrm>
          <a:prstGeom prst="ellipse">
            <a:avLst/>
          </a:prstGeom>
          <a:solidFill>
            <a:srgbClr val="2FD9C9"/>
          </a:solidFill>
          <a:ln/>
        </p:spPr>
      </p:sp>
      <p:sp>
        <p:nvSpPr>
          <p:cNvPr id="19" name="Text 17"/>
          <p:cNvSpPr/>
          <p:nvPr/>
        </p:nvSpPr>
        <p:spPr>
          <a:xfrm>
            <a:off x="804672" y="4279392"/>
            <a:ext cx="5413248" cy="502920"/>
          </a:xfrm>
          <a:prstGeom prst="rect">
            <a:avLst/>
          </a:prstGeom>
          <a:noFill/>
          <a:ln/>
        </p:spPr>
        <p:txBody>
          <a:bodyPr wrap="square" rtlCol="0" anchor="ctr"/>
          <a:lstStyle/>
          <a:p>
            <a:pPr indent="0" marL="0">
              <a:lnSpc>
                <a:spcPct val="115000"/>
              </a:lnSpc>
              <a:buNone/>
            </a:pPr>
            <a:r>
              <a:rPr lang="en-US" sz="1350" dirty="0">
                <a:solidFill>
                  <a:srgbClr val="E7ECF3"/>
                </a:solidFill>
                <a:latin typeface="Calibri" pitchFamily="34" charset="0"/>
                <a:ea typeface="Calibri" pitchFamily="34" charset="-122"/>
                <a:cs typeface="Calibri" pitchFamily="34" charset="-120"/>
              </a:rPr>
              <a:t>The model answers semantic questions using that context</a:t>
            </a:r>
            <a:endParaRPr lang="en-US" sz="1350" dirty="0"/>
          </a:p>
        </p:txBody>
      </p:sp>
      <p:sp>
        <p:nvSpPr>
          <p:cNvPr id="20" name="Shape 18"/>
          <p:cNvSpPr/>
          <p:nvPr/>
        </p:nvSpPr>
        <p:spPr>
          <a:xfrm>
            <a:off x="548640" y="5006340"/>
            <a:ext cx="82296" cy="82296"/>
          </a:xfrm>
          <a:prstGeom prst="ellipse">
            <a:avLst/>
          </a:prstGeom>
          <a:solidFill>
            <a:srgbClr val="2FD9C9"/>
          </a:solidFill>
          <a:ln/>
        </p:spPr>
      </p:sp>
      <p:sp>
        <p:nvSpPr>
          <p:cNvPr id="21" name="Text 19"/>
          <p:cNvSpPr/>
          <p:nvPr/>
        </p:nvSpPr>
        <p:spPr>
          <a:xfrm>
            <a:off x="804672" y="4782312"/>
            <a:ext cx="5413248" cy="502920"/>
          </a:xfrm>
          <a:prstGeom prst="rect">
            <a:avLst/>
          </a:prstGeom>
          <a:noFill/>
          <a:ln/>
        </p:spPr>
        <p:txBody>
          <a:bodyPr wrap="square" rtlCol="0" anchor="ctr"/>
          <a:lstStyle/>
          <a:p>
            <a:pPr indent="0" marL="0">
              <a:lnSpc>
                <a:spcPct val="115000"/>
              </a:lnSpc>
              <a:buNone/>
            </a:pPr>
            <a:r>
              <a:rPr lang="en-US" sz="1350" dirty="0">
                <a:solidFill>
                  <a:srgbClr val="E7ECF3"/>
                </a:solidFill>
                <a:latin typeface="Calibri" pitchFamily="34" charset="0"/>
                <a:ea typeface="Calibri" pitchFamily="34" charset="-122"/>
                <a:cs typeface="Calibri" pitchFamily="34" charset="-120"/>
              </a:rPr>
              <a:t>The model is instructed not to invent project facts</a:t>
            </a:r>
            <a:endParaRPr lang="en-US" sz="1350" dirty="0"/>
          </a:p>
        </p:txBody>
      </p:sp>
      <p:sp>
        <p:nvSpPr>
          <p:cNvPr id="22" name="Shape 20"/>
          <p:cNvSpPr/>
          <p:nvPr/>
        </p:nvSpPr>
        <p:spPr>
          <a:xfrm>
            <a:off x="6492240" y="3749040"/>
            <a:ext cx="5120640" cy="2194560"/>
          </a:xfrm>
          <a:prstGeom prst="roundRect">
            <a:avLst>
              <a:gd name="adj" fmla="val 4167"/>
            </a:avLst>
          </a:prstGeom>
          <a:solidFill>
            <a:srgbClr val="3A2E17"/>
          </a:solidFill>
          <a:ln w="12700">
            <a:solidFill>
              <a:srgbClr val="E0A83D"/>
            </a:solidFill>
            <a:prstDash val="solid"/>
          </a:ln>
        </p:spPr>
      </p:sp>
      <p:sp>
        <p:nvSpPr>
          <p:cNvPr id="23" name="Text 21"/>
          <p:cNvSpPr/>
          <p:nvPr/>
        </p:nvSpPr>
        <p:spPr>
          <a:xfrm>
            <a:off x="6766560" y="3931920"/>
            <a:ext cx="4572000" cy="320040"/>
          </a:xfrm>
          <a:prstGeom prst="rect">
            <a:avLst/>
          </a:prstGeom>
          <a:noFill/>
          <a:ln/>
        </p:spPr>
        <p:txBody>
          <a:bodyPr wrap="square" rtlCol="0" anchor="ctr"/>
          <a:lstStyle/>
          <a:p>
            <a:pPr indent="0" marL="0">
              <a:buNone/>
            </a:pPr>
            <a:r>
              <a:rPr lang="en-US" sz="1100" b="1" spc="50" kern="0" dirty="0">
                <a:solidFill>
                  <a:srgbClr val="E0A83D"/>
                </a:solidFill>
                <a:latin typeface="Calibri" pitchFamily="34" charset="0"/>
                <a:ea typeface="Calibri" pitchFamily="34" charset="-122"/>
                <a:cs typeface="Calibri" pitchFamily="34" charset="-120"/>
              </a:rPr>
              <a:t>⚠  REPOSITORY CONTENT = UNTRUSTED DATA</a:t>
            </a:r>
            <a:endParaRPr lang="en-US" sz="1100" dirty="0"/>
          </a:p>
        </p:txBody>
      </p:sp>
      <p:sp>
        <p:nvSpPr>
          <p:cNvPr id="24" name="Text 22"/>
          <p:cNvSpPr/>
          <p:nvPr/>
        </p:nvSpPr>
        <p:spPr>
          <a:xfrm>
            <a:off x="6766560" y="4343400"/>
            <a:ext cx="4572000" cy="1463040"/>
          </a:xfrm>
          <a:prstGeom prst="rect">
            <a:avLst/>
          </a:prstGeom>
          <a:noFill/>
          <a:ln/>
        </p:spPr>
        <p:txBody>
          <a:bodyPr wrap="square" rtlCol="0" anchor="ctr"/>
          <a:lstStyle/>
          <a:p>
            <a:pPr indent="0" marL="0">
              <a:lnSpc>
                <a:spcPct val="135000"/>
              </a:lnSpc>
              <a:buNone/>
            </a:pPr>
            <a:r>
              <a:rPr lang="en-US" sz="1250" dirty="0">
                <a:solidFill>
                  <a:srgbClr val="E7ECF3"/>
                </a:solidFill>
                <a:latin typeface="Calibri" pitchFamily="34" charset="0"/>
                <a:ea typeface="Calibri" pitchFamily="34" charset="-122"/>
                <a:cs typeface="Calibri" pitchFamily="34" charset="-120"/>
              </a:rPr>
              <a:t>Repository content is treated as untrusted data. Instructions embedded in project content are not followed as model instructions.</a:t>
            </a:r>
            <a:endParaRPr lang="en-US" sz="1250" dirty="0"/>
          </a:p>
        </p:txBody>
      </p:sp>
      <p:sp>
        <p:nvSpPr>
          <p:cNvPr id="25" name="Text 23"/>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08 / 14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DELIVERY</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Chatbot experience</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Asking PMI a question, end to end.</a:t>
            </a:r>
            <a:endParaRPr lang="en-US" sz="1450" dirty="0"/>
          </a:p>
        </p:txBody>
      </p:sp>
      <p:sp>
        <p:nvSpPr>
          <p:cNvPr id="5" name="Shape 3"/>
          <p:cNvSpPr/>
          <p:nvPr/>
        </p:nvSpPr>
        <p:spPr>
          <a:xfrm>
            <a:off x="548640" y="2148840"/>
            <a:ext cx="7589520" cy="621792"/>
          </a:xfrm>
          <a:prstGeom prst="roundRect">
            <a:avLst>
              <a:gd name="adj" fmla="val 11765"/>
            </a:avLst>
          </a:prstGeom>
          <a:solidFill>
            <a:srgbClr val="1C2230"/>
          </a:solidFill>
          <a:ln w="12700">
            <a:solidFill>
              <a:srgbClr val="2E3648"/>
            </a:solidFill>
            <a:prstDash val="solid"/>
          </a:ln>
        </p:spPr>
      </p:sp>
      <p:sp>
        <p:nvSpPr>
          <p:cNvPr id="6" name="Shape 4"/>
          <p:cNvSpPr/>
          <p:nvPr/>
        </p:nvSpPr>
        <p:spPr>
          <a:xfrm>
            <a:off x="713232" y="2313432"/>
            <a:ext cx="292608" cy="292608"/>
          </a:xfrm>
          <a:prstGeom prst="ellipse">
            <a:avLst/>
          </a:prstGeom>
          <a:solidFill>
            <a:srgbClr val="232B3D"/>
          </a:solidFill>
          <a:ln w="12700">
            <a:solidFill>
              <a:srgbClr val="2FD9C9"/>
            </a:solidFill>
            <a:prstDash val="solid"/>
          </a:ln>
        </p:spPr>
      </p:sp>
      <p:sp>
        <p:nvSpPr>
          <p:cNvPr id="7" name="Text 5"/>
          <p:cNvSpPr/>
          <p:nvPr/>
        </p:nvSpPr>
        <p:spPr>
          <a:xfrm>
            <a:off x="713232" y="2313432"/>
            <a:ext cx="292608" cy="292608"/>
          </a:xfrm>
          <a:prstGeom prst="rect">
            <a:avLst/>
          </a:prstGeom>
          <a:noFill/>
          <a:ln/>
        </p:spPr>
        <p:txBody>
          <a:bodyPr wrap="square" rtlCol="0" anchor="ctr"/>
          <a:lstStyle/>
          <a:p>
            <a:pPr algn="ctr" indent="0" marL="0">
              <a:buNone/>
            </a:pPr>
            <a:r>
              <a:rPr lang="en-US" sz="1100" b="1" dirty="0">
                <a:solidFill>
                  <a:srgbClr val="2FD9C9"/>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143000" y="2148840"/>
            <a:ext cx="6309360" cy="621792"/>
          </a:xfrm>
          <a:prstGeom prst="rect">
            <a:avLst/>
          </a:prstGeom>
          <a:noFill/>
          <a:ln/>
        </p:spPr>
        <p:txBody>
          <a:bodyPr wrap="square" rtlCol="0" anchor="ctr"/>
          <a:lstStyle/>
          <a:p>
            <a:pPr indent="0" marL="0">
              <a:buNone/>
            </a:pPr>
            <a:r>
              <a:rPr lang="en-US" sz="1250" dirty="0">
                <a:solidFill>
                  <a:srgbClr val="E7ECF3"/>
                </a:solidFill>
                <a:latin typeface="Calibri" pitchFamily="34" charset="0"/>
                <a:ea typeface="Calibri" pitchFamily="34" charset="-122"/>
                <a:cs typeface="Calibri" pitchFamily="34" charset="-120"/>
              </a:rPr>
              <a:t>User signs up / signs in</a:t>
            </a:r>
            <a:endParaRPr lang="en-US" sz="1250" dirty="0"/>
          </a:p>
        </p:txBody>
      </p:sp>
      <p:sp>
        <p:nvSpPr>
          <p:cNvPr id="9" name="Text 7"/>
          <p:cNvSpPr/>
          <p:nvPr/>
        </p:nvSpPr>
        <p:spPr>
          <a:xfrm>
            <a:off x="7452360" y="2148840"/>
            <a:ext cx="548640" cy="621792"/>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0" name="Shape 8"/>
          <p:cNvSpPr/>
          <p:nvPr/>
        </p:nvSpPr>
        <p:spPr>
          <a:xfrm>
            <a:off x="548640" y="2862072"/>
            <a:ext cx="7589520" cy="621792"/>
          </a:xfrm>
          <a:prstGeom prst="roundRect">
            <a:avLst>
              <a:gd name="adj" fmla="val 11765"/>
            </a:avLst>
          </a:prstGeom>
          <a:solidFill>
            <a:srgbClr val="1C2230"/>
          </a:solidFill>
          <a:ln w="12700">
            <a:solidFill>
              <a:srgbClr val="2E3648"/>
            </a:solidFill>
            <a:prstDash val="solid"/>
          </a:ln>
        </p:spPr>
      </p:sp>
      <p:sp>
        <p:nvSpPr>
          <p:cNvPr id="11" name="Shape 9"/>
          <p:cNvSpPr/>
          <p:nvPr/>
        </p:nvSpPr>
        <p:spPr>
          <a:xfrm>
            <a:off x="713232" y="3026664"/>
            <a:ext cx="292608" cy="292608"/>
          </a:xfrm>
          <a:prstGeom prst="ellipse">
            <a:avLst/>
          </a:prstGeom>
          <a:solidFill>
            <a:srgbClr val="232B3D"/>
          </a:solidFill>
          <a:ln w="12700">
            <a:solidFill>
              <a:srgbClr val="2FD9C9"/>
            </a:solidFill>
            <a:prstDash val="solid"/>
          </a:ln>
        </p:spPr>
      </p:sp>
      <p:sp>
        <p:nvSpPr>
          <p:cNvPr id="12" name="Text 10"/>
          <p:cNvSpPr/>
          <p:nvPr/>
        </p:nvSpPr>
        <p:spPr>
          <a:xfrm>
            <a:off x="713232" y="3026664"/>
            <a:ext cx="292608" cy="292608"/>
          </a:xfrm>
          <a:prstGeom prst="rect">
            <a:avLst/>
          </a:prstGeom>
          <a:noFill/>
          <a:ln/>
        </p:spPr>
        <p:txBody>
          <a:bodyPr wrap="square" rtlCol="0" anchor="ctr"/>
          <a:lstStyle/>
          <a:p>
            <a:pPr algn="ctr" indent="0" marL="0">
              <a:buNone/>
            </a:pPr>
            <a:r>
              <a:rPr lang="en-US" sz="1100" b="1" dirty="0">
                <a:solidFill>
                  <a:srgbClr val="2FD9C9"/>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143000" y="2862072"/>
            <a:ext cx="6309360" cy="621792"/>
          </a:xfrm>
          <a:prstGeom prst="rect">
            <a:avLst/>
          </a:prstGeom>
          <a:noFill/>
          <a:ln/>
        </p:spPr>
        <p:txBody>
          <a:bodyPr wrap="square" rtlCol="0" anchor="ctr"/>
          <a:lstStyle/>
          <a:p>
            <a:pPr indent="0" marL="0">
              <a:buNone/>
            </a:pPr>
            <a:r>
              <a:rPr lang="en-US" sz="1250" dirty="0">
                <a:solidFill>
                  <a:srgbClr val="E7ECF3"/>
                </a:solidFill>
                <a:latin typeface="Calibri" pitchFamily="34" charset="0"/>
                <a:ea typeface="Calibri" pitchFamily="34" charset="-122"/>
                <a:cs typeface="Calibri" pitchFamily="34" charset="-120"/>
              </a:rPr>
              <a:t>Asks a project question in the Streamlit UI</a:t>
            </a:r>
            <a:endParaRPr lang="en-US" sz="1250" dirty="0"/>
          </a:p>
        </p:txBody>
      </p:sp>
      <p:sp>
        <p:nvSpPr>
          <p:cNvPr id="14" name="Shape 12"/>
          <p:cNvSpPr/>
          <p:nvPr/>
        </p:nvSpPr>
        <p:spPr>
          <a:xfrm>
            <a:off x="548640" y="3575304"/>
            <a:ext cx="7589520" cy="621792"/>
          </a:xfrm>
          <a:prstGeom prst="roundRect">
            <a:avLst>
              <a:gd name="adj" fmla="val 11765"/>
            </a:avLst>
          </a:prstGeom>
          <a:solidFill>
            <a:srgbClr val="1C2230"/>
          </a:solidFill>
          <a:ln w="12700">
            <a:solidFill>
              <a:srgbClr val="2E3648"/>
            </a:solidFill>
            <a:prstDash val="solid"/>
          </a:ln>
        </p:spPr>
      </p:sp>
      <p:sp>
        <p:nvSpPr>
          <p:cNvPr id="15" name="Shape 13"/>
          <p:cNvSpPr/>
          <p:nvPr/>
        </p:nvSpPr>
        <p:spPr>
          <a:xfrm>
            <a:off x="713232" y="3739896"/>
            <a:ext cx="292608" cy="292608"/>
          </a:xfrm>
          <a:prstGeom prst="ellipse">
            <a:avLst/>
          </a:prstGeom>
          <a:solidFill>
            <a:srgbClr val="232B3D"/>
          </a:solidFill>
          <a:ln w="12700">
            <a:solidFill>
              <a:srgbClr val="2FD9C9"/>
            </a:solidFill>
            <a:prstDash val="solid"/>
          </a:ln>
        </p:spPr>
      </p:sp>
      <p:sp>
        <p:nvSpPr>
          <p:cNvPr id="16" name="Text 14"/>
          <p:cNvSpPr/>
          <p:nvPr/>
        </p:nvSpPr>
        <p:spPr>
          <a:xfrm>
            <a:off x="713232" y="3739896"/>
            <a:ext cx="292608" cy="292608"/>
          </a:xfrm>
          <a:prstGeom prst="rect">
            <a:avLst/>
          </a:prstGeom>
          <a:noFill/>
          <a:ln/>
        </p:spPr>
        <p:txBody>
          <a:bodyPr wrap="square" rtlCol="0" anchor="ctr"/>
          <a:lstStyle/>
          <a:p>
            <a:pPr algn="ctr" indent="0" marL="0">
              <a:buNone/>
            </a:pPr>
            <a:r>
              <a:rPr lang="en-US" sz="1100" b="1" dirty="0">
                <a:solidFill>
                  <a:srgbClr val="2FD9C9"/>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143000" y="3575304"/>
            <a:ext cx="6309360" cy="621792"/>
          </a:xfrm>
          <a:prstGeom prst="rect">
            <a:avLst/>
          </a:prstGeom>
          <a:noFill/>
          <a:ln/>
        </p:spPr>
        <p:txBody>
          <a:bodyPr wrap="square" rtlCol="0" anchor="ctr"/>
          <a:lstStyle/>
          <a:p>
            <a:pPr indent="0" marL="0">
              <a:buNone/>
            </a:pPr>
            <a:r>
              <a:rPr lang="en-US" sz="1250" dirty="0">
                <a:solidFill>
                  <a:srgbClr val="E7ECF3"/>
                </a:solidFill>
                <a:latin typeface="Calibri" pitchFamily="34" charset="0"/>
                <a:ea typeface="Calibri" pitchFamily="34" charset="-122"/>
                <a:cs typeface="Calibri" pitchFamily="34" charset="-120"/>
              </a:rPr>
              <a:t>UI calls the FastAPI /chat endpoint</a:t>
            </a:r>
            <a:endParaRPr lang="en-US" sz="1250" dirty="0"/>
          </a:p>
        </p:txBody>
      </p:sp>
      <p:sp>
        <p:nvSpPr>
          <p:cNvPr id="18" name="Shape 16"/>
          <p:cNvSpPr/>
          <p:nvPr/>
        </p:nvSpPr>
        <p:spPr>
          <a:xfrm>
            <a:off x="548640" y="4288536"/>
            <a:ext cx="7589520" cy="621792"/>
          </a:xfrm>
          <a:prstGeom prst="roundRect">
            <a:avLst>
              <a:gd name="adj" fmla="val 11765"/>
            </a:avLst>
          </a:prstGeom>
          <a:solidFill>
            <a:srgbClr val="1C2230"/>
          </a:solidFill>
          <a:ln w="12700">
            <a:solidFill>
              <a:srgbClr val="2E3648"/>
            </a:solidFill>
            <a:prstDash val="solid"/>
          </a:ln>
        </p:spPr>
      </p:sp>
      <p:sp>
        <p:nvSpPr>
          <p:cNvPr id="19" name="Shape 17"/>
          <p:cNvSpPr/>
          <p:nvPr/>
        </p:nvSpPr>
        <p:spPr>
          <a:xfrm>
            <a:off x="713232" y="4453128"/>
            <a:ext cx="292608" cy="292608"/>
          </a:xfrm>
          <a:prstGeom prst="ellipse">
            <a:avLst/>
          </a:prstGeom>
          <a:solidFill>
            <a:srgbClr val="232B3D"/>
          </a:solidFill>
          <a:ln w="12700">
            <a:solidFill>
              <a:srgbClr val="2FD9C9"/>
            </a:solidFill>
            <a:prstDash val="solid"/>
          </a:ln>
        </p:spPr>
      </p:sp>
      <p:sp>
        <p:nvSpPr>
          <p:cNvPr id="20" name="Text 18"/>
          <p:cNvSpPr/>
          <p:nvPr/>
        </p:nvSpPr>
        <p:spPr>
          <a:xfrm>
            <a:off x="713232" y="4453128"/>
            <a:ext cx="292608" cy="292608"/>
          </a:xfrm>
          <a:prstGeom prst="rect">
            <a:avLst/>
          </a:prstGeom>
          <a:noFill/>
          <a:ln/>
        </p:spPr>
        <p:txBody>
          <a:bodyPr wrap="square" rtlCol="0" anchor="ctr"/>
          <a:lstStyle/>
          <a:p>
            <a:pPr algn="ctr" indent="0" marL="0">
              <a:buNone/>
            </a:pPr>
            <a:r>
              <a:rPr lang="en-US" sz="1100" b="1" dirty="0">
                <a:solidFill>
                  <a:srgbClr val="2FD9C9"/>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1143000" y="4288536"/>
            <a:ext cx="6309360" cy="621792"/>
          </a:xfrm>
          <a:prstGeom prst="rect">
            <a:avLst/>
          </a:prstGeom>
          <a:noFill/>
          <a:ln/>
        </p:spPr>
        <p:txBody>
          <a:bodyPr wrap="square" rtlCol="0" anchor="ctr"/>
          <a:lstStyle/>
          <a:p>
            <a:pPr indent="0" marL="0">
              <a:buNone/>
            </a:pPr>
            <a:r>
              <a:rPr lang="en-US" sz="1250" dirty="0">
                <a:solidFill>
                  <a:srgbClr val="E7ECF3"/>
                </a:solidFill>
                <a:latin typeface="Calibri" pitchFamily="34" charset="0"/>
                <a:ea typeface="Calibri" pitchFamily="34" charset="-122"/>
                <a:cs typeface="Calibri" pitchFamily="34" charset="-120"/>
              </a:rPr>
              <a:t>PMI retrieves relevant project records</a:t>
            </a:r>
            <a:endParaRPr lang="en-US" sz="1250" dirty="0"/>
          </a:p>
        </p:txBody>
      </p:sp>
      <p:sp>
        <p:nvSpPr>
          <p:cNvPr id="22" name="Shape 20"/>
          <p:cNvSpPr/>
          <p:nvPr/>
        </p:nvSpPr>
        <p:spPr>
          <a:xfrm>
            <a:off x="548640" y="5001768"/>
            <a:ext cx="7589520" cy="621792"/>
          </a:xfrm>
          <a:prstGeom prst="roundRect">
            <a:avLst>
              <a:gd name="adj" fmla="val 11765"/>
            </a:avLst>
          </a:prstGeom>
          <a:solidFill>
            <a:srgbClr val="1C2230"/>
          </a:solidFill>
          <a:ln w="12700">
            <a:solidFill>
              <a:srgbClr val="2E3648"/>
            </a:solidFill>
            <a:prstDash val="solid"/>
          </a:ln>
        </p:spPr>
      </p:sp>
      <p:sp>
        <p:nvSpPr>
          <p:cNvPr id="23" name="Shape 21"/>
          <p:cNvSpPr/>
          <p:nvPr/>
        </p:nvSpPr>
        <p:spPr>
          <a:xfrm>
            <a:off x="713232" y="5166360"/>
            <a:ext cx="292608" cy="292608"/>
          </a:xfrm>
          <a:prstGeom prst="ellipse">
            <a:avLst/>
          </a:prstGeom>
          <a:solidFill>
            <a:srgbClr val="232B3D"/>
          </a:solidFill>
          <a:ln w="12700">
            <a:solidFill>
              <a:srgbClr val="2FD9C9"/>
            </a:solidFill>
            <a:prstDash val="solid"/>
          </a:ln>
        </p:spPr>
      </p:sp>
      <p:sp>
        <p:nvSpPr>
          <p:cNvPr id="24" name="Text 22"/>
          <p:cNvSpPr/>
          <p:nvPr/>
        </p:nvSpPr>
        <p:spPr>
          <a:xfrm>
            <a:off x="713232" y="5166360"/>
            <a:ext cx="292608" cy="292608"/>
          </a:xfrm>
          <a:prstGeom prst="rect">
            <a:avLst/>
          </a:prstGeom>
          <a:noFill/>
          <a:ln/>
        </p:spPr>
        <p:txBody>
          <a:bodyPr wrap="square" rtlCol="0" anchor="ctr"/>
          <a:lstStyle/>
          <a:p>
            <a:pPr algn="ctr" indent="0" marL="0">
              <a:buNone/>
            </a:pPr>
            <a:r>
              <a:rPr lang="en-US" sz="1100" b="1" dirty="0">
                <a:solidFill>
                  <a:srgbClr val="2FD9C9"/>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1143000" y="5001768"/>
            <a:ext cx="6309360" cy="621792"/>
          </a:xfrm>
          <a:prstGeom prst="rect">
            <a:avLst/>
          </a:prstGeom>
          <a:noFill/>
          <a:ln/>
        </p:spPr>
        <p:txBody>
          <a:bodyPr wrap="square" rtlCol="0" anchor="ctr"/>
          <a:lstStyle/>
          <a:p>
            <a:pPr indent="0" marL="0">
              <a:buNone/>
            </a:pPr>
            <a:r>
              <a:rPr lang="en-US" sz="1250" dirty="0">
                <a:solidFill>
                  <a:srgbClr val="E7ECF3"/>
                </a:solidFill>
                <a:latin typeface="Calibri" pitchFamily="34" charset="0"/>
                <a:ea typeface="Calibri" pitchFamily="34" charset="-122"/>
                <a:cs typeface="Calibri" pitchFamily="34" charset="-120"/>
              </a:rPr>
              <a:t>Answer returned with the active reference</a:t>
            </a:r>
            <a:endParaRPr lang="en-US" sz="1250" dirty="0"/>
          </a:p>
        </p:txBody>
      </p:sp>
      <p:sp>
        <p:nvSpPr>
          <p:cNvPr id="26" name="Shape 24"/>
          <p:cNvSpPr/>
          <p:nvPr/>
        </p:nvSpPr>
        <p:spPr>
          <a:xfrm>
            <a:off x="548640" y="5715000"/>
            <a:ext cx="7589520" cy="621792"/>
          </a:xfrm>
          <a:prstGeom prst="roundRect">
            <a:avLst>
              <a:gd name="adj" fmla="val 11765"/>
            </a:avLst>
          </a:prstGeom>
          <a:solidFill>
            <a:srgbClr val="1C2230"/>
          </a:solidFill>
          <a:ln w="12700">
            <a:solidFill>
              <a:srgbClr val="2E3648"/>
            </a:solidFill>
            <a:prstDash val="solid"/>
          </a:ln>
        </p:spPr>
      </p:sp>
      <p:sp>
        <p:nvSpPr>
          <p:cNvPr id="27" name="Shape 25"/>
          <p:cNvSpPr/>
          <p:nvPr/>
        </p:nvSpPr>
        <p:spPr>
          <a:xfrm>
            <a:off x="713232" y="5879592"/>
            <a:ext cx="292608" cy="292608"/>
          </a:xfrm>
          <a:prstGeom prst="ellipse">
            <a:avLst/>
          </a:prstGeom>
          <a:solidFill>
            <a:srgbClr val="232B3D"/>
          </a:solidFill>
          <a:ln w="12700">
            <a:solidFill>
              <a:srgbClr val="2FD9C9"/>
            </a:solidFill>
            <a:prstDash val="solid"/>
          </a:ln>
        </p:spPr>
      </p:sp>
      <p:sp>
        <p:nvSpPr>
          <p:cNvPr id="28" name="Text 26"/>
          <p:cNvSpPr/>
          <p:nvPr/>
        </p:nvSpPr>
        <p:spPr>
          <a:xfrm>
            <a:off x="713232" y="5879592"/>
            <a:ext cx="292608" cy="292608"/>
          </a:xfrm>
          <a:prstGeom prst="rect">
            <a:avLst/>
          </a:prstGeom>
          <a:noFill/>
          <a:ln/>
        </p:spPr>
        <p:txBody>
          <a:bodyPr wrap="square" rtlCol="0" anchor="ctr"/>
          <a:lstStyle/>
          <a:p>
            <a:pPr algn="ctr" indent="0" marL="0">
              <a:buNone/>
            </a:pPr>
            <a:r>
              <a:rPr lang="en-US" sz="1100" b="1" dirty="0">
                <a:solidFill>
                  <a:srgbClr val="2FD9C9"/>
                </a:solidFill>
                <a:latin typeface="Calibri" pitchFamily="34" charset="0"/>
                <a:ea typeface="Calibri" pitchFamily="34" charset="-122"/>
                <a:cs typeface="Calibri" pitchFamily="34" charset="-120"/>
              </a:rPr>
              <a:t>6</a:t>
            </a:r>
            <a:endParaRPr lang="en-US" sz="1100" dirty="0"/>
          </a:p>
        </p:txBody>
      </p:sp>
      <p:sp>
        <p:nvSpPr>
          <p:cNvPr id="29" name="Text 27"/>
          <p:cNvSpPr/>
          <p:nvPr/>
        </p:nvSpPr>
        <p:spPr>
          <a:xfrm>
            <a:off x="1143000" y="5715000"/>
            <a:ext cx="6309360" cy="621792"/>
          </a:xfrm>
          <a:prstGeom prst="rect">
            <a:avLst/>
          </a:prstGeom>
          <a:noFill/>
          <a:ln/>
        </p:spPr>
        <p:txBody>
          <a:bodyPr wrap="square" rtlCol="0" anchor="ctr"/>
          <a:lstStyle/>
          <a:p>
            <a:pPr indent="0" marL="0">
              <a:buNone/>
            </a:pPr>
            <a:r>
              <a:rPr lang="en-US" sz="1250" dirty="0">
                <a:solidFill>
                  <a:srgbClr val="E7ECF3"/>
                </a:solidFill>
                <a:latin typeface="Calibri" pitchFamily="34" charset="0"/>
                <a:ea typeface="Calibri" pitchFamily="34" charset="-122"/>
                <a:cs typeface="Calibri" pitchFamily="34" charset="-120"/>
              </a:rPr>
              <a:t>Chat sessions and messages are persisted</a:t>
            </a:r>
            <a:endParaRPr lang="en-US" sz="1250" dirty="0"/>
          </a:p>
        </p:txBody>
      </p:sp>
      <p:sp>
        <p:nvSpPr>
          <p:cNvPr id="30" name="Text 28"/>
          <p:cNvSpPr/>
          <p:nvPr/>
        </p:nvSpPr>
        <p:spPr>
          <a:xfrm>
            <a:off x="7452360" y="5715000"/>
            <a:ext cx="548640" cy="621792"/>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31" name="Shape 29"/>
          <p:cNvSpPr/>
          <p:nvPr/>
        </p:nvSpPr>
        <p:spPr>
          <a:xfrm>
            <a:off x="8412480" y="2148840"/>
            <a:ext cx="3200400" cy="3566160"/>
          </a:xfrm>
          <a:prstGeom prst="roundRect">
            <a:avLst>
              <a:gd name="adj" fmla="val 2857"/>
            </a:avLst>
          </a:prstGeom>
          <a:solidFill>
            <a:srgbClr val="1C2230"/>
          </a:solidFill>
          <a:ln w="12700">
            <a:solidFill>
              <a:srgbClr val="2E3648"/>
            </a:solidFill>
            <a:prstDash val="solid"/>
          </a:ln>
        </p:spPr>
      </p:sp>
      <p:sp>
        <p:nvSpPr>
          <p:cNvPr id="32" name="Text 30"/>
          <p:cNvSpPr/>
          <p:nvPr/>
        </p:nvSpPr>
        <p:spPr>
          <a:xfrm>
            <a:off x="8686800" y="2331720"/>
            <a:ext cx="2651760" cy="256032"/>
          </a:xfrm>
          <a:prstGeom prst="rect">
            <a:avLst/>
          </a:prstGeom>
          <a:noFill/>
          <a:ln/>
        </p:spPr>
        <p:txBody>
          <a:bodyPr wrap="square" rtlCol="0" anchor="ctr"/>
          <a:lstStyle/>
          <a:p>
            <a:pPr indent="0" marL="0">
              <a:buNone/>
            </a:pPr>
            <a:r>
              <a:rPr lang="en-US" sz="950" b="1" spc="100" kern="0" dirty="0">
                <a:solidFill>
                  <a:srgbClr val="2FD9C9"/>
                </a:solidFill>
                <a:latin typeface="Calibri" pitchFamily="34" charset="0"/>
                <a:ea typeface="Calibri" pitchFamily="34" charset="-122"/>
                <a:cs typeface="Calibri" pitchFamily="34" charset="-120"/>
              </a:rPr>
              <a:t>API ENDPOINT</a:t>
            </a:r>
            <a:endParaRPr lang="en-US" sz="950" dirty="0"/>
          </a:p>
        </p:txBody>
      </p:sp>
      <p:sp>
        <p:nvSpPr>
          <p:cNvPr id="33" name="Shape 31"/>
          <p:cNvSpPr/>
          <p:nvPr/>
        </p:nvSpPr>
        <p:spPr>
          <a:xfrm>
            <a:off x="8686800" y="2651760"/>
            <a:ext cx="2651760" cy="457200"/>
          </a:xfrm>
          <a:prstGeom prst="roundRect">
            <a:avLst>
              <a:gd name="adj" fmla="val 12000"/>
            </a:avLst>
          </a:prstGeom>
          <a:solidFill>
            <a:srgbClr val="232B3D"/>
          </a:solidFill>
          <a:ln w="12700">
            <a:solidFill>
              <a:srgbClr val="2E3648"/>
            </a:solidFill>
            <a:prstDash val="solid"/>
          </a:ln>
        </p:spPr>
      </p:sp>
      <p:sp>
        <p:nvSpPr>
          <p:cNvPr id="34" name="Text 32"/>
          <p:cNvSpPr/>
          <p:nvPr/>
        </p:nvSpPr>
        <p:spPr>
          <a:xfrm>
            <a:off x="8823960" y="2651760"/>
            <a:ext cx="2377440" cy="457200"/>
          </a:xfrm>
          <a:prstGeom prst="rect">
            <a:avLst/>
          </a:prstGeom>
          <a:noFill/>
          <a:ln/>
        </p:spPr>
        <p:txBody>
          <a:bodyPr wrap="square" rtlCol="0" anchor="ctr"/>
          <a:lstStyle/>
          <a:p>
            <a:pPr indent="0" marL="0">
              <a:buNone/>
            </a:pPr>
            <a:r>
              <a:rPr lang="en-US" sz="1300" dirty="0">
                <a:solidFill>
                  <a:srgbClr val="2FD9C9"/>
                </a:solidFill>
                <a:latin typeface="Consolas" pitchFamily="34" charset="0"/>
                <a:ea typeface="Consolas" pitchFamily="34" charset="-122"/>
                <a:cs typeface="Consolas" pitchFamily="34" charset="-120"/>
              </a:rPr>
              <a:t>POST /chat</a:t>
            </a:r>
            <a:endParaRPr lang="en-US" sz="1300" dirty="0"/>
          </a:p>
        </p:txBody>
      </p:sp>
      <p:sp>
        <p:nvSpPr>
          <p:cNvPr id="35" name="Text 33"/>
          <p:cNvSpPr/>
          <p:nvPr/>
        </p:nvSpPr>
        <p:spPr>
          <a:xfrm>
            <a:off x="8686800" y="3337560"/>
            <a:ext cx="2651760" cy="256032"/>
          </a:xfrm>
          <a:prstGeom prst="rect">
            <a:avLst/>
          </a:prstGeom>
          <a:noFill/>
          <a:ln/>
        </p:spPr>
        <p:txBody>
          <a:bodyPr wrap="square" rtlCol="0" anchor="ctr"/>
          <a:lstStyle/>
          <a:p>
            <a:pPr indent="0" marL="0">
              <a:buNone/>
            </a:pPr>
            <a:r>
              <a:rPr lang="en-US" sz="950" b="1" spc="100" kern="0" dirty="0">
                <a:solidFill>
                  <a:srgbClr val="2FD9C9"/>
                </a:solidFill>
                <a:latin typeface="Calibri" pitchFamily="34" charset="0"/>
                <a:ea typeface="Calibri" pitchFamily="34" charset="-122"/>
                <a:cs typeface="Calibri" pitchFamily="34" charset="-120"/>
              </a:rPr>
              <a:t>AUTHENTICATION</a:t>
            </a:r>
            <a:endParaRPr lang="en-US" sz="950" dirty="0"/>
          </a:p>
        </p:txBody>
      </p:sp>
      <p:sp>
        <p:nvSpPr>
          <p:cNvPr id="36" name="Text 34"/>
          <p:cNvSpPr/>
          <p:nvPr/>
        </p:nvSpPr>
        <p:spPr>
          <a:xfrm>
            <a:off x="8686800" y="3639312"/>
            <a:ext cx="2651760" cy="731520"/>
          </a:xfrm>
          <a:prstGeom prst="rect">
            <a:avLst/>
          </a:prstGeom>
          <a:noFill/>
          <a:ln/>
        </p:spPr>
        <p:txBody>
          <a:bodyPr wrap="square" rtlCol="0" anchor="ctr"/>
          <a:lstStyle/>
          <a:p>
            <a:pPr indent="0" marL="0">
              <a:lnSpc>
                <a:spcPct val="130000"/>
              </a:lnSpc>
              <a:buNone/>
            </a:pPr>
            <a:r>
              <a:rPr lang="en-US" sz="1150" dirty="0">
                <a:solidFill>
                  <a:srgbClr val="E7ECF3"/>
                </a:solidFill>
                <a:latin typeface="Calibri" pitchFamily="34" charset="0"/>
                <a:ea typeface="Calibri" pitchFamily="34" charset="-122"/>
                <a:cs typeface="Calibri" pitchFamily="34" charset="-120"/>
              </a:rPr>
              <a:t>Persistent authentication cookies protect the chat application.</a:t>
            </a:r>
            <a:endParaRPr lang="en-US" sz="1150" dirty="0"/>
          </a:p>
        </p:txBody>
      </p:sp>
      <p:sp>
        <p:nvSpPr>
          <p:cNvPr id="37" name="Text 35"/>
          <p:cNvSpPr/>
          <p:nvPr/>
        </p:nvSpPr>
        <p:spPr>
          <a:xfrm>
            <a:off x="8686800" y="4480560"/>
            <a:ext cx="2651760" cy="256032"/>
          </a:xfrm>
          <a:prstGeom prst="rect">
            <a:avLst/>
          </a:prstGeom>
          <a:noFill/>
          <a:ln/>
        </p:spPr>
        <p:txBody>
          <a:bodyPr wrap="square" rtlCol="0" anchor="ctr"/>
          <a:lstStyle/>
          <a:p>
            <a:pPr indent="0" marL="0">
              <a:buNone/>
            </a:pPr>
            <a:r>
              <a:rPr lang="en-US" sz="950" b="1" spc="100" kern="0" dirty="0">
                <a:solidFill>
                  <a:srgbClr val="2FD9C9"/>
                </a:solidFill>
                <a:latin typeface="Calibri" pitchFamily="34" charset="0"/>
                <a:ea typeface="Calibri" pitchFamily="34" charset="-122"/>
                <a:cs typeface="Calibri" pitchFamily="34" charset="-120"/>
              </a:rPr>
              <a:t>PERSISTENCE</a:t>
            </a:r>
            <a:endParaRPr lang="en-US" sz="950" dirty="0"/>
          </a:p>
        </p:txBody>
      </p:sp>
      <p:sp>
        <p:nvSpPr>
          <p:cNvPr id="38" name="Text 36"/>
          <p:cNvSpPr/>
          <p:nvPr/>
        </p:nvSpPr>
        <p:spPr>
          <a:xfrm>
            <a:off x="8686800" y="4773168"/>
            <a:ext cx="2651760" cy="731520"/>
          </a:xfrm>
          <a:prstGeom prst="rect">
            <a:avLst/>
          </a:prstGeom>
          <a:noFill/>
          <a:ln/>
        </p:spPr>
        <p:txBody>
          <a:bodyPr wrap="square" rtlCol="0" anchor="ctr"/>
          <a:lstStyle/>
          <a:p>
            <a:pPr indent="0" marL="0">
              <a:lnSpc>
                <a:spcPct val="130000"/>
              </a:lnSpc>
              <a:buNone/>
            </a:pPr>
            <a:r>
              <a:rPr lang="en-US" sz="1150" dirty="0">
                <a:solidFill>
                  <a:srgbClr val="E7ECF3"/>
                </a:solidFill>
                <a:latin typeface="Calibri" pitchFamily="34" charset="0"/>
                <a:ea typeface="Calibri" pitchFamily="34" charset="-122"/>
                <a:cs typeface="Calibri" pitchFamily="34" charset="-120"/>
              </a:rPr>
              <a:t>Chat sessions and messages persist across visits.</a:t>
            </a:r>
            <a:endParaRPr lang="en-US" sz="1150" dirty="0"/>
          </a:p>
        </p:txBody>
      </p:sp>
      <p:sp>
        <p:nvSpPr>
          <p:cNvPr id="39" name="Text 37"/>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09 / 14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DELIVERY</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Automated Pull Request review</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Historical context, delivered as review feedback — not autonomous merging.</a:t>
            </a:r>
            <a:endParaRPr lang="en-US" sz="1450" dirty="0"/>
          </a:p>
        </p:txBody>
      </p:sp>
      <p:sp>
        <p:nvSpPr>
          <p:cNvPr id="5" name="Shape 3"/>
          <p:cNvSpPr/>
          <p:nvPr/>
        </p:nvSpPr>
        <p:spPr>
          <a:xfrm>
            <a:off x="1600200" y="2606040"/>
            <a:ext cx="9144" cy="3520440"/>
          </a:xfrm>
          <a:prstGeom prst="line">
            <a:avLst/>
          </a:prstGeom>
          <a:noFill/>
          <a:ln w="12700">
            <a:solidFill>
              <a:srgbClr val="2E3648"/>
            </a:solidFill>
            <a:prstDash val="dash"/>
          </a:ln>
        </p:spPr>
      </p:sp>
      <p:sp>
        <p:nvSpPr>
          <p:cNvPr id="6" name="Shape 4"/>
          <p:cNvSpPr/>
          <p:nvPr/>
        </p:nvSpPr>
        <p:spPr>
          <a:xfrm>
            <a:off x="685800" y="2148840"/>
            <a:ext cx="1828800" cy="457200"/>
          </a:xfrm>
          <a:prstGeom prst="roundRect">
            <a:avLst>
              <a:gd name="adj" fmla="val 12000"/>
            </a:avLst>
          </a:prstGeom>
          <a:solidFill>
            <a:srgbClr val="232B3D"/>
          </a:solidFill>
          <a:ln w="12700">
            <a:solidFill>
              <a:srgbClr val="2E3648"/>
            </a:solidFill>
            <a:prstDash val="solid"/>
          </a:ln>
        </p:spPr>
      </p:sp>
      <p:sp>
        <p:nvSpPr>
          <p:cNvPr id="7" name="Text 5"/>
          <p:cNvSpPr/>
          <p:nvPr/>
        </p:nvSpPr>
        <p:spPr>
          <a:xfrm>
            <a:off x="685800" y="2148840"/>
            <a:ext cx="1828800" cy="457200"/>
          </a:xfrm>
          <a:prstGeom prst="rect">
            <a:avLst/>
          </a:prstGeom>
          <a:noFill/>
          <a:ln/>
        </p:spPr>
        <p:txBody>
          <a:bodyPr wrap="square" rtlCol="0" anchor="ctr"/>
          <a:lstStyle/>
          <a:p>
            <a:pPr algn="ctr" indent="0" marL="0">
              <a:buNone/>
            </a:pPr>
            <a:r>
              <a:rPr lang="en-US" sz="1050" b="1" dirty="0">
                <a:solidFill>
                  <a:srgbClr val="E7ECF3"/>
                </a:solidFill>
                <a:latin typeface="Calibri" pitchFamily="34" charset="0"/>
                <a:ea typeface="Calibri" pitchFamily="34" charset="-122"/>
                <a:cs typeface="Calibri" pitchFamily="34" charset="-120"/>
              </a:rPr>
              <a:t>Developer</a:t>
            </a:r>
            <a:endParaRPr lang="en-US" sz="1050" dirty="0"/>
          </a:p>
        </p:txBody>
      </p:sp>
      <p:sp>
        <p:nvSpPr>
          <p:cNvPr id="8" name="Shape 6"/>
          <p:cNvSpPr/>
          <p:nvPr/>
        </p:nvSpPr>
        <p:spPr>
          <a:xfrm>
            <a:off x="3703320" y="2606040"/>
            <a:ext cx="9144" cy="3520440"/>
          </a:xfrm>
          <a:prstGeom prst="line">
            <a:avLst/>
          </a:prstGeom>
          <a:noFill/>
          <a:ln w="12700">
            <a:solidFill>
              <a:srgbClr val="2E3648"/>
            </a:solidFill>
            <a:prstDash val="dash"/>
          </a:ln>
        </p:spPr>
      </p:sp>
      <p:sp>
        <p:nvSpPr>
          <p:cNvPr id="9" name="Shape 7"/>
          <p:cNvSpPr/>
          <p:nvPr/>
        </p:nvSpPr>
        <p:spPr>
          <a:xfrm>
            <a:off x="2788920" y="2148840"/>
            <a:ext cx="1828800" cy="457200"/>
          </a:xfrm>
          <a:prstGeom prst="roundRect">
            <a:avLst>
              <a:gd name="adj" fmla="val 12000"/>
            </a:avLst>
          </a:prstGeom>
          <a:solidFill>
            <a:srgbClr val="232B3D"/>
          </a:solidFill>
          <a:ln w="12700">
            <a:solidFill>
              <a:srgbClr val="2E3648"/>
            </a:solidFill>
            <a:prstDash val="solid"/>
          </a:ln>
        </p:spPr>
      </p:sp>
      <p:sp>
        <p:nvSpPr>
          <p:cNvPr id="10" name="Text 8"/>
          <p:cNvSpPr/>
          <p:nvPr/>
        </p:nvSpPr>
        <p:spPr>
          <a:xfrm>
            <a:off x="2788920" y="2148840"/>
            <a:ext cx="1828800" cy="457200"/>
          </a:xfrm>
          <a:prstGeom prst="rect">
            <a:avLst/>
          </a:prstGeom>
          <a:noFill/>
          <a:ln/>
        </p:spPr>
        <p:txBody>
          <a:bodyPr wrap="square" rtlCol="0" anchor="ctr"/>
          <a:lstStyle/>
          <a:p>
            <a:pPr algn="ctr" indent="0" marL="0">
              <a:buNone/>
            </a:pPr>
            <a:r>
              <a:rPr lang="en-US" sz="1050" b="1" dirty="0">
                <a:solidFill>
                  <a:srgbClr val="E7ECF3"/>
                </a:solidFill>
                <a:latin typeface="Calibri" pitchFamily="34" charset="0"/>
                <a:ea typeface="Calibri" pitchFamily="34" charset="-122"/>
                <a:cs typeface="Calibri" pitchFamily="34" charset="-120"/>
              </a:rPr>
              <a:t>GitHub PR</a:t>
            </a:r>
            <a:endParaRPr lang="en-US" sz="1050" dirty="0"/>
          </a:p>
        </p:txBody>
      </p:sp>
      <p:sp>
        <p:nvSpPr>
          <p:cNvPr id="11" name="Shape 9"/>
          <p:cNvSpPr/>
          <p:nvPr/>
        </p:nvSpPr>
        <p:spPr>
          <a:xfrm>
            <a:off x="5806440" y="2606040"/>
            <a:ext cx="9144" cy="3520440"/>
          </a:xfrm>
          <a:prstGeom prst="line">
            <a:avLst/>
          </a:prstGeom>
          <a:noFill/>
          <a:ln w="12700">
            <a:solidFill>
              <a:srgbClr val="2E3648"/>
            </a:solidFill>
            <a:prstDash val="dash"/>
          </a:ln>
        </p:spPr>
      </p:sp>
      <p:sp>
        <p:nvSpPr>
          <p:cNvPr id="12" name="Shape 10"/>
          <p:cNvSpPr/>
          <p:nvPr/>
        </p:nvSpPr>
        <p:spPr>
          <a:xfrm>
            <a:off x="4892040" y="2148840"/>
            <a:ext cx="1828800" cy="457200"/>
          </a:xfrm>
          <a:prstGeom prst="roundRect">
            <a:avLst>
              <a:gd name="adj" fmla="val 12000"/>
            </a:avLst>
          </a:prstGeom>
          <a:solidFill>
            <a:srgbClr val="232B3D"/>
          </a:solidFill>
          <a:ln w="12700">
            <a:solidFill>
              <a:srgbClr val="2E3648"/>
            </a:solidFill>
            <a:prstDash val="solid"/>
          </a:ln>
        </p:spPr>
      </p:sp>
      <p:sp>
        <p:nvSpPr>
          <p:cNvPr id="13" name="Text 11"/>
          <p:cNvSpPr/>
          <p:nvPr/>
        </p:nvSpPr>
        <p:spPr>
          <a:xfrm>
            <a:off x="4892040" y="2148840"/>
            <a:ext cx="1828800" cy="457200"/>
          </a:xfrm>
          <a:prstGeom prst="rect">
            <a:avLst/>
          </a:prstGeom>
          <a:noFill/>
          <a:ln/>
        </p:spPr>
        <p:txBody>
          <a:bodyPr wrap="square" rtlCol="0" anchor="ctr"/>
          <a:lstStyle/>
          <a:p>
            <a:pPr algn="ctr" indent="0" marL="0">
              <a:buNone/>
            </a:pPr>
            <a:r>
              <a:rPr lang="en-US" sz="1050" b="1" dirty="0">
                <a:solidFill>
                  <a:srgbClr val="E7ECF3"/>
                </a:solidFill>
                <a:latin typeface="Calibri" pitchFamily="34" charset="0"/>
                <a:ea typeface="Calibri" pitchFamily="34" charset="-122"/>
                <a:cs typeface="Calibri" pitchFamily="34" charset="-120"/>
              </a:rPr>
              <a:t>GitHub Actions</a:t>
            </a:r>
            <a:endParaRPr lang="en-US" sz="1050" dirty="0"/>
          </a:p>
        </p:txBody>
      </p:sp>
      <p:sp>
        <p:nvSpPr>
          <p:cNvPr id="14" name="Shape 12"/>
          <p:cNvSpPr/>
          <p:nvPr/>
        </p:nvSpPr>
        <p:spPr>
          <a:xfrm>
            <a:off x="7909560" y="2606040"/>
            <a:ext cx="9144" cy="3520440"/>
          </a:xfrm>
          <a:prstGeom prst="line">
            <a:avLst/>
          </a:prstGeom>
          <a:noFill/>
          <a:ln w="12700">
            <a:solidFill>
              <a:srgbClr val="2E3648"/>
            </a:solidFill>
            <a:prstDash val="dash"/>
          </a:ln>
        </p:spPr>
      </p:sp>
      <p:sp>
        <p:nvSpPr>
          <p:cNvPr id="15" name="Shape 13"/>
          <p:cNvSpPr/>
          <p:nvPr/>
        </p:nvSpPr>
        <p:spPr>
          <a:xfrm>
            <a:off x="6995160" y="2148840"/>
            <a:ext cx="1828800" cy="457200"/>
          </a:xfrm>
          <a:prstGeom prst="roundRect">
            <a:avLst>
              <a:gd name="adj" fmla="val 12000"/>
            </a:avLst>
          </a:prstGeom>
          <a:solidFill>
            <a:srgbClr val="232B3D"/>
          </a:solidFill>
          <a:ln w="12700">
            <a:solidFill>
              <a:srgbClr val="2E3648"/>
            </a:solidFill>
            <a:prstDash val="solid"/>
          </a:ln>
        </p:spPr>
      </p:sp>
      <p:sp>
        <p:nvSpPr>
          <p:cNvPr id="16" name="Text 14"/>
          <p:cNvSpPr/>
          <p:nvPr/>
        </p:nvSpPr>
        <p:spPr>
          <a:xfrm>
            <a:off x="6995160" y="2148840"/>
            <a:ext cx="1828800" cy="457200"/>
          </a:xfrm>
          <a:prstGeom prst="rect">
            <a:avLst/>
          </a:prstGeom>
          <a:noFill/>
          <a:ln/>
        </p:spPr>
        <p:txBody>
          <a:bodyPr wrap="square" rtlCol="0" anchor="ctr"/>
          <a:lstStyle/>
          <a:p>
            <a:pPr algn="ctr" indent="0" marL="0">
              <a:buNone/>
            </a:pPr>
            <a:r>
              <a:rPr lang="en-US" sz="1050" b="1" dirty="0">
                <a:solidFill>
                  <a:srgbClr val="E7ECF3"/>
                </a:solidFill>
                <a:latin typeface="Calibri" pitchFamily="34" charset="0"/>
                <a:ea typeface="Calibri" pitchFamily="34" charset="-122"/>
                <a:cs typeface="Calibri" pitchFamily="34" charset="-120"/>
              </a:rPr>
              <a:t>PMI Pipeline</a:t>
            </a:r>
            <a:endParaRPr lang="en-US" sz="1050" dirty="0"/>
          </a:p>
        </p:txBody>
      </p:sp>
      <p:sp>
        <p:nvSpPr>
          <p:cNvPr id="17" name="Shape 15"/>
          <p:cNvSpPr/>
          <p:nvPr/>
        </p:nvSpPr>
        <p:spPr>
          <a:xfrm>
            <a:off x="10012680" y="2606040"/>
            <a:ext cx="9144" cy="3520440"/>
          </a:xfrm>
          <a:prstGeom prst="line">
            <a:avLst/>
          </a:prstGeom>
          <a:noFill/>
          <a:ln w="12700">
            <a:solidFill>
              <a:srgbClr val="2E3648"/>
            </a:solidFill>
            <a:prstDash val="dash"/>
          </a:ln>
        </p:spPr>
      </p:sp>
      <p:sp>
        <p:nvSpPr>
          <p:cNvPr id="18" name="Shape 16"/>
          <p:cNvSpPr/>
          <p:nvPr/>
        </p:nvSpPr>
        <p:spPr>
          <a:xfrm>
            <a:off x="9098280" y="2148840"/>
            <a:ext cx="1828800" cy="457200"/>
          </a:xfrm>
          <a:prstGeom prst="roundRect">
            <a:avLst>
              <a:gd name="adj" fmla="val 12000"/>
            </a:avLst>
          </a:prstGeom>
          <a:solidFill>
            <a:srgbClr val="232B3D"/>
          </a:solidFill>
          <a:ln w="12700">
            <a:solidFill>
              <a:srgbClr val="2E3648"/>
            </a:solidFill>
            <a:prstDash val="solid"/>
          </a:ln>
        </p:spPr>
      </p:sp>
      <p:sp>
        <p:nvSpPr>
          <p:cNvPr id="19" name="Text 17"/>
          <p:cNvSpPr/>
          <p:nvPr/>
        </p:nvSpPr>
        <p:spPr>
          <a:xfrm>
            <a:off x="9098280" y="2148840"/>
            <a:ext cx="1828800" cy="457200"/>
          </a:xfrm>
          <a:prstGeom prst="rect">
            <a:avLst/>
          </a:prstGeom>
          <a:noFill/>
          <a:ln/>
        </p:spPr>
        <p:txBody>
          <a:bodyPr wrap="square" rtlCol="0" anchor="ctr"/>
          <a:lstStyle/>
          <a:p>
            <a:pPr algn="ctr" indent="0" marL="0">
              <a:buNone/>
            </a:pPr>
            <a:r>
              <a:rPr lang="en-US" sz="1050" b="1" dirty="0">
                <a:solidFill>
                  <a:srgbClr val="E7ECF3"/>
                </a:solidFill>
                <a:latin typeface="Calibri" pitchFamily="34" charset="0"/>
                <a:ea typeface="Calibri" pitchFamily="34" charset="-122"/>
                <a:cs typeface="Calibri" pitchFamily="34" charset="-120"/>
              </a:rPr>
              <a:t>ChromaDB</a:t>
            </a:r>
            <a:endParaRPr lang="en-US" sz="1050" dirty="0"/>
          </a:p>
        </p:txBody>
      </p:sp>
      <p:sp>
        <p:nvSpPr>
          <p:cNvPr id="20" name="Shape 18"/>
          <p:cNvSpPr/>
          <p:nvPr/>
        </p:nvSpPr>
        <p:spPr>
          <a:xfrm>
            <a:off x="1600200" y="2788920"/>
            <a:ext cx="2103120" cy="9144"/>
          </a:xfrm>
          <a:prstGeom prst="line">
            <a:avLst/>
          </a:prstGeom>
          <a:noFill/>
          <a:ln w="19050">
            <a:solidFill>
              <a:srgbClr val="2FD9C9"/>
            </a:solidFill>
            <a:prstDash val="solid"/>
            <a:tailEnd type="triangle"/>
          </a:ln>
        </p:spPr>
      </p:sp>
      <p:sp>
        <p:nvSpPr>
          <p:cNvPr id="21" name="Text 19"/>
          <p:cNvSpPr/>
          <p:nvPr/>
        </p:nvSpPr>
        <p:spPr>
          <a:xfrm>
            <a:off x="1600200" y="2606040"/>
            <a:ext cx="2103120" cy="274320"/>
          </a:xfrm>
          <a:prstGeom prst="rect">
            <a:avLst/>
          </a:prstGeom>
          <a:noFill/>
          <a:ln/>
        </p:spPr>
        <p:txBody>
          <a:bodyPr wrap="square" rtlCol="0" anchor="ctr"/>
          <a:lstStyle/>
          <a:p>
            <a:pPr algn="ctr" indent="0" marL="0">
              <a:buNone/>
            </a:pPr>
            <a:r>
              <a:rPr lang="en-US" sz="950" dirty="0">
                <a:solidFill>
                  <a:srgbClr val="E7ECF3"/>
                </a:solidFill>
                <a:latin typeface="Calibri" pitchFamily="34" charset="0"/>
                <a:ea typeface="Calibri" pitchFamily="34" charset="-122"/>
                <a:cs typeface="Calibri" pitchFamily="34" charset="-120"/>
              </a:rPr>
              <a:t>Open / update PR</a:t>
            </a:r>
            <a:endParaRPr lang="en-US" sz="950" dirty="0"/>
          </a:p>
        </p:txBody>
      </p:sp>
      <p:sp>
        <p:nvSpPr>
          <p:cNvPr id="22" name="Shape 20"/>
          <p:cNvSpPr/>
          <p:nvPr/>
        </p:nvSpPr>
        <p:spPr>
          <a:xfrm>
            <a:off x="3703320" y="3209544"/>
            <a:ext cx="2103120" cy="9144"/>
          </a:xfrm>
          <a:prstGeom prst="line">
            <a:avLst/>
          </a:prstGeom>
          <a:noFill/>
          <a:ln w="19050">
            <a:solidFill>
              <a:srgbClr val="2FD9C9"/>
            </a:solidFill>
            <a:prstDash val="solid"/>
            <a:tailEnd type="triangle"/>
          </a:ln>
        </p:spPr>
      </p:sp>
      <p:sp>
        <p:nvSpPr>
          <p:cNvPr id="23" name="Text 21"/>
          <p:cNvSpPr/>
          <p:nvPr/>
        </p:nvSpPr>
        <p:spPr>
          <a:xfrm>
            <a:off x="3703320" y="3026664"/>
            <a:ext cx="2103120" cy="274320"/>
          </a:xfrm>
          <a:prstGeom prst="rect">
            <a:avLst/>
          </a:prstGeom>
          <a:noFill/>
          <a:ln/>
        </p:spPr>
        <p:txBody>
          <a:bodyPr wrap="square" rtlCol="0" anchor="ctr"/>
          <a:lstStyle/>
          <a:p>
            <a:pPr algn="ctr" indent="0" marL="0">
              <a:buNone/>
            </a:pPr>
            <a:r>
              <a:rPr lang="en-US" sz="950" dirty="0">
                <a:solidFill>
                  <a:srgbClr val="E7ECF3"/>
                </a:solidFill>
                <a:latin typeface="Calibri" pitchFamily="34" charset="0"/>
                <a:ea typeface="Calibri" pitchFamily="34" charset="-122"/>
                <a:cs typeface="Calibri" pitchFamily="34" charset="-120"/>
              </a:rPr>
              <a:t>Trigger workflow</a:t>
            </a:r>
            <a:endParaRPr lang="en-US" sz="950" dirty="0"/>
          </a:p>
        </p:txBody>
      </p:sp>
      <p:sp>
        <p:nvSpPr>
          <p:cNvPr id="24" name="Text 22"/>
          <p:cNvSpPr/>
          <p:nvPr/>
        </p:nvSpPr>
        <p:spPr>
          <a:xfrm>
            <a:off x="5897880" y="3520440"/>
            <a:ext cx="2651760" cy="274320"/>
          </a:xfrm>
          <a:prstGeom prst="rect">
            <a:avLst/>
          </a:prstGeom>
          <a:noFill/>
          <a:ln/>
        </p:spPr>
        <p:txBody>
          <a:bodyPr wrap="square" rtlCol="0" anchor="ctr"/>
          <a:lstStyle/>
          <a:p>
            <a:pPr indent="0" marL="0">
              <a:buNone/>
            </a:pPr>
            <a:r>
              <a:rPr lang="en-US" sz="950" i="1" dirty="0">
                <a:solidFill>
                  <a:srgbClr val="8A93A6"/>
                </a:solidFill>
                <a:latin typeface="Calibri" pitchFamily="34" charset="0"/>
                <a:ea typeface="Calibri" pitchFamily="34" charset="-122"/>
                <a:cs typeface="Calibri" pitchFamily="34" charset="-120"/>
              </a:rPr>
              <a:t>⟳  Check out repo + install deps</a:t>
            </a:r>
            <a:endParaRPr lang="en-US" sz="950" dirty="0"/>
          </a:p>
        </p:txBody>
      </p:sp>
      <p:sp>
        <p:nvSpPr>
          <p:cNvPr id="25" name="Shape 23"/>
          <p:cNvSpPr/>
          <p:nvPr/>
        </p:nvSpPr>
        <p:spPr>
          <a:xfrm>
            <a:off x="5806440" y="4050792"/>
            <a:ext cx="2103120" cy="9144"/>
          </a:xfrm>
          <a:prstGeom prst="line">
            <a:avLst/>
          </a:prstGeom>
          <a:noFill/>
          <a:ln w="19050">
            <a:solidFill>
              <a:srgbClr val="2FD9C9"/>
            </a:solidFill>
            <a:prstDash val="solid"/>
            <a:tailEnd type="triangle"/>
          </a:ln>
        </p:spPr>
      </p:sp>
      <p:sp>
        <p:nvSpPr>
          <p:cNvPr id="26" name="Text 24"/>
          <p:cNvSpPr/>
          <p:nvPr/>
        </p:nvSpPr>
        <p:spPr>
          <a:xfrm>
            <a:off x="5806440" y="3867912"/>
            <a:ext cx="2103120" cy="274320"/>
          </a:xfrm>
          <a:prstGeom prst="rect">
            <a:avLst/>
          </a:prstGeom>
          <a:noFill/>
          <a:ln/>
        </p:spPr>
        <p:txBody>
          <a:bodyPr wrap="square" rtlCol="0" anchor="ctr"/>
          <a:lstStyle/>
          <a:p>
            <a:pPr algn="ctr" indent="0" marL="0">
              <a:buNone/>
            </a:pPr>
            <a:r>
              <a:rPr lang="en-US" sz="950" dirty="0">
                <a:solidFill>
                  <a:srgbClr val="E7ECF3"/>
                </a:solidFill>
                <a:latin typeface="Calibri" pitchFamily="34" charset="0"/>
                <a:ea typeface="Calibri" pitchFamily="34" charset="-122"/>
                <a:cs typeface="Calibri" pitchFamily="34" charset="-120"/>
              </a:rPr>
              <a:t>Run collection &amp; processing</a:t>
            </a:r>
            <a:endParaRPr lang="en-US" sz="950" dirty="0"/>
          </a:p>
        </p:txBody>
      </p:sp>
      <p:sp>
        <p:nvSpPr>
          <p:cNvPr id="27" name="Shape 25"/>
          <p:cNvSpPr/>
          <p:nvPr/>
        </p:nvSpPr>
        <p:spPr>
          <a:xfrm>
            <a:off x="7909560" y="4471416"/>
            <a:ext cx="2103120" cy="9144"/>
          </a:xfrm>
          <a:prstGeom prst="line">
            <a:avLst/>
          </a:prstGeom>
          <a:noFill/>
          <a:ln w="19050">
            <a:solidFill>
              <a:srgbClr val="2FD9C9"/>
            </a:solidFill>
            <a:prstDash val="solid"/>
            <a:tailEnd type="triangle"/>
          </a:ln>
        </p:spPr>
      </p:sp>
      <p:sp>
        <p:nvSpPr>
          <p:cNvPr id="28" name="Text 26"/>
          <p:cNvSpPr/>
          <p:nvPr/>
        </p:nvSpPr>
        <p:spPr>
          <a:xfrm>
            <a:off x="7909560" y="4288536"/>
            <a:ext cx="2103120" cy="274320"/>
          </a:xfrm>
          <a:prstGeom prst="rect">
            <a:avLst/>
          </a:prstGeom>
          <a:noFill/>
          <a:ln/>
        </p:spPr>
        <p:txBody>
          <a:bodyPr wrap="square" rtlCol="0" anchor="ctr"/>
          <a:lstStyle/>
          <a:p>
            <a:pPr algn="ctr" indent="0" marL="0">
              <a:buNone/>
            </a:pPr>
            <a:r>
              <a:rPr lang="en-US" sz="950" dirty="0">
                <a:solidFill>
                  <a:srgbClr val="E7ECF3"/>
                </a:solidFill>
                <a:latin typeface="Calibri" pitchFamily="34" charset="0"/>
                <a:ea typeface="Calibri" pitchFamily="34" charset="-122"/>
                <a:cs typeface="Calibri" pitchFamily="34" charset="-120"/>
              </a:rPr>
              <a:t>Rebuild vector database</a:t>
            </a:r>
            <a:endParaRPr lang="en-US" sz="950" dirty="0"/>
          </a:p>
        </p:txBody>
      </p:sp>
      <p:sp>
        <p:nvSpPr>
          <p:cNvPr id="29" name="Text 27"/>
          <p:cNvSpPr/>
          <p:nvPr/>
        </p:nvSpPr>
        <p:spPr>
          <a:xfrm>
            <a:off x="8001000" y="4782312"/>
            <a:ext cx="2651760" cy="274320"/>
          </a:xfrm>
          <a:prstGeom prst="rect">
            <a:avLst/>
          </a:prstGeom>
          <a:noFill/>
          <a:ln/>
        </p:spPr>
        <p:txBody>
          <a:bodyPr wrap="square" rtlCol="0" anchor="ctr"/>
          <a:lstStyle/>
          <a:p>
            <a:pPr indent="0" marL="0">
              <a:buNone/>
            </a:pPr>
            <a:r>
              <a:rPr lang="en-US" sz="950" i="1" dirty="0">
                <a:solidFill>
                  <a:srgbClr val="8A93A6"/>
                </a:solidFill>
                <a:latin typeface="Calibri" pitchFamily="34" charset="0"/>
                <a:ea typeface="Calibri" pitchFamily="34" charset="-122"/>
                <a:cs typeface="Calibri" pitchFamily="34" charset="-120"/>
              </a:rPr>
              <a:t>⟳  Analyze changed files + history</a:t>
            </a:r>
            <a:endParaRPr lang="en-US" sz="950" dirty="0"/>
          </a:p>
        </p:txBody>
      </p:sp>
      <p:sp>
        <p:nvSpPr>
          <p:cNvPr id="30" name="Shape 28"/>
          <p:cNvSpPr/>
          <p:nvPr/>
        </p:nvSpPr>
        <p:spPr>
          <a:xfrm>
            <a:off x="3703320" y="5312664"/>
            <a:ext cx="4206240" cy="9144"/>
          </a:xfrm>
          <a:prstGeom prst="line">
            <a:avLst/>
          </a:prstGeom>
          <a:noFill/>
          <a:ln w="19050">
            <a:solidFill>
              <a:srgbClr val="2FD9C9"/>
            </a:solidFill>
            <a:prstDash val="solid"/>
            <a:tailEnd type="triangle"/>
          </a:ln>
        </p:spPr>
      </p:sp>
      <p:sp>
        <p:nvSpPr>
          <p:cNvPr id="31" name="Text 29"/>
          <p:cNvSpPr/>
          <p:nvPr/>
        </p:nvSpPr>
        <p:spPr>
          <a:xfrm>
            <a:off x="3703320" y="5129784"/>
            <a:ext cx="4206240" cy="274320"/>
          </a:xfrm>
          <a:prstGeom prst="rect">
            <a:avLst/>
          </a:prstGeom>
          <a:noFill/>
          <a:ln/>
        </p:spPr>
        <p:txBody>
          <a:bodyPr wrap="square" rtlCol="0" anchor="ctr"/>
          <a:lstStyle/>
          <a:p>
            <a:pPr algn="ctr" indent="0" marL="0">
              <a:buNone/>
            </a:pPr>
            <a:r>
              <a:rPr lang="en-US" sz="950" dirty="0">
                <a:solidFill>
                  <a:srgbClr val="E7ECF3"/>
                </a:solidFill>
                <a:latin typeface="Calibri" pitchFamily="34" charset="0"/>
                <a:ea typeface="Calibri" pitchFamily="34" charset="-122"/>
                <a:cs typeface="Calibri" pitchFamily="34" charset="-120"/>
              </a:rPr>
              <a:t>Post analysis comment</a:t>
            </a:r>
            <a:endParaRPr lang="en-US" sz="950" dirty="0"/>
          </a:p>
        </p:txBody>
      </p:sp>
      <p:sp>
        <p:nvSpPr>
          <p:cNvPr id="32" name="Shape 30"/>
          <p:cNvSpPr/>
          <p:nvPr/>
        </p:nvSpPr>
        <p:spPr>
          <a:xfrm>
            <a:off x="548640" y="5806440"/>
            <a:ext cx="11064240" cy="594360"/>
          </a:xfrm>
          <a:prstGeom prst="roundRect">
            <a:avLst>
              <a:gd name="adj" fmla="val 12308"/>
            </a:avLst>
          </a:prstGeom>
          <a:solidFill>
            <a:srgbClr val="3A2E17"/>
          </a:solidFill>
          <a:ln w="12700">
            <a:solidFill>
              <a:srgbClr val="E0A83D"/>
            </a:solidFill>
            <a:prstDash val="solid"/>
          </a:ln>
        </p:spPr>
      </p:sp>
      <p:sp>
        <p:nvSpPr>
          <p:cNvPr id="33" name="Text 31"/>
          <p:cNvSpPr/>
          <p:nvPr/>
        </p:nvSpPr>
        <p:spPr>
          <a:xfrm>
            <a:off x="548640" y="5806440"/>
            <a:ext cx="11064240" cy="594360"/>
          </a:xfrm>
          <a:prstGeom prst="rect">
            <a:avLst/>
          </a:prstGeom>
          <a:noFill/>
          <a:ln/>
        </p:spPr>
        <p:txBody>
          <a:bodyPr wrap="square" rtlCol="0" anchor="ctr"/>
          <a:lstStyle/>
          <a:p>
            <a:pPr algn="ctr" indent="0" marL="0">
              <a:buNone/>
            </a:pPr>
            <a:r>
              <a:rPr lang="en-US" sz="1250" b="1" i="1" dirty="0">
                <a:solidFill>
                  <a:srgbClr val="E0A83D"/>
                </a:solidFill>
                <a:latin typeface="Calibri" pitchFamily="34" charset="0"/>
                <a:ea typeface="Calibri" pitchFamily="34" charset="-122"/>
                <a:cs typeface="Calibri" pitchFamily="34" charset="-120"/>
              </a:rPr>
              <a:t>Feedback only — this workflow posts a comment; it does not merge, approve, or modify code.</a:t>
            </a:r>
            <a:endParaRPr lang="en-US" sz="1250" dirty="0"/>
          </a:p>
        </p:txBody>
      </p:sp>
      <p:sp>
        <p:nvSpPr>
          <p:cNvPr id="34" name="Text 32"/>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10 / 14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UNDER THE HOOD</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Technology stack</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Organized by responsibility, not by buzzword.</a:t>
            </a:r>
            <a:endParaRPr lang="en-US" sz="1450" dirty="0"/>
          </a:p>
        </p:txBody>
      </p:sp>
      <p:sp>
        <p:nvSpPr>
          <p:cNvPr id="5" name="Shape 3"/>
          <p:cNvSpPr/>
          <p:nvPr/>
        </p:nvSpPr>
        <p:spPr>
          <a:xfrm>
            <a:off x="548640" y="2148840"/>
            <a:ext cx="3566160" cy="1417320"/>
          </a:xfrm>
          <a:prstGeom prst="roundRect">
            <a:avLst>
              <a:gd name="adj" fmla="val 6452"/>
            </a:avLst>
          </a:prstGeom>
          <a:solidFill>
            <a:srgbClr val="1C2230"/>
          </a:solidFill>
          <a:ln w="12700">
            <a:solidFill>
              <a:srgbClr val="2E3648"/>
            </a:solidFill>
            <a:prstDash val="solid"/>
          </a:ln>
        </p:spPr>
      </p:sp>
      <p:sp>
        <p:nvSpPr>
          <p:cNvPr id="6" name="Shape 4"/>
          <p:cNvSpPr/>
          <p:nvPr/>
        </p:nvSpPr>
        <p:spPr>
          <a:xfrm>
            <a:off x="749808" y="2350008"/>
            <a:ext cx="329184" cy="329184"/>
          </a:xfrm>
          <a:prstGeom prst="ellipse">
            <a:avLst/>
          </a:prstGeom>
          <a:solidFill>
            <a:srgbClr val="232B3D"/>
          </a:solidFill>
          <a:ln w="12700">
            <a:solidFill>
              <a:srgbClr val="2FD9C9"/>
            </a:solidFill>
            <a:prstDash val="solid"/>
          </a:ln>
        </p:spPr>
      </p:sp>
      <p:sp>
        <p:nvSpPr>
          <p:cNvPr id="7" name="Text 5"/>
          <p:cNvSpPr/>
          <p:nvPr/>
        </p:nvSpPr>
        <p:spPr>
          <a:xfrm>
            <a:off x="749808" y="2350008"/>
            <a:ext cx="329184" cy="329184"/>
          </a:xfrm>
          <a:prstGeom prst="rect">
            <a:avLst/>
          </a:prstGeom>
          <a:noFill/>
          <a:ln/>
        </p:spPr>
        <p:txBody>
          <a:bodyPr wrap="square" rtlCol="0" anchor="ctr"/>
          <a:lstStyle/>
          <a:p>
            <a:pPr algn="ctr" indent="0" marL="0">
              <a:buNone/>
            </a:pPr>
            <a:r>
              <a:rPr lang="en-US" sz="1300" b="1" dirty="0">
                <a:solidFill>
                  <a:srgbClr val="2FD9C9"/>
                </a:solidFill>
                <a:latin typeface="Cambria" pitchFamily="34" charset="0"/>
                <a:ea typeface="Cambria" pitchFamily="34" charset="-122"/>
                <a:cs typeface="Cambria" pitchFamily="34" charset="-120"/>
              </a:rPr>
              <a:t>A</a:t>
            </a:r>
            <a:endParaRPr lang="en-US" sz="1300" dirty="0"/>
          </a:p>
        </p:txBody>
      </p:sp>
      <p:sp>
        <p:nvSpPr>
          <p:cNvPr id="8" name="Text 6"/>
          <p:cNvSpPr/>
          <p:nvPr/>
        </p:nvSpPr>
        <p:spPr>
          <a:xfrm>
            <a:off x="1188720" y="2368296"/>
            <a:ext cx="2743200" cy="292608"/>
          </a:xfrm>
          <a:prstGeom prst="rect">
            <a:avLst/>
          </a:prstGeom>
          <a:noFill/>
          <a:ln/>
        </p:spPr>
        <p:txBody>
          <a:bodyPr wrap="square" rtlCol="0" anchor="ctr"/>
          <a:lstStyle/>
          <a:p>
            <a:pPr indent="0" marL="0">
              <a:buNone/>
            </a:pPr>
            <a:r>
              <a:rPr lang="en-US" sz="1000" b="1" spc="50" kern="0" dirty="0">
                <a:solidFill>
                  <a:srgbClr val="8A93A6"/>
                </a:solidFill>
                <a:latin typeface="Calibri" pitchFamily="34" charset="0"/>
                <a:ea typeface="Calibri" pitchFamily="34" charset="-122"/>
                <a:cs typeface="Calibri" pitchFamily="34" charset="-120"/>
              </a:rPr>
              <a:t>API &amp; UI</a:t>
            </a:r>
            <a:endParaRPr lang="en-US" sz="1000" dirty="0"/>
          </a:p>
        </p:txBody>
      </p:sp>
      <p:sp>
        <p:nvSpPr>
          <p:cNvPr id="9" name="Text 7"/>
          <p:cNvSpPr/>
          <p:nvPr/>
        </p:nvSpPr>
        <p:spPr>
          <a:xfrm>
            <a:off x="749808" y="2788920"/>
            <a:ext cx="3163824" cy="640080"/>
          </a:xfrm>
          <a:prstGeom prst="rect">
            <a:avLst/>
          </a:prstGeom>
          <a:noFill/>
          <a:ln/>
        </p:spPr>
        <p:txBody>
          <a:bodyPr wrap="square" rtlCol="0" anchor="ctr"/>
          <a:lstStyle/>
          <a:p>
            <a:pPr indent="0" marL="0">
              <a:lnSpc>
                <a:spcPct val="130000"/>
              </a:lnSpc>
              <a:buNone/>
            </a:pPr>
            <a:r>
              <a:rPr lang="en-US" sz="1250" b="1" dirty="0">
                <a:solidFill>
                  <a:srgbClr val="E7ECF3"/>
                </a:solidFill>
                <a:latin typeface="Calibri" pitchFamily="34" charset="0"/>
                <a:ea typeface="Calibri" pitchFamily="34" charset="-122"/>
                <a:cs typeface="Calibri" pitchFamily="34" charset="-120"/>
              </a:rPr>
              <a:t>FastAPI</a:t>
            </a:r>
            <a:endParaRPr lang="en-US" sz="1250" dirty="0"/>
          </a:p>
          <a:p>
            <a:pPr indent="0" marL="0">
              <a:lnSpc>
                <a:spcPct val="130000"/>
              </a:lnSpc>
              <a:buNone/>
            </a:pPr>
            <a:r>
              <a:rPr lang="en-US" sz="1250" b="1" dirty="0">
                <a:solidFill>
                  <a:srgbClr val="E7ECF3"/>
                </a:solidFill>
                <a:latin typeface="Calibri" pitchFamily="34" charset="0"/>
                <a:ea typeface="Calibri" pitchFamily="34" charset="-122"/>
                <a:cs typeface="Calibri" pitchFamily="34" charset="-120"/>
              </a:rPr>
              <a:t>Streamlit</a:t>
            </a:r>
            <a:endParaRPr lang="en-US" sz="1250" dirty="0"/>
          </a:p>
        </p:txBody>
      </p:sp>
      <p:sp>
        <p:nvSpPr>
          <p:cNvPr id="10" name="Shape 8"/>
          <p:cNvSpPr/>
          <p:nvPr/>
        </p:nvSpPr>
        <p:spPr>
          <a:xfrm>
            <a:off x="4297680" y="2148840"/>
            <a:ext cx="3566160" cy="1417320"/>
          </a:xfrm>
          <a:prstGeom prst="roundRect">
            <a:avLst>
              <a:gd name="adj" fmla="val 6452"/>
            </a:avLst>
          </a:prstGeom>
          <a:solidFill>
            <a:srgbClr val="1C2230"/>
          </a:solidFill>
          <a:ln w="12700">
            <a:solidFill>
              <a:srgbClr val="2E3648"/>
            </a:solidFill>
            <a:prstDash val="solid"/>
          </a:ln>
        </p:spPr>
      </p:sp>
      <p:sp>
        <p:nvSpPr>
          <p:cNvPr id="11" name="Shape 9"/>
          <p:cNvSpPr/>
          <p:nvPr/>
        </p:nvSpPr>
        <p:spPr>
          <a:xfrm>
            <a:off x="4498848" y="2350008"/>
            <a:ext cx="329184" cy="329184"/>
          </a:xfrm>
          <a:prstGeom prst="ellipse">
            <a:avLst/>
          </a:prstGeom>
          <a:solidFill>
            <a:srgbClr val="232B3D"/>
          </a:solidFill>
          <a:ln w="12700">
            <a:solidFill>
              <a:srgbClr val="2FD9C9"/>
            </a:solidFill>
            <a:prstDash val="solid"/>
          </a:ln>
        </p:spPr>
      </p:sp>
      <p:sp>
        <p:nvSpPr>
          <p:cNvPr id="12" name="Text 10"/>
          <p:cNvSpPr/>
          <p:nvPr/>
        </p:nvSpPr>
        <p:spPr>
          <a:xfrm>
            <a:off x="4498848" y="2350008"/>
            <a:ext cx="329184" cy="329184"/>
          </a:xfrm>
          <a:prstGeom prst="rect">
            <a:avLst/>
          </a:prstGeom>
          <a:noFill/>
          <a:ln/>
        </p:spPr>
        <p:txBody>
          <a:bodyPr wrap="square" rtlCol="0" anchor="ctr"/>
          <a:lstStyle/>
          <a:p>
            <a:pPr algn="ctr" indent="0" marL="0">
              <a:buNone/>
            </a:pPr>
            <a:r>
              <a:rPr lang="en-US" sz="1300" b="1" dirty="0">
                <a:solidFill>
                  <a:srgbClr val="2FD9C9"/>
                </a:solidFill>
                <a:latin typeface="Cambria" pitchFamily="34" charset="0"/>
                <a:ea typeface="Cambria" pitchFamily="34" charset="-122"/>
                <a:cs typeface="Cambria" pitchFamily="34" charset="-120"/>
              </a:rPr>
              <a:t>A</a:t>
            </a:r>
            <a:endParaRPr lang="en-US" sz="1300" dirty="0"/>
          </a:p>
        </p:txBody>
      </p:sp>
      <p:sp>
        <p:nvSpPr>
          <p:cNvPr id="13" name="Text 11"/>
          <p:cNvSpPr/>
          <p:nvPr/>
        </p:nvSpPr>
        <p:spPr>
          <a:xfrm>
            <a:off x="4937760" y="2368296"/>
            <a:ext cx="2743200" cy="292608"/>
          </a:xfrm>
          <a:prstGeom prst="rect">
            <a:avLst/>
          </a:prstGeom>
          <a:noFill/>
          <a:ln/>
        </p:spPr>
        <p:txBody>
          <a:bodyPr wrap="square" rtlCol="0" anchor="ctr"/>
          <a:lstStyle/>
          <a:p>
            <a:pPr indent="0" marL="0">
              <a:buNone/>
            </a:pPr>
            <a:r>
              <a:rPr lang="en-US" sz="1000" b="1" spc="50" kern="0" dirty="0">
                <a:solidFill>
                  <a:srgbClr val="8A93A6"/>
                </a:solidFill>
                <a:latin typeface="Calibri" pitchFamily="34" charset="0"/>
                <a:ea typeface="Calibri" pitchFamily="34" charset="-122"/>
                <a:cs typeface="Calibri" pitchFamily="34" charset="-120"/>
              </a:rPr>
              <a:t>AUTOMATION</a:t>
            </a:r>
            <a:endParaRPr lang="en-US" sz="1000" dirty="0"/>
          </a:p>
        </p:txBody>
      </p:sp>
      <p:sp>
        <p:nvSpPr>
          <p:cNvPr id="14" name="Text 12"/>
          <p:cNvSpPr/>
          <p:nvPr/>
        </p:nvSpPr>
        <p:spPr>
          <a:xfrm>
            <a:off x="4498848" y="2788920"/>
            <a:ext cx="3163824" cy="640080"/>
          </a:xfrm>
          <a:prstGeom prst="rect">
            <a:avLst/>
          </a:prstGeom>
          <a:noFill/>
          <a:ln/>
        </p:spPr>
        <p:txBody>
          <a:bodyPr wrap="square" rtlCol="0" anchor="ctr"/>
          <a:lstStyle/>
          <a:p>
            <a:pPr indent="0" marL="0">
              <a:lnSpc>
                <a:spcPct val="130000"/>
              </a:lnSpc>
              <a:buNone/>
            </a:pPr>
            <a:r>
              <a:rPr lang="en-US" sz="1250" b="1" dirty="0">
                <a:solidFill>
                  <a:srgbClr val="E7ECF3"/>
                </a:solidFill>
                <a:latin typeface="Calibri" pitchFamily="34" charset="0"/>
                <a:ea typeface="Calibri" pitchFamily="34" charset="-122"/>
                <a:cs typeface="Calibri" pitchFamily="34" charset="-120"/>
              </a:rPr>
              <a:t>GitHub Actions</a:t>
            </a:r>
            <a:endParaRPr lang="en-US" sz="1250" dirty="0"/>
          </a:p>
        </p:txBody>
      </p:sp>
      <p:sp>
        <p:nvSpPr>
          <p:cNvPr id="15" name="Shape 13"/>
          <p:cNvSpPr/>
          <p:nvPr/>
        </p:nvSpPr>
        <p:spPr>
          <a:xfrm>
            <a:off x="8046720" y="2148840"/>
            <a:ext cx="3566160" cy="1417320"/>
          </a:xfrm>
          <a:prstGeom prst="roundRect">
            <a:avLst>
              <a:gd name="adj" fmla="val 6452"/>
            </a:avLst>
          </a:prstGeom>
          <a:solidFill>
            <a:srgbClr val="1C2230"/>
          </a:solidFill>
          <a:ln w="12700">
            <a:solidFill>
              <a:srgbClr val="2E3648"/>
            </a:solidFill>
            <a:prstDash val="solid"/>
          </a:ln>
        </p:spPr>
      </p:sp>
      <p:sp>
        <p:nvSpPr>
          <p:cNvPr id="16" name="Shape 14"/>
          <p:cNvSpPr/>
          <p:nvPr/>
        </p:nvSpPr>
        <p:spPr>
          <a:xfrm>
            <a:off x="8247888" y="2350008"/>
            <a:ext cx="329184" cy="329184"/>
          </a:xfrm>
          <a:prstGeom prst="ellipse">
            <a:avLst/>
          </a:prstGeom>
          <a:solidFill>
            <a:srgbClr val="232B3D"/>
          </a:solidFill>
          <a:ln w="12700">
            <a:solidFill>
              <a:srgbClr val="2FD9C9"/>
            </a:solidFill>
            <a:prstDash val="solid"/>
          </a:ln>
        </p:spPr>
      </p:sp>
      <p:sp>
        <p:nvSpPr>
          <p:cNvPr id="17" name="Text 15"/>
          <p:cNvSpPr/>
          <p:nvPr/>
        </p:nvSpPr>
        <p:spPr>
          <a:xfrm>
            <a:off x="8247888" y="2350008"/>
            <a:ext cx="329184" cy="329184"/>
          </a:xfrm>
          <a:prstGeom prst="rect">
            <a:avLst/>
          </a:prstGeom>
          <a:noFill/>
          <a:ln/>
        </p:spPr>
        <p:txBody>
          <a:bodyPr wrap="square" rtlCol="0" anchor="ctr"/>
          <a:lstStyle/>
          <a:p>
            <a:pPr algn="ctr" indent="0" marL="0">
              <a:buNone/>
            </a:pPr>
            <a:r>
              <a:rPr lang="en-US" sz="1300" b="1" dirty="0">
                <a:solidFill>
                  <a:srgbClr val="2FD9C9"/>
                </a:solidFill>
                <a:latin typeface="Cambria" pitchFamily="34" charset="0"/>
                <a:ea typeface="Cambria" pitchFamily="34" charset="-122"/>
                <a:cs typeface="Cambria" pitchFamily="34" charset="-120"/>
              </a:rPr>
              <a:t>K</a:t>
            </a:r>
            <a:endParaRPr lang="en-US" sz="1300" dirty="0"/>
          </a:p>
        </p:txBody>
      </p:sp>
      <p:sp>
        <p:nvSpPr>
          <p:cNvPr id="18" name="Text 16"/>
          <p:cNvSpPr/>
          <p:nvPr/>
        </p:nvSpPr>
        <p:spPr>
          <a:xfrm>
            <a:off x="8686800" y="2368296"/>
            <a:ext cx="2743200" cy="292608"/>
          </a:xfrm>
          <a:prstGeom prst="rect">
            <a:avLst/>
          </a:prstGeom>
          <a:noFill/>
          <a:ln/>
        </p:spPr>
        <p:txBody>
          <a:bodyPr wrap="square" rtlCol="0" anchor="ctr"/>
          <a:lstStyle/>
          <a:p>
            <a:pPr indent="0" marL="0">
              <a:buNone/>
            </a:pPr>
            <a:r>
              <a:rPr lang="en-US" sz="1000" b="1" spc="50" kern="0" dirty="0">
                <a:solidFill>
                  <a:srgbClr val="8A93A6"/>
                </a:solidFill>
                <a:latin typeface="Calibri" pitchFamily="34" charset="0"/>
                <a:ea typeface="Calibri" pitchFamily="34" charset="-122"/>
                <a:cs typeface="Calibri" pitchFamily="34" charset="-120"/>
              </a:rPr>
              <a:t>KNOWLEDGE STORAGE</a:t>
            </a:r>
            <a:endParaRPr lang="en-US" sz="1000" dirty="0"/>
          </a:p>
        </p:txBody>
      </p:sp>
      <p:sp>
        <p:nvSpPr>
          <p:cNvPr id="19" name="Text 17"/>
          <p:cNvSpPr/>
          <p:nvPr/>
        </p:nvSpPr>
        <p:spPr>
          <a:xfrm>
            <a:off x="8247888" y="2788920"/>
            <a:ext cx="3163824" cy="640080"/>
          </a:xfrm>
          <a:prstGeom prst="rect">
            <a:avLst/>
          </a:prstGeom>
          <a:noFill/>
          <a:ln/>
        </p:spPr>
        <p:txBody>
          <a:bodyPr wrap="square" rtlCol="0" anchor="ctr"/>
          <a:lstStyle/>
          <a:p>
            <a:pPr indent="0" marL="0">
              <a:lnSpc>
                <a:spcPct val="130000"/>
              </a:lnSpc>
              <a:buNone/>
            </a:pPr>
            <a:r>
              <a:rPr lang="en-US" sz="1250" b="1" dirty="0">
                <a:solidFill>
                  <a:srgbClr val="E7ECF3"/>
                </a:solidFill>
                <a:latin typeface="Calibri" pitchFamily="34" charset="0"/>
                <a:ea typeface="Calibri" pitchFamily="34" charset="-122"/>
                <a:cs typeface="Calibri" pitchFamily="34" charset="-120"/>
              </a:rPr>
              <a:t>ChromaDB</a:t>
            </a:r>
            <a:endParaRPr lang="en-US" sz="1250" dirty="0"/>
          </a:p>
        </p:txBody>
      </p:sp>
      <p:sp>
        <p:nvSpPr>
          <p:cNvPr id="20" name="Shape 18"/>
          <p:cNvSpPr/>
          <p:nvPr/>
        </p:nvSpPr>
        <p:spPr>
          <a:xfrm>
            <a:off x="548640" y="3794760"/>
            <a:ext cx="3566160" cy="1417320"/>
          </a:xfrm>
          <a:prstGeom prst="roundRect">
            <a:avLst>
              <a:gd name="adj" fmla="val 6452"/>
            </a:avLst>
          </a:prstGeom>
          <a:solidFill>
            <a:srgbClr val="1C2230"/>
          </a:solidFill>
          <a:ln w="12700">
            <a:solidFill>
              <a:srgbClr val="2E3648"/>
            </a:solidFill>
            <a:prstDash val="solid"/>
          </a:ln>
        </p:spPr>
      </p:sp>
      <p:sp>
        <p:nvSpPr>
          <p:cNvPr id="21" name="Shape 19"/>
          <p:cNvSpPr/>
          <p:nvPr/>
        </p:nvSpPr>
        <p:spPr>
          <a:xfrm>
            <a:off x="749808" y="3995928"/>
            <a:ext cx="329184" cy="329184"/>
          </a:xfrm>
          <a:prstGeom prst="ellipse">
            <a:avLst/>
          </a:prstGeom>
          <a:solidFill>
            <a:srgbClr val="232B3D"/>
          </a:solidFill>
          <a:ln w="12700">
            <a:solidFill>
              <a:srgbClr val="2FD9C9"/>
            </a:solidFill>
            <a:prstDash val="solid"/>
          </a:ln>
        </p:spPr>
      </p:sp>
      <p:sp>
        <p:nvSpPr>
          <p:cNvPr id="22" name="Text 20"/>
          <p:cNvSpPr/>
          <p:nvPr/>
        </p:nvSpPr>
        <p:spPr>
          <a:xfrm>
            <a:off x="749808" y="3995928"/>
            <a:ext cx="329184" cy="329184"/>
          </a:xfrm>
          <a:prstGeom prst="rect">
            <a:avLst/>
          </a:prstGeom>
          <a:noFill/>
          <a:ln/>
        </p:spPr>
        <p:txBody>
          <a:bodyPr wrap="square" rtlCol="0" anchor="ctr"/>
          <a:lstStyle/>
          <a:p>
            <a:pPr algn="ctr" indent="0" marL="0">
              <a:buNone/>
            </a:pPr>
            <a:r>
              <a:rPr lang="en-US" sz="1300" b="1" dirty="0">
                <a:solidFill>
                  <a:srgbClr val="2FD9C9"/>
                </a:solidFill>
                <a:latin typeface="Cambria" pitchFamily="34" charset="0"/>
                <a:ea typeface="Cambria" pitchFamily="34" charset="-122"/>
                <a:cs typeface="Cambria" pitchFamily="34" charset="-120"/>
              </a:rPr>
              <a:t>L</a:t>
            </a:r>
            <a:endParaRPr lang="en-US" sz="1300" dirty="0"/>
          </a:p>
        </p:txBody>
      </p:sp>
      <p:sp>
        <p:nvSpPr>
          <p:cNvPr id="23" name="Text 21"/>
          <p:cNvSpPr/>
          <p:nvPr/>
        </p:nvSpPr>
        <p:spPr>
          <a:xfrm>
            <a:off x="1188720" y="4014216"/>
            <a:ext cx="2743200" cy="292608"/>
          </a:xfrm>
          <a:prstGeom prst="rect">
            <a:avLst/>
          </a:prstGeom>
          <a:noFill/>
          <a:ln/>
        </p:spPr>
        <p:txBody>
          <a:bodyPr wrap="square" rtlCol="0" anchor="ctr"/>
          <a:lstStyle/>
          <a:p>
            <a:pPr indent="0" marL="0">
              <a:buNone/>
            </a:pPr>
            <a:r>
              <a:rPr lang="en-US" sz="1000" b="1" spc="50" kern="0" dirty="0">
                <a:solidFill>
                  <a:srgbClr val="8A93A6"/>
                </a:solidFill>
                <a:latin typeface="Calibri" pitchFamily="34" charset="0"/>
                <a:ea typeface="Calibri" pitchFamily="34" charset="-122"/>
                <a:cs typeface="Calibri" pitchFamily="34" charset="-120"/>
              </a:rPr>
              <a:t>LOCAL MODEL SUPPORT</a:t>
            </a:r>
            <a:endParaRPr lang="en-US" sz="1000" dirty="0"/>
          </a:p>
        </p:txBody>
      </p:sp>
      <p:sp>
        <p:nvSpPr>
          <p:cNvPr id="24" name="Text 22"/>
          <p:cNvSpPr/>
          <p:nvPr/>
        </p:nvSpPr>
        <p:spPr>
          <a:xfrm>
            <a:off x="749808" y="4434840"/>
            <a:ext cx="3163824" cy="640080"/>
          </a:xfrm>
          <a:prstGeom prst="rect">
            <a:avLst/>
          </a:prstGeom>
          <a:noFill/>
          <a:ln/>
        </p:spPr>
        <p:txBody>
          <a:bodyPr wrap="square" rtlCol="0" anchor="ctr"/>
          <a:lstStyle/>
          <a:p>
            <a:pPr indent="0" marL="0">
              <a:lnSpc>
                <a:spcPct val="130000"/>
              </a:lnSpc>
              <a:buNone/>
            </a:pPr>
            <a:r>
              <a:rPr lang="en-US" sz="1250" b="1" dirty="0">
                <a:solidFill>
                  <a:srgbClr val="E7ECF3"/>
                </a:solidFill>
                <a:latin typeface="Calibri" pitchFamily="34" charset="0"/>
                <a:ea typeface="Calibri" pitchFamily="34" charset="-122"/>
                <a:cs typeface="Calibri" pitchFamily="34" charset="-120"/>
              </a:rPr>
              <a:t>PyTorch</a:t>
            </a:r>
            <a:endParaRPr lang="en-US" sz="1250" dirty="0"/>
          </a:p>
          <a:p>
            <a:pPr indent="0" marL="0">
              <a:lnSpc>
                <a:spcPct val="130000"/>
              </a:lnSpc>
              <a:buNone/>
            </a:pPr>
            <a:r>
              <a:rPr lang="en-US" sz="1250" b="1" dirty="0">
                <a:solidFill>
                  <a:srgbClr val="E7ECF3"/>
                </a:solidFill>
                <a:latin typeface="Calibri" pitchFamily="34" charset="0"/>
                <a:ea typeface="Calibri" pitchFamily="34" charset="-122"/>
                <a:cs typeface="Calibri" pitchFamily="34" charset="-120"/>
              </a:rPr>
              <a:t>Transformers</a:t>
            </a:r>
            <a:endParaRPr lang="en-US" sz="1250" dirty="0"/>
          </a:p>
          <a:p>
            <a:pPr indent="0" marL="0">
              <a:lnSpc>
                <a:spcPct val="130000"/>
              </a:lnSpc>
              <a:buNone/>
            </a:pPr>
            <a:r>
              <a:rPr lang="en-US" sz="1250" b="1" dirty="0">
                <a:solidFill>
                  <a:srgbClr val="E7ECF3"/>
                </a:solidFill>
                <a:latin typeface="Calibri" pitchFamily="34" charset="0"/>
                <a:ea typeface="Calibri" pitchFamily="34" charset="-122"/>
                <a:cs typeface="Calibri" pitchFamily="34" charset="-120"/>
              </a:rPr>
              <a:t>PEFT</a:t>
            </a:r>
            <a:endParaRPr lang="en-US" sz="1250" dirty="0"/>
          </a:p>
        </p:txBody>
      </p:sp>
      <p:sp>
        <p:nvSpPr>
          <p:cNvPr id="25" name="Shape 23"/>
          <p:cNvSpPr/>
          <p:nvPr/>
        </p:nvSpPr>
        <p:spPr>
          <a:xfrm>
            <a:off x="4297680" y="3794760"/>
            <a:ext cx="3566160" cy="1417320"/>
          </a:xfrm>
          <a:prstGeom prst="roundRect">
            <a:avLst>
              <a:gd name="adj" fmla="val 6452"/>
            </a:avLst>
          </a:prstGeom>
          <a:solidFill>
            <a:srgbClr val="1C2230"/>
          </a:solidFill>
          <a:ln w="12700">
            <a:solidFill>
              <a:srgbClr val="2E3648"/>
            </a:solidFill>
            <a:prstDash val="solid"/>
          </a:ln>
        </p:spPr>
      </p:sp>
      <p:sp>
        <p:nvSpPr>
          <p:cNvPr id="26" name="Shape 24"/>
          <p:cNvSpPr/>
          <p:nvPr/>
        </p:nvSpPr>
        <p:spPr>
          <a:xfrm>
            <a:off x="4498848" y="3995928"/>
            <a:ext cx="329184" cy="329184"/>
          </a:xfrm>
          <a:prstGeom prst="ellipse">
            <a:avLst/>
          </a:prstGeom>
          <a:solidFill>
            <a:srgbClr val="232B3D"/>
          </a:solidFill>
          <a:ln w="12700">
            <a:solidFill>
              <a:srgbClr val="2FD9C9"/>
            </a:solidFill>
            <a:prstDash val="solid"/>
          </a:ln>
        </p:spPr>
      </p:sp>
      <p:sp>
        <p:nvSpPr>
          <p:cNvPr id="27" name="Text 25"/>
          <p:cNvSpPr/>
          <p:nvPr/>
        </p:nvSpPr>
        <p:spPr>
          <a:xfrm>
            <a:off x="4498848" y="3995928"/>
            <a:ext cx="329184" cy="329184"/>
          </a:xfrm>
          <a:prstGeom prst="rect">
            <a:avLst/>
          </a:prstGeom>
          <a:noFill/>
          <a:ln/>
        </p:spPr>
        <p:txBody>
          <a:bodyPr wrap="square" rtlCol="0" anchor="ctr"/>
          <a:lstStyle/>
          <a:p>
            <a:pPr algn="ctr" indent="0" marL="0">
              <a:buNone/>
            </a:pPr>
            <a:r>
              <a:rPr lang="en-US" sz="1300" b="1" dirty="0">
                <a:solidFill>
                  <a:srgbClr val="2FD9C9"/>
                </a:solidFill>
                <a:latin typeface="Cambria" pitchFamily="34" charset="0"/>
                <a:ea typeface="Cambria" pitchFamily="34" charset="-122"/>
                <a:cs typeface="Cambria" pitchFamily="34" charset="-120"/>
              </a:rPr>
              <a:t>M</a:t>
            </a:r>
            <a:endParaRPr lang="en-US" sz="1300" dirty="0"/>
          </a:p>
        </p:txBody>
      </p:sp>
      <p:sp>
        <p:nvSpPr>
          <p:cNvPr id="28" name="Text 26"/>
          <p:cNvSpPr/>
          <p:nvPr/>
        </p:nvSpPr>
        <p:spPr>
          <a:xfrm>
            <a:off x="4937760" y="4014216"/>
            <a:ext cx="2743200" cy="292608"/>
          </a:xfrm>
          <a:prstGeom prst="rect">
            <a:avLst/>
          </a:prstGeom>
          <a:noFill/>
          <a:ln/>
        </p:spPr>
        <p:txBody>
          <a:bodyPr wrap="square" rtlCol="0" anchor="ctr"/>
          <a:lstStyle/>
          <a:p>
            <a:pPr indent="0" marL="0">
              <a:buNone/>
            </a:pPr>
            <a:r>
              <a:rPr lang="en-US" sz="1000" b="1" spc="50" kern="0" dirty="0">
                <a:solidFill>
                  <a:srgbClr val="8A93A6"/>
                </a:solidFill>
                <a:latin typeface="Calibri" pitchFamily="34" charset="0"/>
                <a:ea typeface="Calibri" pitchFamily="34" charset="-122"/>
                <a:cs typeface="Calibri" pitchFamily="34" charset="-120"/>
              </a:rPr>
              <a:t>MODEL INFRASTRUCTURE</a:t>
            </a:r>
            <a:endParaRPr lang="en-US" sz="1000" dirty="0"/>
          </a:p>
        </p:txBody>
      </p:sp>
      <p:sp>
        <p:nvSpPr>
          <p:cNvPr id="29" name="Text 27"/>
          <p:cNvSpPr/>
          <p:nvPr/>
        </p:nvSpPr>
        <p:spPr>
          <a:xfrm>
            <a:off x="4498848" y="4434840"/>
            <a:ext cx="3163824" cy="640080"/>
          </a:xfrm>
          <a:prstGeom prst="rect">
            <a:avLst/>
          </a:prstGeom>
          <a:noFill/>
          <a:ln/>
        </p:spPr>
        <p:txBody>
          <a:bodyPr wrap="square" rtlCol="0" anchor="ctr"/>
          <a:lstStyle/>
          <a:p>
            <a:pPr indent="0" marL="0">
              <a:lnSpc>
                <a:spcPct val="130000"/>
              </a:lnSpc>
              <a:buNone/>
            </a:pPr>
            <a:r>
              <a:rPr lang="en-US" sz="1250" b="1" dirty="0">
                <a:solidFill>
                  <a:srgbClr val="E7ECF3"/>
                </a:solidFill>
                <a:latin typeface="Calibri" pitchFamily="34" charset="0"/>
                <a:ea typeface="Calibri" pitchFamily="34" charset="-122"/>
                <a:cs typeface="Calibri" pitchFamily="34" charset="-120"/>
              </a:rPr>
              <a:t>Hugging Face</a:t>
            </a:r>
            <a:endParaRPr lang="en-US" sz="1250" dirty="0"/>
          </a:p>
        </p:txBody>
      </p:sp>
      <p:sp>
        <p:nvSpPr>
          <p:cNvPr id="30" name="Shape 28"/>
          <p:cNvSpPr/>
          <p:nvPr/>
        </p:nvSpPr>
        <p:spPr>
          <a:xfrm>
            <a:off x="8046720" y="3794760"/>
            <a:ext cx="3566160" cy="1417320"/>
          </a:xfrm>
          <a:prstGeom prst="roundRect">
            <a:avLst>
              <a:gd name="adj" fmla="val 6452"/>
            </a:avLst>
          </a:prstGeom>
          <a:solidFill>
            <a:srgbClr val="1C2230"/>
          </a:solidFill>
          <a:ln w="12700">
            <a:solidFill>
              <a:srgbClr val="2E3648"/>
            </a:solidFill>
            <a:prstDash val="solid"/>
          </a:ln>
        </p:spPr>
      </p:sp>
      <p:sp>
        <p:nvSpPr>
          <p:cNvPr id="31" name="Shape 29"/>
          <p:cNvSpPr/>
          <p:nvPr/>
        </p:nvSpPr>
        <p:spPr>
          <a:xfrm>
            <a:off x="8247888" y="3995928"/>
            <a:ext cx="329184" cy="329184"/>
          </a:xfrm>
          <a:prstGeom prst="ellipse">
            <a:avLst/>
          </a:prstGeom>
          <a:solidFill>
            <a:srgbClr val="232B3D"/>
          </a:solidFill>
          <a:ln w="12700">
            <a:solidFill>
              <a:srgbClr val="2FD9C9"/>
            </a:solidFill>
            <a:prstDash val="solid"/>
          </a:ln>
        </p:spPr>
      </p:sp>
      <p:sp>
        <p:nvSpPr>
          <p:cNvPr id="32" name="Text 30"/>
          <p:cNvSpPr/>
          <p:nvPr/>
        </p:nvSpPr>
        <p:spPr>
          <a:xfrm>
            <a:off x="8247888" y="3995928"/>
            <a:ext cx="329184" cy="329184"/>
          </a:xfrm>
          <a:prstGeom prst="rect">
            <a:avLst/>
          </a:prstGeom>
          <a:noFill/>
          <a:ln/>
        </p:spPr>
        <p:txBody>
          <a:bodyPr wrap="square" rtlCol="0" anchor="ctr"/>
          <a:lstStyle/>
          <a:p>
            <a:pPr algn="ctr" indent="0" marL="0">
              <a:buNone/>
            </a:pPr>
            <a:r>
              <a:rPr lang="en-US" sz="1300" b="1" dirty="0">
                <a:solidFill>
                  <a:srgbClr val="2FD9C9"/>
                </a:solidFill>
                <a:latin typeface="Cambria" pitchFamily="34" charset="0"/>
                <a:ea typeface="Cambria" pitchFamily="34" charset="-122"/>
                <a:cs typeface="Cambria" pitchFamily="34" charset="-120"/>
              </a:rPr>
              <a:t>P</a:t>
            </a:r>
            <a:endParaRPr lang="en-US" sz="1300" dirty="0"/>
          </a:p>
        </p:txBody>
      </p:sp>
      <p:sp>
        <p:nvSpPr>
          <p:cNvPr id="33" name="Text 31"/>
          <p:cNvSpPr/>
          <p:nvPr/>
        </p:nvSpPr>
        <p:spPr>
          <a:xfrm>
            <a:off x="8686800" y="4014216"/>
            <a:ext cx="2743200" cy="292608"/>
          </a:xfrm>
          <a:prstGeom prst="rect">
            <a:avLst/>
          </a:prstGeom>
          <a:noFill/>
          <a:ln/>
        </p:spPr>
        <p:txBody>
          <a:bodyPr wrap="square" rtlCol="0" anchor="ctr"/>
          <a:lstStyle/>
          <a:p>
            <a:pPr indent="0" marL="0">
              <a:buNone/>
            </a:pPr>
            <a:r>
              <a:rPr lang="en-US" sz="1000" b="1" spc="50" kern="0" dirty="0">
                <a:solidFill>
                  <a:srgbClr val="8A93A6"/>
                </a:solidFill>
                <a:latin typeface="Calibri" pitchFamily="34" charset="0"/>
                <a:ea typeface="Calibri" pitchFamily="34" charset="-122"/>
                <a:cs typeface="Calibri" pitchFamily="34" charset="-120"/>
              </a:rPr>
              <a:t>PERSISTENCE</a:t>
            </a:r>
            <a:endParaRPr lang="en-US" sz="1000" dirty="0"/>
          </a:p>
        </p:txBody>
      </p:sp>
      <p:sp>
        <p:nvSpPr>
          <p:cNvPr id="34" name="Text 32"/>
          <p:cNvSpPr/>
          <p:nvPr/>
        </p:nvSpPr>
        <p:spPr>
          <a:xfrm>
            <a:off x="8247888" y="4434840"/>
            <a:ext cx="3163824" cy="640080"/>
          </a:xfrm>
          <a:prstGeom prst="rect">
            <a:avLst/>
          </a:prstGeom>
          <a:noFill/>
          <a:ln/>
        </p:spPr>
        <p:txBody>
          <a:bodyPr wrap="square" rtlCol="0" anchor="ctr"/>
          <a:lstStyle/>
          <a:p>
            <a:pPr indent="0" marL="0">
              <a:lnSpc>
                <a:spcPct val="130000"/>
              </a:lnSpc>
              <a:buNone/>
            </a:pPr>
            <a:r>
              <a:rPr lang="en-US" sz="1250" b="1" dirty="0">
                <a:solidFill>
                  <a:srgbClr val="E7ECF3"/>
                </a:solidFill>
                <a:latin typeface="Calibri" pitchFamily="34" charset="0"/>
                <a:ea typeface="Calibri" pitchFamily="34" charset="-122"/>
                <a:cs typeface="Calibri" pitchFamily="34" charset="-120"/>
              </a:rPr>
              <a:t>SQLAlchemy / DB layer</a:t>
            </a:r>
            <a:endParaRPr lang="en-US" sz="1250" dirty="0"/>
          </a:p>
          <a:p>
            <a:pPr indent="0" marL="0">
              <a:lnSpc>
                <a:spcPct val="130000"/>
              </a:lnSpc>
              <a:buNone/>
            </a:pPr>
            <a:r>
              <a:rPr lang="en-US" sz="1250" b="1" dirty="0">
                <a:solidFill>
                  <a:srgbClr val="E7ECF3"/>
                </a:solidFill>
                <a:latin typeface="Calibri" pitchFamily="34" charset="0"/>
                <a:ea typeface="Calibri" pitchFamily="34" charset="-122"/>
                <a:cs typeface="Calibri" pitchFamily="34" charset="-120"/>
              </a:rPr>
              <a:t>(chat history)</a:t>
            </a:r>
            <a:endParaRPr lang="en-US" sz="1250" dirty="0"/>
          </a:p>
        </p:txBody>
      </p:sp>
      <p:sp>
        <p:nvSpPr>
          <p:cNvPr id="35" name="Shape 33"/>
          <p:cNvSpPr/>
          <p:nvPr/>
        </p:nvSpPr>
        <p:spPr>
          <a:xfrm>
            <a:off x="548640" y="5623560"/>
            <a:ext cx="11064240" cy="685800"/>
          </a:xfrm>
          <a:prstGeom prst="roundRect">
            <a:avLst>
              <a:gd name="adj" fmla="val 10667"/>
            </a:avLst>
          </a:prstGeom>
          <a:solidFill>
            <a:srgbClr val="3A2E17"/>
          </a:solidFill>
          <a:ln w="12700">
            <a:solidFill>
              <a:srgbClr val="E0A83D"/>
            </a:solidFill>
            <a:prstDash val="solid"/>
          </a:ln>
        </p:spPr>
      </p:sp>
      <p:sp>
        <p:nvSpPr>
          <p:cNvPr id="36" name="Text 34"/>
          <p:cNvSpPr/>
          <p:nvPr/>
        </p:nvSpPr>
        <p:spPr>
          <a:xfrm>
            <a:off x="822960" y="5623560"/>
            <a:ext cx="10515600" cy="685800"/>
          </a:xfrm>
          <a:prstGeom prst="rect">
            <a:avLst/>
          </a:prstGeom>
          <a:noFill/>
          <a:ln/>
        </p:spPr>
        <p:txBody>
          <a:bodyPr wrap="square" rtlCol="0" anchor="ctr"/>
          <a:lstStyle/>
          <a:p>
            <a:pPr indent="0" marL="0">
              <a:buNone/>
            </a:pPr>
            <a:r>
              <a:rPr lang="en-US" sz="1200" i="1" dirty="0">
                <a:solidFill>
                  <a:srgbClr val="E7ECF3"/>
                </a:solidFill>
                <a:latin typeface="Calibri" pitchFamily="34" charset="0"/>
                <a:ea typeface="Calibri" pitchFamily="34" charset="-122"/>
                <a:cs typeface="Calibri" pitchFamily="34" charset="-120"/>
              </a:rPr>
              <a:t>The interactive API and CI workflow can use different model configuration approaches — not every environment uses the same model backend.</a:t>
            </a:r>
            <a:endParaRPr lang="en-US" sz="1200" dirty="0"/>
          </a:p>
        </p:txBody>
      </p:sp>
      <p:sp>
        <p:nvSpPr>
          <p:cNvPr id="37" name="Text 35"/>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11 / 14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SECURITY &amp; RELIABILITY</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Security and reliability</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What's implemented, and what remains an operational responsibility.</a:t>
            </a:r>
            <a:endParaRPr lang="en-US" sz="1450" dirty="0"/>
          </a:p>
        </p:txBody>
      </p:sp>
      <p:sp>
        <p:nvSpPr>
          <p:cNvPr id="5" name="Shape 3"/>
          <p:cNvSpPr/>
          <p:nvPr/>
        </p:nvSpPr>
        <p:spPr>
          <a:xfrm>
            <a:off x="548640" y="2148840"/>
            <a:ext cx="6492240" cy="3977640"/>
          </a:xfrm>
          <a:prstGeom prst="roundRect">
            <a:avLst>
              <a:gd name="adj" fmla="val 2299"/>
            </a:avLst>
          </a:prstGeom>
          <a:solidFill>
            <a:srgbClr val="1E3327"/>
          </a:solidFill>
          <a:ln w="12700">
            <a:solidFill>
              <a:srgbClr val="3FBF6B"/>
            </a:solidFill>
            <a:prstDash val="solid"/>
          </a:ln>
        </p:spPr>
      </p:sp>
      <p:sp>
        <p:nvSpPr>
          <p:cNvPr id="6" name="Text 4"/>
          <p:cNvSpPr/>
          <p:nvPr/>
        </p:nvSpPr>
        <p:spPr>
          <a:xfrm>
            <a:off x="868680" y="2331720"/>
            <a:ext cx="5852160" cy="320040"/>
          </a:xfrm>
          <a:prstGeom prst="rect">
            <a:avLst/>
          </a:prstGeom>
          <a:noFill/>
          <a:ln/>
        </p:spPr>
        <p:txBody>
          <a:bodyPr wrap="square" rtlCol="0" anchor="ctr"/>
          <a:lstStyle/>
          <a:p>
            <a:pPr indent="0" marL="0">
              <a:buNone/>
            </a:pPr>
            <a:r>
              <a:rPr lang="en-US" sz="1200" b="1" spc="50" kern="0" dirty="0">
                <a:solidFill>
                  <a:srgbClr val="3FBF6B"/>
                </a:solidFill>
                <a:latin typeface="Calibri" pitchFamily="34" charset="0"/>
                <a:ea typeface="Calibri" pitchFamily="34" charset="-122"/>
                <a:cs typeface="Calibri" pitchFamily="34" charset="-120"/>
              </a:rPr>
              <a:t>🛡  IMPLEMENTED PROTECTIONS</a:t>
            </a:r>
            <a:endParaRPr lang="en-US" sz="1200" dirty="0"/>
          </a:p>
        </p:txBody>
      </p:sp>
      <p:sp>
        <p:nvSpPr>
          <p:cNvPr id="7" name="Shape 5"/>
          <p:cNvSpPr/>
          <p:nvPr/>
        </p:nvSpPr>
        <p:spPr>
          <a:xfrm>
            <a:off x="868680" y="3099816"/>
            <a:ext cx="82296" cy="82296"/>
          </a:xfrm>
          <a:prstGeom prst="ellipse">
            <a:avLst/>
          </a:prstGeom>
          <a:solidFill>
            <a:srgbClr val="3FBF6B"/>
          </a:solidFill>
          <a:ln/>
        </p:spPr>
      </p:sp>
      <p:sp>
        <p:nvSpPr>
          <p:cNvPr id="8" name="Text 6"/>
          <p:cNvSpPr/>
          <p:nvPr/>
        </p:nvSpPr>
        <p:spPr>
          <a:xfrm>
            <a:off x="1124712" y="2816352"/>
            <a:ext cx="5596128" cy="621792"/>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Secrets and tokens via environment variables or GitHub Secrets</a:t>
            </a:r>
            <a:endParaRPr lang="en-US" sz="1250" dirty="0"/>
          </a:p>
        </p:txBody>
      </p:sp>
      <p:sp>
        <p:nvSpPr>
          <p:cNvPr id="9" name="Shape 7"/>
          <p:cNvSpPr/>
          <p:nvPr/>
        </p:nvSpPr>
        <p:spPr>
          <a:xfrm>
            <a:off x="868680" y="3721608"/>
            <a:ext cx="82296" cy="82296"/>
          </a:xfrm>
          <a:prstGeom prst="ellipse">
            <a:avLst/>
          </a:prstGeom>
          <a:solidFill>
            <a:srgbClr val="3FBF6B"/>
          </a:solidFill>
          <a:ln/>
        </p:spPr>
      </p:sp>
      <p:sp>
        <p:nvSpPr>
          <p:cNvPr id="10" name="Text 8"/>
          <p:cNvSpPr/>
          <p:nvPr/>
        </p:nvSpPr>
        <p:spPr>
          <a:xfrm>
            <a:off x="1124712" y="3438144"/>
            <a:ext cx="5596128" cy="621792"/>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.env files and tokens must never be committed</a:t>
            </a:r>
            <a:endParaRPr lang="en-US" sz="1250" dirty="0"/>
          </a:p>
        </p:txBody>
      </p:sp>
      <p:sp>
        <p:nvSpPr>
          <p:cNvPr id="11" name="Shape 9"/>
          <p:cNvSpPr/>
          <p:nvPr/>
        </p:nvSpPr>
        <p:spPr>
          <a:xfrm>
            <a:off x="868680" y="4343400"/>
            <a:ext cx="82296" cy="82296"/>
          </a:xfrm>
          <a:prstGeom prst="ellipse">
            <a:avLst/>
          </a:prstGeom>
          <a:solidFill>
            <a:srgbClr val="3FBF6B"/>
          </a:solidFill>
          <a:ln/>
        </p:spPr>
      </p:sp>
      <p:sp>
        <p:nvSpPr>
          <p:cNvPr id="12" name="Text 10"/>
          <p:cNvSpPr/>
          <p:nvPr/>
        </p:nvSpPr>
        <p:spPr>
          <a:xfrm>
            <a:off x="1124712" y="4059936"/>
            <a:ext cx="5596128" cy="621792"/>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Repository content treated as untrusted input to the reasoning model</a:t>
            </a:r>
            <a:endParaRPr lang="en-US" sz="1250" dirty="0"/>
          </a:p>
        </p:txBody>
      </p:sp>
      <p:sp>
        <p:nvSpPr>
          <p:cNvPr id="13" name="Shape 11"/>
          <p:cNvSpPr/>
          <p:nvPr/>
        </p:nvSpPr>
        <p:spPr>
          <a:xfrm>
            <a:off x="868680" y="4965192"/>
            <a:ext cx="82296" cy="82296"/>
          </a:xfrm>
          <a:prstGeom prst="ellipse">
            <a:avLst/>
          </a:prstGeom>
          <a:solidFill>
            <a:srgbClr val="3FBF6B"/>
          </a:solidFill>
          <a:ln/>
        </p:spPr>
      </p:sp>
      <p:sp>
        <p:nvSpPr>
          <p:cNvPr id="14" name="Text 12"/>
          <p:cNvSpPr/>
          <p:nvPr/>
        </p:nvSpPr>
        <p:spPr>
          <a:xfrm>
            <a:off x="1124712" y="4681728"/>
            <a:ext cx="5596128" cy="621792"/>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Authentication protects the chat application and API routes</a:t>
            </a:r>
            <a:endParaRPr lang="en-US" sz="1250" dirty="0"/>
          </a:p>
        </p:txBody>
      </p:sp>
      <p:sp>
        <p:nvSpPr>
          <p:cNvPr id="15" name="Shape 13"/>
          <p:cNvSpPr/>
          <p:nvPr/>
        </p:nvSpPr>
        <p:spPr>
          <a:xfrm>
            <a:off x="868680" y="5586984"/>
            <a:ext cx="82296" cy="82296"/>
          </a:xfrm>
          <a:prstGeom prst="ellipse">
            <a:avLst/>
          </a:prstGeom>
          <a:solidFill>
            <a:srgbClr val="3FBF6B"/>
          </a:solidFill>
          <a:ln/>
        </p:spPr>
      </p:sp>
      <p:sp>
        <p:nvSpPr>
          <p:cNvPr id="16" name="Text 14"/>
          <p:cNvSpPr/>
          <p:nvPr/>
        </p:nvSpPr>
        <p:spPr>
          <a:xfrm>
            <a:off x="1124712" y="5303520"/>
            <a:ext cx="5596128" cy="621792"/>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Vector database rebuilt during preparation to reduce stale-data risk</a:t>
            </a:r>
            <a:endParaRPr lang="en-US" sz="1250" dirty="0"/>
          </a:p>
        </p:txBody>
      </p:sp>
      <p:sp>
        <p:nvSpPr>
          <p:cNvPr id="17" name="Shape 15"/>
          <p:cNvSpPr/>
          <p:nvPr/>
        </p:nvSpPr>
        <p:spPr>
          <a:xfrm>
            <a:off x="7269480" y="2148840"/>
            <a:ext cx="4343400" cy="3977640"/>
          </a:xfrm>
          <a:prstGeom prst="roundRect">
            <a:avLst>
              <a:gd name="adj" fmla="val 2299"/>
            </a:avLst>
          </a:prstGeom>
          <a:solidFill>
            <a:srgbClr val="3A2E17"/>
          </a:solidFill>
          <a:ln w="12700">
            <a:solidFill>
              <a:srgbClr val="E0A83D"/>
            </a:solidFill>
            <a:prstDash val="solid"/>
          </a:ln>
        </p:spPr>
      </p:sp>
      <p:sp>
        <p:nvSpPr>
          <p:cNvPr id="18" name="Text 16"/>
          <p:cNvSpPr/>
          <p:nvPr/>
        </p:nvSpPr>
        <p:spPr>
          <a:xfrm>
            <a:off x="7589520" y="2331720"/>
            <a:ext cx="3749040" cy="320040"/>
          </a:xfrm>
          <a:prstGeom prst="rect">
            <a:avLst/>
          </a:prstGeom>
          <a:noFill/>
          <a:ln/>
        </p:spPr>
        <p:txBody>
          <a:bodyPr wrap="square" rtlCol="0" anchor="ctr"/>
          <a:lstStyle/>
          <a:p>
            <a:pPr indent="0" marL="0">
              <a:buNone/>
            </a:pPr>
            <a:r>
              <a:rPr lang="en-US" sz="1200" b="1" spc="50" kern="0" dirty="0">
                <a:solidFill>
                  <a:srgbClr val="E0A83D"/>
                </a:solidFill>
                <a:latin typeface="Calibri" pitchFamily="34" charset="0"/>
                <a:ea typeface="Calibri" pitchFamily="34" charset="-122"/>
                <a:cs typeface="Calibri" pitchFamily="34" charset="-120"/>
              </a:rPr>
              <a:t>⚙  OPERATIONAL CONSIDERATIONS</a:t>
            </a:r>
            <a:endParaRPr lang="en-US" sz="1200" dirty="0"/>
          </a:p>
        </p:txBody>
      </p:sp>
      <p:sp>
        <p:nvSpPr>
          <p:cNvPr id="19" name="Text 17"/>
          <p:cNvSpPr/>
          <p:nvPr/>
        </p:nvSpPr>
        <p:spPr>
          <a:xfrm>
            <a:off x="7589520" y="2880360"/>
            <a:ext cx="3749040" cy="1097280"/>
          </a:xfrm>
          <a:prstGeom prst="rect">
            <a:avLst/>
          </a:prstGeom>
          <a:noFill/>
          <a:ln/>
        </p:spPr>
        <p:txBody>
          <a:bodyPr wrap="square" rtlCol="0" anchor="ctr"/>
          <a:lstStyle/>
          <a:p>
            <a:pPr indent="0" marL="0">
              <a:lnSpc>
                <a:spcPct val="135000"/>
              </a:lnSpc>
              <a:buNone/>
            </a:pPr>
            <a:r>
              <a:rPr lang="en-US" sz="1300" dirty="0">
                <a:solidFill>
                  <a:srgbClr val="E7ECF3"/>
                </a:solidFill>
                <a:latin typeface="Calibri" pitchFamily="34" charset="0"/>
                <a:ea typeface="Calibri" pitchFamily="34" charset="-122"/>
                <a:cs typeface="Calibri" pitchFamily="34" charset="-120"/>
              </a:rPr>
              <a:t>Model loading can be resource-intensive and depends on environment configuration.</a:t>
            </a:r>
            <a:endParaRPr lang="en-US" sz="1300" dirty="0"/>
          </a:p>
        </p:txBody>
      </p:sp>
      <p:sp>
        <p:nvSpPr>
          <p:cNvPr id="20" name="Text 18"/>
          <p:cNvSpPr/>
          <p:nvPr/>
        </p:nvSpPr>
        <p:spPr>
          <a:xfrm>
            <a:off x="7589520" y="5120640"/>
            <a:ext cx="3749040" cy="822960"/>
          </a:xfrm>
          <a:prstGeom prst="rect">
            <a:avLst/>
          </a:prstGeom>
          <a:noFill/>
          <a:ln/>
        </p:spPr>
        <p:txBody>
          <a:bodyPr wrap="square" rtlCol="0" anchor="ctr"/>
          <a:lstStyle/>
          <a:p>
            <a:pPr indent="0" marL="0">
              <a:lnSpc>
                <a:spcPct val="130000"/>
              </a:lnSpc>
              <a:buNone/>
            </a:pPr>
            <a:r>
              <a:rPr lang="en-US" sz="1100" i="1" dirty="0">
                <a:solidFill>
                  <a:srgbClr val="8A93A6"/>
                </a:solidFill>
                <a:latin typeface="Calibri" pitchFamily="34" charset="0"/>
                <a:ea typeface="Calibri" pitchFamily="34" charset="-122"/>
                <a:cs typeface="Calibri" pitchFamily="34" charset="-120"/>
              </a:rPr>
              <a:t>This is an ongoing operational factor, not a defect — teams should plan capacity accordingly.</a:t>
            </a:r>
            <a:endParaRPr lang="en-US" sz="1100" dirty="0"/>
          </a:p>
        </p:txBody>
      </p:sp>
      <p:sp>
        <p:nvSpPr>
          <p:cNvPr id="21" name="Text 19"/>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12 / 14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HONEST ASSESSMENT</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Current status and limitations</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An honest account of what's built and what isn't.</a:t>
            </a:r>
            <a:endParaRPr lang="en-US" sz="1450" dirty="0"/>
          </a:p>
        </p:txBody>
      </p:sp>
      <p:sp>
        <p:nvSpPr>
          <p:cNvPr id="5" name="Shape 3"/>
          <p:cNvSpPr/>
          <p:nvPr/>
        </p:nvSpPr>
        <p:spPr>
          <a:xfrm>
            <a:off x="548640" y="2103120"/>
            <a:ext cx="5349240" cy="566928"/>
          </a:xfrm>
          <a:prstGeom prst="roundRect">
            <a:avLst>
              <a:gd name="adj" fmla="val 12903"/>
            </a:avLst>
          </a:prstGeom>
          <a:solidFill>
            <a:srgbClr val="1C2230"/>
          </a:solidFill>
          <a:ln w="12700">
            <a:solidFill>
              <a:srgbClr val="2E3648"/>
            </a:solidFill>
            <a:prstDash val="solid"/>
          </a:ln>
        </p:spPr>
      </p:sp>
      <p:sp>
        <p:nvSpPr>
          <p:cNvPr id="6" name="Text 4"/>
          <p:cNvSpPr/>
          <p:nvPr/>
        </p:nvSpPr>
        <p:spPr>
          <a:xfrm>
            <a:off x="777240" y="2103120"/>
            <a:ext cx="3383280" cy="566928"/>
          </a:xfrm>
          <a:prstGeom prst="rect">
            <a:avLst/>
          </a:prstGeom>
          <a:noFill/>
          <a:ln/>
        </p:spPr>
        <p:txBody>
          <a:bodyPr wrap="square" rtlCol="0" anchor="ctr"/>
          <a:lstStyle/>
          <a:p>
            <a:pPr indent="0" marL="0">
              <a:buNone/>
            </a:pPr>
            <a:r>
              <a:rPr lang="en-US" sz="1300" b="1" dirty="0">
                <a:solidFill>
                  <a:srgbClr val="E7ECF3"/>
                </a:solidFill>
                <a:latin typeface="Calibri" pitchFamily="34" charset="0"/>
                <a:ea typeface="Calibri" pitchFamily="34" charset="-122"/>
                <a:cs typeface="Calibri" pitchFamily="34" charset="-120"/>
              </a:rPr>
              <a:t>Repository Preparation</a:t>
            </a:r>
            <a:endParaRPr lang="en-US" sz="1300" dirty="0"/>
          </a:p>
        </p:txBody>
      </p:sp>
      <p:sp>
        <p:nvSpPr>
          <p:cNvPr id="7" name="Shape 5"/>
          <p:cNvSpPr/>
          <p:nvPr/>
        </p:nvSpPr>
        <p:spPr>
          <a:xfrm>
            <a:off x="4206240" y="2212848"/>
            <a:ext cx="1463040" cy="347472"/>
          </a:xfrm>
          <a:prstGeom prst="roundRect">
            <a:avLst>
              <a:gd name="adj" fmla="val 50000"/>
            </a:avLst>
          </a:prstGeom>
          <a:solidFill>
            <a:srgbClr val="3FBF6B"/>
          </a:solidFill>
          <a:ln/>
        </p:spPr>
      </p:sp>
      <p:sp>
        <p:nvSpPr>
          <p:cNvPr id="8" name="Text 6"/>
          <p:cNvSpPr/>
          <p:nvPr/>
        </p:nvSpPr>
        <p:spPr>
          <a:xfrm>
            <a:off x="4206240" y="2212848"/>
            <a:ext cx="1463040" cy="347472"/>
          </a:xfrm>
          <a:prstGeom prst="rect">
            <a:avLst/>
          </a:prstGeom>
          <a:noFill/>
          <a:ln/>
        </p:spPr>
        <p:txBody>
          <a:bodyPr wrap="square" rtlCol="0" anchor="ctr"/>
          <a:lstStyle/>
          <a:p>
            <a:pPr algn="ctr" indent="0" marL="0">
              <a:buNone/>
            </a:pPr>
            <a:r>
              <a:rPr lang="en-US" sz="900" b="1" dirty="0">
                <a:solidFill>
                  <a:srgbClr val="141922"/>
                </a:solidFill>
                <a:latin typeface="Calibri" pitchFamily="34" charset="0"/>
                <a:ea typeface="Calibri" pitchFamily="34" charset="-122"/>
                <a:cs typeface="Calibri" pitchFamily="34" charset="-120"/>
              </a:rPr>
              <a:t>Implemented</a:t>
            </a:r>
            <a:endParaRPr lang="en-US" sz="900" dirty="0"/>
          </a:p>
        </p:txBody>
      </p:sp>
      <p:sp>
        <p:nvSpPr>
          <p:cNvPr id="9" name="Shape 7"/>
          <p:cNvSpPr/>
          <p:nvPr/>
        </p:nvSpPr>
        <p:spPr>
          <a:xfrm>
            <a:off x="548640" y="2779776"/>
            <a:ext cx="5349240" cy="566928"/>
          </a:xfrm>
          <a:prstGeom prst="roundRect">
            <a:avLst>
              <a:gd name="adj" fmla="val 12903"/>
            </a:avLst>
          </a:prstGeom>
          <a:solidFill>
            <a:srgbClr val="1C2230"/>
          </a:solidFill>
          <a:ln w="12700">
            <a:solidFill>
              <a:srgbClr val="2E3648"/>
            </a:solidFill>
            <a:prstDash val="solid"/>
          </a:ln>
        </p:spPr>
      </p:sp>
      <p:sp>
        <p:nvSpPr>
          <p:cNvPr id="10" name="Text 8"/>
          <p:cNvSpPr/>
          <p:nvPr/>
        </p:nvSpPr>
        <p:spPr>
          <a:xfrm>
            <a:off x="777240" y="2779776"/>
            <a:ext cx="3383280" cy="566928"/>
          </a:xfrm>
          <a:prstGeom prst="rect">
            <a:avLst/>
          </a:prstGeom>
          <a:noFill/>
          <a:ln/>
        </p:spPr>
        <p:txBody>
          <a:bodyPr wrap="square" rtlCol="0" anchor="ctr"/>
          <a:lstStyle/>
          <a:p>
            <a:pPr indent="0" marL="0">
              <a:buNone/>
            </a:pPr>
            <a:r>
              <a:rPr lang="en-US" sz="1300" b="1" dirty="0">
                <a:solidFill>
                  <a:srgbClr val="E7ECF3"/>
                </a:solidFill>
                <a:latin typeface="Calibri" pitchFamily="34" charset="0"/>
                <a:ea typeface="Calibri" pitchFamily="34" charset="-122"/>
                <a:cs typeface="Calibri" pitchFamily="34" charset="-120"/>
              </a:rPr>
              <a:t>Retrieval</a:t>
            </a:r>
            <a:endParaRPr lang="en-US" sz="1300" dirty="0"/>
          </a:p>
        </p:txBody>
      </p:sp>
      <p:sp>
        <p:nvSpPr>
          <p:cNvPr id="11" name="Shape 9"/>
          <p:cNvSpPr/>
          <p:nvPr/>
        </p:nvSpPr>
        <p:spPr>
          <a:xfrm>
            <a:off x="4206240" y="2889504"/>
            <a:ext cx="1463040" cy="347472"/>
          </a:xfrm>
          <a:prstGeom prst="roundRect">
            <a:avLst>
              <a:gd name="adj" fmla="val 50000"/>
            </a:avLst>
          </a:prstGeom>
          <a:solidFill>
            <a:srgbClr val="3FBF6B"/>
          </a:solidFill>
          <a:ln/>
        </p:spPr>
      </p:sp>
      <p:sp>
        <p:nvSpPr>
          <p:cNvPr id="12" name="Text 10"/>
          <p:cNvSpPr/>
          <p:nvPr/>
        </p:nvSpPr>
        <p:spPr>
          <a:xfrm>
            <a:off x="4206240" y="2889504"/>
            <a:ext cx="1463040" cy="347472"/>
          </a:xfrm>
          <a:prstGeom prst="rect">
            <a:avLst/>
          </a:prstGeom>
          <a:noFill/>
          <a:ln/>
        </p:spPr>
        <p:txBody>
          <a:bodyPr wrap="square" rtlCol="0" anchor="ctr"/>
          <a:lstStyle/>
          <a:p>
            <a:pPr algn="ctr" indent="0" marL="0">
              <a:buNone/>
            </a:pPr>
            <a:r>
              <a:rPr lang="en-US" sz="900" b="1" dirty="0">
                <a:solidFill>
                  <a:srgbClr val="141922"/>
                </a:solidFill>
                <a:latin typeface="Calibri" pitchFamily="34" charset="0"/>
                <a:ea typeface="Calibri" pitchFamily="34" charset="-122"/>
                <a:cs typeface="Calibri" pitchFamily="34" charset="-120"/>
              </a:rPr>
              <a:t>Implemented</a:t>
            </a:r>
            <a:endParaRPr lang="en-US" sz="900" dirty="0"/>
          </a:p>
        </p:txBody>
      </p:sp>
      <p:sp>
        <p:nvSpPr>
          <p:cNvPr id="13" name="Shape 11"/>
          <p:cNvSpPr/>
          <p:nvPr/>
        </p:nvSpPr>
        <p:spPr>
          <a:xfrm>
            <a:off x="548640" y="3456432"/>
            <a:ext cx="5349240" cy="566928"/>
          </a:xfrm>
          <a:prstGeom prst="roundRect">
            <a:avLst>
              <a:gd name="adj" fmla="val 12903"/>
            </a:avLst>
          </a:prstGeom>
          <a:solidFill>
            <a:srgbClr val="1C2230"/>
          </a:solidFill>
          <a:ln w="12700">
            <a:solidFill>
              <a:srgbClr val="2E3648"/>
            </a:solidFill>
            <a:prstDash val="solid"/>
          </a:ln>
        </p:spPr>
      </p:sp>
      <p:sp>
        <p:nvSpPr>
          <p:cNvPr id="14" name="Text 12"/>
          <p:cNvSpPr/>
          <p:nvPr/>
        </p:nvSpPr>
        <p:spPr>
          <a:xfrm>
            <a:off x="777240" y="3456432"/>
            <a:ext cx="3383280" cy="566928"/>
          </a:xfrm>
          <a:prstGeom prst="rect">
            <a:avLst/>
          </a:prstGeom>
          <a:noFill/>
          <a:ln/>
        </p:spPr>
        <p:txBody>
          <a:bodyPr wrap="square" rtlCol="0" anchor="ctr"/>
          <a:lstStyle/>
          <a:p>
            <a:pPr indent="0" marL="0">
              <a:buNone/>
            </a:pPr>
            <a:r>
              <a:rPr lang="en-US" sz="1300" b="1" dirty="0">
                <a:solidFill>
                  <a:srgbClr val="E7ECF3"/>
                </a:solidFill>
                <a:latin typeface="Calibri" pitchFamily="34" charset="0"/>
                <a:ea typeface="Calibri" pitchFamily="34" charset="-122"/>
                <a:cs typeface="Calibri" pitchFamily="34" charset="-120"/>
              </a:rPr>
              <a:t>Reasoning</a:t>
            </a:r>
            <a:endParaRPr lang="en-US" sz="1300" dirty="0"/>
          </a:p>
        </p:txBody>
      </p:sp>
      <p:sp>
        <p:nvSpPr>
          <p:cNvPr id="15" name="Shape 13"/>
          <p:cNvSpPr/>
          <p:nvPr/>
        </p:nvSpPr>
        <p:spPr>
          <a:xfrm>
            <a:off x="4206240" y="3566160"/>
            <a:ext cx="1463040" cy="347472"/>
          </a:xfrm>
          <a:prstGeom prst="roundRect">
            <a:avLst>
              <a:gd name="adj" fmla="val 50000"/>
            </a:avLst>
          </a:prstGeom>
          <a:solidFill>
            <a:srgbClr val="3FBF6B"/>
          </a:solidFill>
          <a:ln/>
        </p:spPr>
      </p:sp>
      <p:sp>
        <p:nvSpPr>
          <p:cNvPr id="16" name="Text 14"/>
          <p:cNvSpPr/>
          <p:nvPr/>
        </p:nvSpPr>
        <p:spPr>
          <a:xfrm>
            <a:off x="4206240" y="3566160"/>
            <a:ext cx="1463040" cy="347472"/>
          </a:xfrm>
          <a:prstGeom prst="rect">
            <a:avLst/>
          </a:prstGeom>
          <a:noFill/>
          <a:ln/>
        </p:spPr>
        <p:txBody>
          <a:bodyPr wrap="square" rtlCol="0" anchor="ctr"/>
          <a:lstStyle/>
          <a:p>
            <a:pPr algn="ctr" indent="0" marL="0">
              <a:buNone/>
            </a:pPr>
            <a:r>
              <a:rPr lang="en-US" sz="900" b="1" dirty="0">
                <a:solidFill>
                  <a:srgbClr val="141922"/>
                </a:solidFill>
                <a:latin typeface="Calibri" pitchFamily="34" charset="0"/>
                <a:ea typeface="Calibri" pitchFamily="34" charset="-122"/>
                <a:cs typeface="Calibri" pitchFamily="34" charset="-120"/>
              </a:rPr>
              <a:t>Implemented</a:t>
            </a:r>
            <a:endParaRPr lang="en-US" sz="900" dirty="0"/>
          </a:p>
        </p:txBody>
      </p:sp>
      <p:sp>
        <p:nvSpPr>
          <p:cNvPr id="17" name="Shape 15"/>
          <p:cNvSpPr/>
          <p:nvPr/>
        </p:nvSpPr>
        <p:spPr>
          <a:xfrm>
            <a:off x="548640" y="4133088"/>
            <a:ext cx="5349240" cy="566928"/>
          </a:xfrm>
          <a:prstGeom prst="roundRect">
            <a:avLst>
              <a:gd name="adj" fmla="val 12903"/>
            </a:avLst>
          </a:prstGeom>
          <a:solidFill>
            <a:srgbClr val="1C2230"/>
          </a:solidFill>
          <a:ln w="12700">
            <a:solidFill>
              <a:srgbClr val="2E3648"/>
            </a:solidFill>
            <a:prstDash val="solid"/>
          </a:ln>
        </p:spPr>
      </p:sp>
      <p:sp>
        <p:nvSpPr>
          <p:cNvPr id="18" name="Text 16"/>
          <p:cNvSpPr/>
          <p:nvPr/>
        </p:nvSpPr>
        <p:spPr>
          <a:xfrm>
            <a:off x="777240" y="4133088"/>
            <a:ext cx="3383280" cy="566928"/>
          </a:xfrm>
          <a:prstGeom prst="rect">
            <a:avLst/>
          </a:prstGeom>
          <a:noFill/>
          <a:ln/>
        </p:spPr>
        <p:txBody>
          <a:bodyPr wrap="square" rtlCol="0" anchor="ctr"/>
          <a:lstStyle/>
          <a:p>
            <a:pPr indent="0" marL="0">
              <a:buNone/>
            </a:pPr>
            <a:r>
              <a:rPr lang="en-US" sz="1300" b="1" dirty="0">
                <a:solidFill>
                  <a:srgbClr val="E7ECF3"/>
                </a:solidFill>
                <a:latin typeface="Calibri" pitchFamily="34" charset="0"/>
                <a:ea typeface="Calibri" pitchFamily="34" charset="-122"/>
                <a:cs typeface="Calibri" pitchFamily="34" charset="-120"/>
              </a:rPr>
              <a:t>API / UI</a:t>
            </a:r>
            <a:endParaRPr lang="en-US" sz="1300" dirty="0"/>
          </a:p>
        </p:txBody>
      </p:sp>
      <p:sp>
        <p:nvSpPr>
          <p:cNvPr id="19" name="Shape 17"/>
          <p:cNvSpPr/>
          <p:nvPr/>
        </p:nvSpPr>
        <p:spPr>
          <a:xfrm>
            <a:off x="4206240" y="4242816"/>
            <a:ext cx="1463040" cy="347472"/>
          </a:xfrm>
          <a:prstGeom prst="roundRect">
            <a:avLst>
              <a:gd name="adj" fmla="val 50000"/>
            </a:avLst>
          </a:prstGeom>
          <a:solidFill>
            <a:srgbClr val="3FBF6B"/>
          </a:solidFill>
          <a:ln/>
        </p:spPr>
      </p:sp>
      <p:sp>
        <p:nvSpPr>
          <p:cNvPr id="20" name="Text 18"/>
          <p:cNvSpPr/>
          <p:nvPr/>
        </p:nvSpPr>
        <p:spPr>
          <a:xfrm>
            <a:off x="4206240" y="4242816"/>
            <a:ext cx="1463040" cy="347472"/>
          </a:xfrm>
          <a:prstGeom prst="rect">
            <a:avLst/>
          </a:prstGeom>
          <a:noFill/>
          <a:ln/>
        </p:spPr>
        <p:txBody>
          <a:bodyPr wrap="square" rtlCol="0" anchor="ctr"/>
          <a:lstStyle/>
          <a:p>
            <a:pPr algn="ctr" indent="0" marL="0">
              <a:buNone/>
            </a:pPr>
            <a:r>
              <a:rPr lang="en-US" sz="900" b="1" dirty="0">
                <a:solidFill>
                  <a:srgbClr val="141922"/>
                </a:solidFill>
                <a:latin typeface="Calibri" pitchFamily="34" charset="0"/>
                <a:ea typeface="Calibri" pitchFamily="34" charset="-122"/>
                <a:cs typeface="Calibri" pitchFamily="34" charset="-120"/>
              </a:rPr>
              <a:t>Implemented</a:t>
            </a:r>
            <a:endParaRPr lang="en-US" sz="900" dirty="0"/>
          </a:p>
        </p:txBody>
      </p:sp>
      <p:sp>
        <p:nvSpPr>
          <p:cNvPr id="21" name="Shape 19"/>
          <p:cNvSpPr/>
          <p:nvPr/>
        </p:nvSpPr>
        <p:spPr>
          <a:xfrm>
            <a:off x="548640" y="4809744"/>
            <a:ext cx="5349240" cy="566928"/>
          </a:xfrm>
          <a:prstGeom prst="roundRect">
            <a:avLst>
              <a:gd name="adj" fmla="val 12903"/>
            </a:avLst>
          </a:prstGeom>
          <a:solidFill>
            <a:srgbClr val="1C2230"/>
          </a:solidFill>
          <a:ln w="12700">
            <a:solidFill>
              <a:srgbClr val="2E3648"/>
            </a:solidFill>
            <a:prstDash val="solid"/>
          </a:ln>
        </p:spPr>
      </p:sp>
      <p:sp>
        <p:nvSpPr>
          <p:cNvPr id="22" name="Text 20"/>
          <p:cNvSpPr/>
          <p:nvPr/>
        </p:nvSpPr>
        <p:spPr>
          <a:xfrm>
            <a:off x="777240" y="4809744"/>
            <a:ext cx="3383280" cy="566928"/>
          </a:xfrm>
          <a:prstGeom prst="rect">
            <a:avLst/>
          </a:prstGeom>
          <a:noFill/>
          <a:ln/>
        </p:spPr>
        <p:txBody>
          <a:bodyPr wrap="square" rtlCol="0" anchor="ctr"/>
          <a:lstStyle/>
          <a:p>
            <a:pPr indent="0" marL="0">
              <a:buNone/>
            </a:pPr>
            <a:r>
              <a:rPr lang="en-US" sz="1300" b="1" dirty="0">
                <a:solidFill>
                  <a:srgbClr val="E7ECF3"/>
                </a:solidFill>
                <a:latin typeface="Calibri" pitchFamily="34" charset="0"/>
                <a:ea typeface="Calibri" pitchFamily="34" charset="-122"/>
                <a:cs typeface="Calibri" pitchFamily="34" charset="-120"/>
              </a:rPr>
              <a:t>PR-Review Workflow</a:t>
            </a:r>
            <a:endParaRPr lang="en-US" sz="1300" dirty="0"/>
          </a:p>
        </p:txBody>
      </p:sp>
      <p:sp>
        <p:nvSpPr>
          <p:cNvPr id="23" name="Shape 21"/>
          <p:cNvSpPr/>
          <p:nvPr/>
        </p:nvSpPr>
        <p:spPr>
          <a:xfrm>
            <a:off x="4206240" y="4919472"/>
            <a:ext cx="1463040" cy="347472"/>
          </a:xfrm>
          <a:prstGeom prst="roundRect">
            <a:avLst>
              <a:gd name="adj" fmla="val 50000"/>
            </a:avLst>
          </a:prstGeom>
          <a:solidFill>
            <a:srgbClr val="3FBF6B"/>
          </a:solidFill>
          <a:ln/>
        </p:spPr>
      </p:sp>
      <p:sp>
        <p:nvSpPr>
          <p:cNvPr id="24" name="Text 22"/>
          <p:cNvSpPr/>
          <p:nvPr/>
        </p:nvSpPr>
        <p:spPr>
          <a:xfrm>
            <a:off x="4206240" y="4919472"/>
            <a:ext cx="1463040" cy="347472"/>
          </a:xfrm>
          <a:prstGeom prst="rect">
            <a:avLst/>
          </a:prstGeom>
          <a:noFill/>
          <a:ln/>
        </p:spPr>
        <p:txBody>
          <a:bodyPr wrap="square" rtlCol="0" anchor="ctr"/>
          <a:lstStyle/>
          <a:p>
            <a:pPr algn="ctr" indent="0" marL="0">
              <a:buNone/>
            </a:pPr>
            <a:r>
              <a:rPr lang="en-US" sz="900" b="1" dirty="0">
                <a:solidFill>
                  <a:srgbClr val="141922"/>
                </a:solidFill>
                <a:latin typeface="Calibri" pitchFamily="34" charset="0"/>
                <a:ea typeface="Calibri" pitchFamily="34" charset="-122"/>
                <a:cs typeface="Calibri" pitchFamily="34" charset="-120"/>
              </a:rPr>
              <a:t>Implemented</a:t>
            </a:r>
            <a:endParaRPr lang="en-US" sz="900" dirty="0"/>
          </a:p>
        </p:txBody>
      </p:sp>
      <p:sp>
        <p:nvSpPr>
          <p:cNvPr id="25" name="Shape 23"/>
          <p:cNvSpPr/>
          <p:nvPr/>
        </p:nvSpPr>
        <p:spPr>
          <a:xfrm>
            <a:off x="548640" y="5486400"/>
            <a:ext cx="5349240" cy="566928"/>
          </a:xfrm>
          <a:prstGeom prst="roundRect">
            <a:avLst>
              <a:gd name="adj" fmla="val 12903"/>
            </a:avLst>
          </a:prstGeom>
          <a:solidFill>
            <a:srgbClr val="3A2419"/>
          </a:solidFill>
          <a:ln w="12700">
            <a:solidFill>
              <a:srgbClr val="E0A83D"/>
            </a:solidFill>
            <a:prstDash val="solid"/>
          </a:ln>
        </p:spPr>
      </p:sp>
      <p:sp>
        <p:nvSpPr>
          <p:cNvPr id="26" name="Text 24"/>
          <p:cNvSpPr/>
          <p:nvPr/>
        </p:nvSpPr>
        <p:spPr>
          <a:xfrm>
            <a:off x="777240" y="5486400"/>
            <a:ext cx="3383280" cy="566928"/>
          </a:xfrm>
          <a:prstGeom prst="rect">
            <a:avLst/>
          </a:prstGeom>
          <a:noFill/>
          <a:ln/>
        </p:spPr>
        <p:txBody>
          <a:bodyPr wrap="square" rtlCol="0" anchor="ctr"/>
          <a:lstStyle/>
          <a:p>
            <a:pPr indent="0" marL="0">
              <a:buNone/>
            </a:pPr>
            <a:r>
              <a:rPr lang="en-US" sz="1300" b="1" dirty="0">
                <a:solidFill>
                  <a:srgbClr val="E7ECF3"/>
                </a:solidFill>
                <a:latin typeface="Calibri" pitchFamily="34" charset="0"/>
                <a:ea typeface="Calibri" pitchFamily="34" charset="-122"/>
                <a:cs typeface="Calibri" pitchFamily="34" charset="-120"/>
              </a:rPr>
              <a:t>Phase 8</a:t>
            </a:r>
            <a:endParaRPr lang="en-US" sz="1300" dirty="0"/>
          </a:p>
        </p:txBody>
      </p:sp>
      <p:sp>
        <p:nvSpPr>
          <p:cNvPr id="27" name="Shape 25"/>
          <p:cNvSpPr/>
          <p:nvPr/>
        </p:nvSpPr>
        <p:spPr>
          <a:xfrm>
            <a:off x="4206240" y="5596128"/>
            <a:ext cx="1463040" cy="347472"/>
          </a:xfrm>
          <a:prstGeom prst="roundRect">
            <a:avLst>
              <a:gd name="adj" fmla="val 50000"/>
            </a:avLst>
          </a:prstGeom>
          <a:solidFill>
            <a:srgbClr val="E0A83D"/>
          </a:solidFill>
          <a:ln/>
        </p:spPr>
      </p:sp>
      <p:sp>
        <p:nvSpPr>
          <p:cNvPr id="28" name="Text 26"/>
          <p:cNvSpPr/>
          <p:nvPr/>
        </p:nvSpPr>
        <p:spPr>
          <a:xfrm>
            <a:off x="4206240" y="5596128"/>
            <a:ext cx="1463040" cy="347472"/>
          </a:xfrm>
          <a:prstGeom prst="rect">
            <a:avLst/>
          </a:prstGeom>
          <a:noFill/>
          <a:ln/>
        </p:spPr>
        <p:txBody>
          <a:bodyPr wrap="square" rtlCol="0" anchor="ctr"/>
          <a:lstStyle/>
          <a:p>
            <a:pPr algn="ctr" indent="0" marL="0">
              <a:buNone/>
            </a:pPr>
            <a:r>
              <a:rPr lang="en-US" sz="900" b="1" dirty="0">
                <a:solidFill>
                  <a:srgbClr val="141922"/>
                </a:solidFill>
                <a:latin typeface="Calibri" pitchFamily="34" charset="0"/>
                <a:ea typeface="Calibri" pitchFamily="34" charset="-122"/>
                <a:cs typeface="Calibri" pitchFamily="34" charset="-120"/>
              </a:rPr>
              <a:t>Not Implemented</a:t>
            </a:r>
            <a:endParaRPr lang="en-US" sz="900" dirty="0"/>
          </a:p>
        </p:txBody>
      </p:sp>
      <p:sp>
        <p:nvSpPr>
          <p:cNvPr id="29" name="Shape 27"/>
          <p:cNvSpPr/>
          <p:nvPr/>
        </p:nvSpPr>
        <p:spPr>
          <a:xfrm>
            <a:off x="6263640" y="2103120"/>
            <a:ext cx="5349240" cy="4160520"/>
          </a:xfrm>
          <a:prstGeom prst="roundRect">
            <a:avLst>
              <a:gd name="adj" fmla="val 2198"/>
            </a:avLst>
          </a:prstGeom>
          <a:solidFill>
            <a:srgbClr val="1C2230"/>
          </a:solidFill>
          <a:ln w="12700">
            <a:solidFill>
              <a:srgbClr val="2E3648"/>
            </a:solidFill>
            <a:prstDash val="solid"/>
          </a:ln>
        </p:spPr>
      </p:sp>
      <p:sp>
        <p:nvSpPr>
          <p:cNvPr id="30" name="Text 28"/>
          <p:cNvSpPr/>
          <p:nvPr/>
        </p:nvSpPr>
        <p:spPr>
          <a:xfrm>
            <a:off x="6537960" y="2286000"/>
            <a:ext cx="4800600" cy="274320"/>
          </a:xfrm>
          <a:prstGeom prst="rect">
            <a:avLst/>
          </a:prstGeom>
          <a:noFill/>
          <a:ln/>
        </p:spPr>
        <p:txBody>
          <a:bodyPr wrap="square" rtlCol="0" anchor="ctr"/>
          <a:lstStyle/>
          <a:p>
            <a:pPr indent="0" marL="0">
              <a:buNone/>
            </a:pPr>
            <a:r>
              <a:rPr lang="en-US" sz="1050" b="1" spc="100" kern="0" dirty="0">
                <a:solidFill>
                  <a:srgbClr val="E0A83D"/>
                </a:solidFill>
                <a:latin typeface="Calibri" pitchFamily="34" charset="0"/>
                <a:ea typeface="Calibri" pitchFamily="34" charset="-122"/>
                <a:cs typeface="Calibri" pitchFamily="34" charset="-120"/>
              </a:rPr>
              <a:t>PRACTICAL LIMITATIONS</a:t>
            </a:r>
            <a:endParaRPr lang="en-US" sz="1050" dirty="0"/>
          </a:p>
        </p:txBody>
      </p:sp>
      <p:sp>
        <p:nvSpPr>
          <p:cNvPr id="31" name="Shape 29"/>
          <p:cNvSpPr/>
          <p:nvPr/>
        </p:nvSpPr>
        <p:spPr>
          <a:xfrm>
            <a:off x="6537960" y="3040380"/>
            <a:ext cx="82296" cy="82296"/>
          </a:xfrm>
          <a:prstGeom prst="ellipse">
            <a:avLst/>
          </a:prstGeom>
          <a:solidFill>
            <a:srgbClr val="E0A83D"/>
          </a:solidFill>
          <a:ln/>
        </p:spPr>
      </p:sp>
      <p:sp>
        <p:nvSpPr>
          <p:cNvPr id="32" name="Text 30"/>
          <p:cNvSpPr/>
          <p:nvPr/>
        </p:nvSpPr>
        <p:spPr>
          <a:xfrm>
            <a:off x="6793992" y="2679192"/>
            <a:ext cx="4544568" cy="777240"/>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Requires configured credentials and dependencies to run</a:t>
            </a:r>
            <a:endParaRPr lang="en-US" sz="1250" dirty="0"/>
          </a:p>
        </p:txBody>
      </p:sp>
      <p:sp>
        <p:nvSpPr>
          <p:cNvPr id="33" name="Shape 31"/>
          <p:cNvSpPr/>
          <p:nvPr/>
        </p:nvSpPr>
        <p:spPr>
          <a:xfrm>
            <a:off x="6537960" y="3817620"/>
            <a:ext cx="82296" cy="82296"/>
          </a:xfrm>
          <a:prstGeom prst="ellipse">
            <a:avLst/>
          </a:prstGeom>
          <a:solidFill>
            <a:srgbClr val="E0A83D"/>
          </a:solidFill>
          <a:ln/>
        </p:spPr>
      </p:sp>
      <p:sp>
        <p:nvSpPr>
          <p:cNvPr id="34" name="Text 32"/>
          <p:cNvSpPr/>
          <p:nvPr/>
        </p:nvSpPr>
        <p:spPr>
          <a:xfrm>
            <a:off x="6793992" y="3456432"/>
            <a:ext cx="4544568" cy="777240"/>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Model startup and inference may require substantial memory and time</a:t>
            </a:r>
            <a:endParaRPr lang="en-US" sz="1250" dirty="0"/>
          </a:p>
        </p:txBody>
      </p:sp>
      <p:sp>
        <p:nvSpPr>
          <p:cNvPr id="35" name="Shape 33"/>
          <p:cNvSpPr/>
          <p:nvPr/>
        </p:nvSpPr>
        <p:spPr>
          <a:xfrm>
            <a:off x="6537960" y="4594860"/>
            <a:ext cx="82296" cy="82296"/>
          </a:xfrm>
          <a:prstGeom prst="ellipse">
            <a:avLst/>
          </a:prstGeom>
          <a:solidFill>
            <a:srgbClr val="E0A83D"/>
          </a:solidFill>
          <a:ln/>
        </p:spPr>
      </p:sp>
      <p:sp>
        <p:nvSpPr>
          <p:cNvPr id="36" name="Text 34"/>
          <p:cNvSpPr/>
          <p:nvPr/>
        </p:nvSpPr>
        <p:spPr>
          <a:xfrm>
            <a:off x="6793992" y="4233672"/>
            <a:ext cx="4544568" cy="777240"/>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Retrieval quality depends on the collected repository data and generated embeddings</a:t>
            </a:r>
            <a:endParaRPr lang="en-US" sz="1250" dirty="0"/>
          </a:p>
        </p:txBody>
      </p:sp>
      <p:sp>
        <p:nvSpPr>
          <p:cNvPr id="37" name="Shape 35"/>
          <p:cNvSpPr/>
          <p:nvPr/>
        </p:nvSpPr>
        <p:spPr>
          <a:xfrm>
            <a:off x="6537960" y="5372100"/>
            <a:ext cx="82296" cy="82296"/>
          </a:xfrm>
          <a:prstGeom prst="ellipse">
            <a:avLst/>
          </a:prstGeom>
          <a:solidFill>
            <a:srgbClr val="E0A83D"/>
          </a:solidFill>
          <a:ln/>
        </p:spPr>
      </p:sp>
      <p:sp>
        <p:nvSpPr>
          <p:cNvPr id="38" name="Text 36"/>
          <p:cNvSpPr/>
          <p:nvPr/>
        </p:nvSpPr>
        <p:spPr>
          <a:xfrm>
            <a:off x="6793992" y="5010912"/>
            <a:ext cx="4544568" cy="777240"/>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Should be evaluated with representative repositories and questions before production use</a:t>
            </a:r>
            <a:endParaRPr lang="en-US" sz="1250" dirty="0"/>
          </a:p>
        </p:txBody>
      </p:sp>
      <p:sp>
        <p:nvSpPr>
          <p:cNvPr id="39" name="Text 37"/>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13 / 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20" kern="0" dirty="0">
                <a:solidFill>
                  <a:srgbClr val="2FD9C9"/>
                </a:solidFill>
                <a:latin typeface="Calibri" pitchFamily="34" charset="0"/>
                <a:ea typeface="Calibri" pitchFamily="34" charset="-122"/>
                <a:cs typeface="Calibri" pitchFamily="34" charset="-120"/>
              </a:rPr>
              <a:t>CLOSING</a:t>
            </a:r>
            <a:endParaRPr lang="en-US" sz="1200" dirty="0"/>
          </a:p>
        </p:txBody>
      </p:sp>
      <p:sp>
        <p:nvSpPr>
          <p:cNvPr id="3" name="Text 1"/>
          <p:cNvSpPr/>
          <p:nvPr/>
        </p:nvSpPr>
        <p:spPr>
          <a:xfrm>
            <a:off x="548640" y="713232"/>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Impact and next steps</a:t>
            </a:r>
            <a:endParaRPr lang="en-US" sz="3000" dirty="0"/>
          </a:p>
        </p:txBody>
      </p:sp>
      <p:sp>
        <p:nvSpPr>
          <p:cNvPr id="4" name="Text 2"/>
          <p:cNvSpPr/>
          <p:nvPr/>
        </p:nvSpPr>
        <p:spPr>
          <a:xfrm>
            <a:off x="548640" y="1298448"/>
            <a:ext cx="11064240" cy="365760"/>
          </a:xfrm>
          <a:prstGeom prst="rect">
            <a:avLst/>
          </a:prstGeom>
          <a:noFill/>
          <a:ln/>
        </p:spPr>
        <p:txBody>
          <a:bodyPr wrap="square" rtlCol="0" anchor="ctr"/>
          <a:lstStyle/>
          <a:p>
            <a:pPr indent="0" marL="0">
              <a:buNone/>
            </a:pPr>
            <a:r>
              <a:rPr lang="en-US" sz="1450" i="1" dirty="0">
                <a:solidFill>
                  <a:srgbClr val="8A93A6"/>
                </a:solidFill>
                <a:latin typeface="Calibri" pitchFamily="34" charset="0"/>
                <a:ea typeface="Calibri" pitchFamily="34" charset="-122"/>
                <a:cs typeface="Calibri" pitchFamily="34" charset="-120"/>
              </a:rPr>
              <a:t>What PMI delivers today, and where it could go.</a:t>
            </a:r>
            <a:endParaRPr lang="en-US" sz="1450" dirty="0"/>
          </a:p>
        </p:txBody>
      </p:sp>
      <p:sp>
        <p:nvSpPr>
          <p:cNvPr id="5" name="Shape 3"/>
          <p:cNvSpPr/>
          <p:nvPr/>
        </p:nvSpPr>
        <p:spPr>
          <a:xfrm>
            <a:off x="548640" y="2103120"/>
            <a:ext cx="5349240" cy="2834640"/>
          </a:xfrm>
          <a:prstGeom prst="roundRect">
            <a:avLst>
              <a:gd name="adj" fmla="val 3226"/>
            </a:avLst>
          </a:prstGeom>
          <a:solidFill>
            <a:srgbClr val="1E3327"/>
          </a:solidFill>
          <a:ln w="12700">
            <a:solidFill>
              <a:srgbClr val="3FBF6B"/>
            </a:solidFill>
            <a:prstDash val="solid"/>
          </a:ln>
        </p:spPr>
      </p:sp>
      <p:sp>
        <p:nvSpPr>
          <p:cNvPr id="6" name="Text 4"/>
          <p:cNvSpPr/>
          <p:nvPr/>
        </p:nvSpPr>
        <p:spPr>
          <a:xfrm>
            <a:off x="868680" y="2286000"/>
            <a:ext cx="4754880" cy="274320"/>
          </a:xfrm>
          <a:prstGeom prst="rect">
            <a:avLst/>
          </a:prstGeom>
          <a:noFill/>
          <a:ln/>
        </p:spPr>
        <p:txBody>
          <a:bodyPr wrap="square" rtlCol="0" anchor="ctr"/>
          <a:lstStyle/>
          <a:p>
            <a:pPr indent="0" marL="0">
              <a:buNone/>
            </a:pPr>
            <a:r>
              <a:rPr lang="en-US" sz="1050" b="1" spc="100" kern="0" dirty="0">
                <a:solidFill>
                  <a:srgbClr val="3FBF6B"/>
                </a:solidFill>
                <a:latin typeface="Calibri" pitchFamily="34" charset="0"/>
                <a:ea typeface="Calibri" pitchFamily="34" charset="-122"/>
                <a:cs typeface="Calibri" pitchFamily="34" charset="-120"/>
              </a:rPr>
              <a:t>VALUE TODAY</a:t>
            </a:r>
            <a:endParaRPr lang="en-US" sz="1050" dirty="0"/>
          </a:p>
        </p:txBody>
      </p:sp>
      <p:sp>
        <p:nvSpPr>
          <p:cNvPr id="7" name="Shape 5"/>
          <p:cNvSpPr/>
          <p:nvPr/>
        </p:nvSpPr>
        <p:spPr>
          <a:xfrm>
            <a:off x="868680" y="2903220"/>
            <a:ext cx="82296" cy="82296"/>
          </a:xfrm>
          <a:prstGeom prst="ellipse">
            <a:avLst/>
          </a:prstGeom>
          <a:solidFill>
            <a:srgbClr val="3FBF6B"/>
          </a:solidFill>
          <a:ln/>
        </p:spPr>
      </p:sp>
      <p:sp>
        <p:nvSpPr>
          <p:cNvPr id="8" name="Text 6"/>
          <p:cNvSpPr/>
          <p:nvPr/>
        </p:nvSpPr>
        <p:spPr>
          <a:xfrm>
            <a:off x="1124712" y="2679192"/>
            <a:ext cx="4498848" cy="502920"/>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Reduces time spent searching project history</a:t>
            </a:r>
            <a:endParaRPr lang="en-US" sz="1250" dirty="0"/>
          </a:p>
        </p:txBody>
      </p:sp>
      <p:sp>
        <p:nvSpPr>
          <p:cNvPr id="9" name="Shape 7"/>
          <p:cNvSpPr/>
          <p:nvPr/>
        </p:nvSpPr>
        <p:spPr>
          <a:xfrm>
            <a:off x="868680" y="3406140"/>
            <a:ext cx="82296" cy="82296"/>
          </a:xfrm>
          <a:prstGeom prst="ellipse">
            <a:avLst/>
          </a:prstGeom>
          <a:solidFill>
            <a:srgbClr val="3FBF6B"/>
          </a:solidFill>
          <a:ln/>
        </p:spPr>
      </p:sp>
      <p:sp>
        <p:nvSpPr>
          <p:cNvPr id="10" name="Text 8"/>
          <p:cNvSpPr/>
          <p:nvPr/>
        </p:nvSpPr>
        <p:spPr>
          <a:xfrm>
            <a:off x="1124712" y="3182112"/>
            <a:ext cx="4498848" cy="502920"/>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Preserves institutional engineering context</a:t>
            </a:r>
            <a:endParaRPr lang="en-US" sz="1250" dirty="0"/>
          </a:p>
        </p:txBody>
      </p:sp>
      <p:sp>
        <p:nvSpPr>
          <p:cNvPr id="11" name="Shape 9"/>
          <p:cNvSpPr/>
          <p:nvPr/>
        </p:nvSpPr>
        <p:spPr>
          <a:xfrm>
            <a:off x="868680" y="3909060"/>
            <a:ext cx="82296" cy="82296"/>
          </a:xfrm>
          <a:prstGeom prst="ellipse">
            <a:avLst/>
          </a:prstGeom>
          <a:solidFill>
            <a:srgbClr val="3FBF6B"/>
          </a:solidFill>
          <a:ln/>
        </p:spPr>
      </p:sp>
      <p:sp>
        <p:nvSpPr>
          <p:cNvPr id="12" name="Text 10"/>
          <p:cNvSpPr/>
          <p:nvPr/>
        </p:nvSpPr>
        <p:spPr>
          <a:xfrm>
            <a:off x="1124712" y="3685032"/>
            <a:ext cx="4498848" cy="502920"/>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Gives developers repository-aware answers</a:t>
            </a:r>
            <a:endParaRPr lang="en-US" sz="1250" dirty="0"/>
          </a:p>
        </p:txBody>
      </p:sp>
      <p:sp>
        <p:nvSpPr>
          <p:cNvPr id="13" name="Shape 11"/>
          <p:cNvSpPr/>
          <p:nvPr/>
        </p:nvSpPr>
        <p:spPr>
          <a:xfrm>
            <a:off x="868680" y="4411980"/>
            <a:ext cx="82296" cy="82296"/>
          </a:xfrm>
          <a:prstGeom prst="ellipse">
            <a:avLst/>
          </a:prstGeom>
          <a:solidFill>
            <a:srgbClr val="3FBF6B"/>
          </a:solidFill>
          <a:ln/>
        </p:spPr>
      </p:sp>
      <p:sp>
        <p:nvSpPr>
          <p:cNvPr id="14" name="Text 12"/>
          <p:cNvSpPr/>
          <p:nvPr/>
        </p:nvSpPr>
        <p:spPr>
          <a:xfrm>
            <a:off x="1124712" y="4187952"/>
            <a:ext cx="4498848" cy="502920"/>
          </a:xfrm>
          <a:prstGeom prst="rect">
            <a:avLst/>
          </a:prstGeom>
          <a:noFill/>
          <a:ln/>
        </p:spPr>
        <p:txBody>
          <a:bodyPr wrap="square" rtlCol="0" anchor="ctr"/>
          <a:lstStyle/>
          <a:p>
            <a:pPr indent="0" marL="0">
              <a:lnSpc>
                <a:spcPct val="115000"/>
              </a:lnSpc>
              <a:buNone/>
            </a:pPr>
            <a:r>
              <a:rPr lang="en-US" sz="1250" dirty="0">
                <a:solidFill>
                  <a:srgbClr val="E7ECF3"/>
                </a:solidFill>
                <a:latin typeface="Calibri" pitchFamily="34" charset="0"/>
                <a:ea typeface="Calibri" pitchFamily="34" charset="-122"/>
                <a:cs typeface="Calibri" pitchFamily="34" charset="-120"/>
              </a:rPr>
              <a:t>Adds historical context to Pull Request review</a:t>
            </a:r>
            <a:endParaRPr lang="en-US" sz="1250" dirty="0"/>
          </a:p>
        </p:txBody>
      </p:sp>
      <p:sp>
        <p:nvSpPr>
          <p:cNvPr id="15" name="Shape 13"/>
          <p:cNvSpPr/>
          <p:nvPr/>
        </p:nvSpPr>
        <p:spPr>
          <a:xfrm>
            <a:off x="6263640" y="2103120"/>
            <a:ext cx="5349240" cy="2834640"/>
          </a:xfrm>
          <a:prstGeom prst="roundRect">
            <a:avLst>
              <a:gd name="adj" fmla="val 3226"/>
            </a:avLst>
          </a:prstGeom>
          <a:solidFill>
            <a:srgbClr val="3A2E17"/>
          </a:solidFill>
          <a:ln w="12700">
            <a:solidFill>
              <a:srgbClr val="E0A83D"/>
            </a:solidFill>
            <a:prstDash val="solid"/>
          </a:ln>
        </p:spPr>
      </p:sp>
      <p:sp>
        <p:nvSpPr>
          <p:cNvPr id="16" name="Text 14"/>
          <p:cNvSpPr/>
          <p:nvPr/>
        </p:nvSpPr>
        <p:spPr>
          <a:xfrm>
            <a:off x="6537960" y="2286000"/>
            <a:ext cx="4800600" cy="274320"/>
          </a:xfrm>
          <a:prstGeom prst="rect">
            <a:avLst/>
          </a:prstGeom>
          <a:noFill/>
          <a:ln/>
        </p:spPr>
        <p:txBody>
          <a:bodyPr wrap="square" rtlCol="0" anchor="ctr"/>
          <a:lstStyle/>
          <a:p>
            <a:pPr indent="0" marL="0">
              <a:buNone/>
            </a:pPr>
            <a:r>
              <a:rPr lang="en-US" sz="1050" b="1" spc="100" kern="0" dirty="0">
                <a:solidFill>
                  <a:srgbClr val="E0A83D"/>
                </a:solidFill>
                <a:latin typeface="Calibri" pitchFamily="34" charset="0"/>
                <a:ea typeface="Calibri" pitchFamily="34" charset="-122"/>
                <a:cs typeface="Calibri" pitchFamily="34" charset="-120"/>
              </a:rPr>
              <a:t>FUTURE WORK — NOT YET BUILT</a:t>
            </a:r>
            <a:endParaRPr lang="en-US" sz="1050" dirty="0"/>
          </a:p>
        </p:txBody>
      </p:sp>
      <p:sp>
        <p:nvSpPr>
          <p:cNvPr id="17" name="Shape 15"/>
          <p:cNvSpPr/>
          <p:nvPr/>
        </p:nvSpPr>
        <p:spPr>
          <a:xfrm>
            <a:off x="6537960" y="2852928"/>
            <a:ext cx="82296" cy="82296"/>
          </a:xfrm>
          <a:prstGeom prst="ellipse">
            <a:avLst/>
          </a:prstGeom>
          <a:solidFill>
            <a:srgbClr val="E0A83D"/>
          </a:solidFill>
          <a:ln/>
        </p:spPr>
      </p:sp>
      <p:sp>
        <p:nvSpPr>
          <p:cNvPr id="18" name="Text 16"/>
          <p:cNvSpPr/>
          <p:nvPr/>
        </p:nvSpPr>
        <p:spPr>
          <a:xfrm>
            <a:off x="6793992" y="2679192"/>
            <a:ext cx="4544568" cy="402336"/>
          </a:xfrm>
          <a:prstGeom prst="rect">
            <a:avLst/>
          </a:prstGeom>
          <a:noFill/>
          <a:ln/>
        </p:spPr>
        <p:txBody>
          <a:bodyPr wrap="square" rtlCol="0" anchor="ctr"/>
          <a:lstStyle/>
          <a:p>
            <a:pPr indent="0" marL="0">
              <a:lnSpc>
                <a:spcPct val="115000"/>
              </a:lnSpc>
              <a:buNone/>
            </a:pPr>
            <a:r>
              <a:rPr lang="en-US" sz="1150" dirty="0">
                <a:solidFill>
                  <a:srgbClr val="E7ECF3"/>
                </a:solidFill>
                <a:latin typeface="Calibri" pitchFamily="34" charset="0"/>
                <a:ea typeface="Calibri" pitchFamily="34" charset="-122"/>
                <a:cs typeface="Calibri" pitchFamily="34" charset="-120"/>
              </a:rPr>
              <a:t>Better evaluation datasets and answer-quality metrics</a:t>
            </a:r>
            <a:endParaRPr lang="en-US" sz="1150" dirty="0"/>
          </a:p>
        </p:txBody>
      </p:sp>
      <p:sp>
        <p:nvSpPr>
          <p:cNvPr id="19" name="Shape 17"/>
          <p:cNvSpPr/>
          <p:nvPr/>
        </p:nvSpPr>
        <p:spPr>
          <a:xfrm>
            <a:off x="6537960" y="3255264"/>
            <a:ext cx="82296" cy="82296"/>
          </a:xfrm>
          <a:prstGeom prst="ellipse">
            <a:avLst/>
          </a:prstGeom>
          <a:solidFill>
            <a:srgbClr val="E0A83D"/>
          </a:solidFill>
          <a:ln/>
        </p:spPr>
      </p:sp>
      <p:sp>
        <p:nvSpPr>
          <p:cNvPr id="20" name="Text 18"/>
          <p:cNvSpPr/>
          <p:nvPr/>
        </p:nvSpPr>
        <p:spPr>
          <a:xfrm>
            <a:off x="6793992" y="3081528"/>
            <a:ext cx="4544568" cy="402336"/>
          </a:xfrm>
          <a:prstGeom prst="rect">
            <a:avLst/>
          </a:prstGeom>
          <a:noFill/>
          <a:ln/>
        </p:spPr>
        <p:txBody>
          <a:bodyPr wrap="square" rtlCol="0" anchor="ctr"/>
          <a:lstStyle/>
          <a:p>
            <a:pPr indent="0" marL="0">
              <a:lnSpc>
                <a:spcPct val="115000"/>
              </a:lnSpc>
              <a:buNone/>
            </a:pPr>
            <a:r>
              <a:rPr lang="en-US" sz="1150" dirty="0">
                <a:solidFill>
                  <a:srgbClr val="E7ECF3"/>
                </a:solidFill>
                <a:latin typeface="Calibri" pitchFamily="34" charset="0"/>
                <a:ea typeface="Calibri" pitchFamily="34" charset="-122"/>
                <a:cs typeface="Calibri" pitchFamily="34" charset="-120"/>
              </a:rPr>
              <a:t>More repository connectors and document formats</a:t>
            </a:r>
            <a:endParaRPr lang="en-US" sz="1150" dirty="0"/>
          </a:p>
        </p:txBody>
      </p:sp>
      <p:sp>
        <p:nvSpPr>
          <p:cNvPr id="21" name="Shape 19"/>
          <p:cNvSpPr/>
          <p:nvPr/>
        </p:nvSpPr>
        <p:spPr>
          <a:xfrm>
            <a:off x="6537960" y="3657600"/>
            <a:ext cx="82296" cy="82296"/>
          </a:xfrm>
          <a:prstGeom prst="ellipse">
            <a:avLst/>
          </a:prstGeom>
          <a:solidFill>
            <a:srgbClr val="E0A83D"/>
          </a:solidFill>
          <a:ln/>
        </p:spPr>
      </p:sp>
      <p:sp>
        <p:nvSpPr>
          <p:cNvPr id="22" name="Text 20"/>
          <p:cNvSpPr/>
          <p:nvPr/>
        </p:nvSpPr>
        <p:spPr>
          <a:xfrm>
            <a:off x="6793992" y="3483864"/>
            <a:ext cx="4544568" cy="402336"/>
          </a:xfrm>
          <a:prstGeom prst="rect">
            <a:avLst/>
          </a:prstGeom>
          <a:noFill/>
          <a:ln/>
        </p:spPr>
        <p:txBody>
          <a:bodyPr wrap="square" rtlCol="0" anchor="ctr"/>
          <a:lstStyle/>
          <a:p>
            <a:pPr indent="0" marL="0">
              <a:lnSpc>
                <a:spcPct val="115000"/>
              </a:lnSpc>
              <a:buNone/>
            </a:pPr>
            <a:r>
              <a:rPr lang="en-US" sz="1150" dirty="0">
                <a:solidFill>
                  <a:srgbClr val="E7ECF3"/>
                </a:solidFill>
                <a:latin typeface="Calibri" pitchFamily="34" charset="0"/>
                <a:ea typeface="Calibri" pitchFamily="34" charset="-122"/>
                <a:cs typeface="Calibri" pitchFamily="34" charset="-120"/>
              </a:rPr>
              <a:t>Improved model serving and startup performance</a:t>
            </a:r>
            <a:endParaRPr lang="en-US" sz="1150" dirty="0"/>
          </a:p>
        </p:txBody>
      </p:sp>
      <p:sp>
        <p:nvSpPr>
          <p:cNvPr id="23" name="Shape 21"/>
          <p:cNvSpPr/>
          <p:nvPr/>
        </p:nvSpPr>
        <p:spPr>
          <a:xfrm>
            <a:off x="6537960" y="4059936"/>
            <a:ext cx="82296" cy="82296"/>
          </a:xfrm>
          <a:prstGeom prst="ellipse">
            <a:avLst/>
          </a:prstGeom>
          <a:solidFill>
            <a:srgbClr val="E0A83D"/>
          </a:solidFill>
          <a:ln/>
        </p:spPr>
      </p:sp>
      <p:sp>
        <p:nvSpPr>
          <p:cNvPr id="24" name="Text 22"/>
          <p:cNvSpPr/>
          <p:nvPr/>
        </p:nvSpPr>
        <p:spPr>
          <a:xfrm>
            <a:off x="6793992" y="3886200"/>
            <a:ext cx="4544568" cy="402336"/>
          </a:xfrm>
          <a:prstGeom prst="rect">
            <a:avLst/>
          </a:prstGeom>
          <a:noFill/>
          <a:ln/>
        </p:spPr>
        <p:txBody>
          <a:bodyPr wrap="square" rtlCol="0" anchor="ctr"/>
          <a:lstStyle/>
          <a:p>
            <a:pPr indent="0" marL="0">
              <a:lnSpc>
                <a:spcPct val="115000"/>
              </a:lnSpc>
              <a:buNone/>
            </a:pPr>
            <a:r>
              <a:rPr lang="en-US" sz="1150" dirty="0">
                <a:solidFill>
                  <a:srgbClr val="E7ECF3"/>
                </a:solidFill>
                <a:latin typeface="Calibri" pitchFamily="34" charset="0"/>
                <a:ea typeface="Calibri" pitchFamily="34" charset="-122"/>
                <a:cs typeface="Calibri" pitchFamily="34" charset="-120"/>
              </a:rPr>
              <a:t>Richer PR review findings with traceable evidence</a:t>
            </a:r>
            <a:endParaRPr lang="en-US" sz="1150" dirty="0"/>
          </a:p>
        </p:txBody>
      </p:sp>
      <p:sp>
        <p:nvSpPr>
          <p:cNvPr id="25" name="Shape 23"/>
          <p:cNvSpPr/>
          <p:nvPr/>
        </p:nvSpPr>
        <p:spPr>
          <a:xfrm>
            <a:off x="6537960" y="4462272"/>
            <a:ext cx="82296" cy="82296"/>
          </a:xfrm>
          <a:prstGeom prst="ellipse">
            <a:avLst/>
          </a:prstGeom>
          <a:solidFill>
            <a:srgbClr val="E0A83D"/>
          </a:solidFill>
          <a:ln/>
        </p:spPr>
      </p:sp>
      <p:sp>
        <p:nvSpPr>
          <p:cNvPr id="26" name="Text 24"/>
          <p:cNvSpPr/>
          <p:nvPr/>
        </p:nvSpPr>
        <p:spPr>
          <a:xfrm>
            <a:off x="6793992" y="4288536"/>
            <a:ext cx="4544568" cy="402336"/>
          </a:xfrm>
          <a:prstGeom prst="rect">
            <a:avLst/>
          </a:prstGeom>
          <a:noFill/>
          <a:ln/>
        </p:spPr>
        <p:txBody>
          <a:bodyPr wrap="square" rtlCol="0" anchor="ctr"/>
          <a:lstStyle/>
          <a:p>
            <a:pPr indent="0" marL="0">
              <a:lnSpc>
                <a:spcPct val="115000"/>
              </a:lnSpc>
              <a:buNone/>
            </a:pPr>
            <a:r>
              <a:rPr lang="en-US" sz="1150" dirty="0">
                <a:solidFill>
                  <a:srgbClr val="E7ECF3"/>
                </a:solidFill>
                <a:latin typeface="Calibri" pitchFamily="34" charset="0"/>
                <a:ea typeface="Calibri" pitchFamily="34" charset="-122"/>
                <a:cs typeface="Calibri" pitchFamily="34" charset="-120"/>
              </a:rPr>
              <a:t>Role-based access control and deployment hardening</a:t>
            </a:r>
            <a:endParaRPr lang="en-US" sz="1150" dirty="0"/>
          </a:p>
        </p:txBody>
      </p:sp>
      <p:sp>
        <p:nvSpPr>
          <p:cNvPr id="27" name="Shape 25"/>
          <p:cNvSpPr/>
          <p:nvPr/>
        </p:nvSpPr>
        <p:spPr>
          <a:xfrm>
            <a:off x="548640" y="5120640"/>
            <a:ext cx="11064240" cy="640080"/>
          </a:xfrm>
          <a:prstGeom prst="roundRect">
            <a:avLst>
              <a:gd name="adj" fmla="val 11429"/>
            </a:avLst>
          </a:prstGeom>
          <a:solidFill>
            <a:srgbClr val="2FD9C9"/>
          </a:solidFill>
          <a:ln/>
        </p:spPr>
      </p:sp>
      <p:sp>
        <p:nvSpPr>
          <p:cNvPr id="28" name="Text 26"/>
          <p:cNvSpPr/>
          <p:nvPr/>
        </p:nvSpPr>
        <p:spPr>
          <a:xfrm>
            <a:off x="548640" y="5120640"/>
            <a:ext cx="11064240" cy="640080"/>
          </a:xfrm>
          <a:prstGeom prst="rect">
            <a:avLst/>
          </a:prstGeom>
          <a:noFill/>
          <a:ln/>
        </p:spPr>
        <p:txBody>
          <a:bodyPr wrap="square" rtlCol="0" anchor="ctr"/>
          <a:lstStyle/>
          <a:p>
            <a:pPr algn="ctr" indent="0" marL="0">
              <a:buNone/>
            </a:pPr>
            <a:r>
              <a:rPr lang="en-US" sz="1350" b="1" i="1" dirty="0">
                <a:solidFill>
                  <a:srgbClr val="141922"/>
                </a:solidFill>
                <a:latin typeface="Cambria" pitchFamily="34" charset="0"/>
                <a:ea typeface="Cambria" pitchFamily="34" charset="-122"/>
                <a:cs typeface="Cambria" pitchFamily="34" charset="-120"/>
              </a:rPr>
              <a:t>PMI turns repository history into usable engineering knowledge — grounded, referenceable, and honest about its limits.</a:t>
            </a:r>
            <a:endParaRPr lang="en-US" sz="1350" dirty="0"/>
          </a:p>
        </p:txBody>
      </p:sp>
      <p:sp>
        <p:nvSpPr>
          <p:cNvPr id="29" name="Text 27"/>
          <p:cNvSpPr/>
          <p:nvPr/>
        </p:nvSpPr>
        <p:spPr>
          <a:xfrm>
            <a:off x="548640" y="5897880"/>
            <a:ext cx="2743200" cy="228600"/>
          </a:xfrm>
          <a:prstGeom prst="rect">
            <a:avLst/>
          </a:prstGeom>
          <a:noFill/>
          <a:ln/>
        </p:spPr>
        <p:txBody>
          <a:bodyPr wrap="square" rtlCol="0" anchor="ctr"/>
          <a:lstStyle/>
          <a:p>
            <a:pPr indent="0" marL="0">
              <a:buNone/>
            </a:pPr>
            <a:r>
              <a:rPr lang="en-US" sz="950" b="1" spc="100" kern="0" dirty="0">
                <a:solidFill>
                  <a:srgbClr val="8A93A6"/>
                </a:solidFill>
                <a:latin typeface="Calibri" pitchFamily="34" charset="0"/>
                <a:ea typeface="Calibri" pitchFamily="34" charset="-122"/>
                <a:cs typeface="Calibri" pitchFamily="34" charset="-120"/>
              </a:rPr>
              <a:t>DISCUSSION</a:t>
            </a:r>
            <a:endParaRPr lang="en-US" sz="950" dirty="0"/>
          </a:p>
        </p:txBody>
      </p:sp>
      <p:sp>
        <p:nvSpPr>
          <p:cNvPr id="30" name="Text 28"/>
          <p:cNvSpPr/>
          <p:nvPr/>
        </p:nvSpPr>
        <p:spPr>
          <a:xfrm>
            <a:off x="548640" y="6126480"/>
            <a:ext cx="11064240" cy="548640"/>
          </a:xfrm>
          <a:prstGeom prst="rect">
            <a:avLst/>
          </a:prstGeom>
          <a:noFill/>
          <a:ln/>
        </p:spPr>
        <p:txBody>
          <a:bodyPr wrap="square" rtlCol="0" anchor="ctr"/>
          <a:lstStyle/>
          <a:p>
            <a:pPr indent="0" marL="0">
              <a:lnSpc>
                <a:spcPct val="120000"/>
              </a:lnSpc>
              <a:buNone/>
            </a:pPr>
            <a:r>
              <a:rPr lang="en-US" sz="1050" dirty="0">
                <a:solidFill>
                  <a:srgbClr val="E7ECF3"/>
                </a:solidFill>
                <a:latin typeface="Calibri" pitchFamily="34" charset="0"/>
                <a:ea typeface="Calibri" pitchFamily="34" charset="-122"/>
                <a:cs typeface="Calibri" pitchFamily="34" charset="-120"/>
              </a:rPr>
              <a:t>1. Which repositories or teams would benefit most from this first?    2. What would “good enough” retrieval quality look like for your use case?    3. What's the right next investment — connectors, evaluation, or hardening?</a:t>
            </a:r>
            <a:endParaRPr lang="en-US" sz="1050" dirty="0"/>
          </a:p>
        </p:txBody>
      </p:sp>
      <p:sp>
        <p:nvSpPr>
          <p:cNvPr id="31" name="Text 29"/>
          <p:cNvSpPr/>
          <p:nvPr/>
        </p:nvSpPr>
        <p:spPr>
          <a:xfrm>
            <a:off x="11002975" y="6419088"/>
            <a:ext cx="914400" cy="274320"/>
          </a:xfrm>
          <a:prstGeom prst="rect">
            <a:avLst/>
          </a:prstGeom>
          <a:noFill/>
          <a:ln/>
        </p:spPr>
        <p:txBody>
          <a:bodyPr wrap="square"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14 / 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2026-08-23T09:29:59Z</dcterms:created>
  <dcterms:modified xsi:type="dcterms:W3CDTF">2026-08-23T09:29:59Z</dcterms:modified>
</cp:coreProperties>
</file>